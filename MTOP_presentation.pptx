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1"/>
    <p:sldMasterId id="2147483694" r:id="rId2"/>
  </p:sldMasterIdLst>
  <p:notesMasterIdLst>
    <p:notesMasterId r:id="rId7"/>
  </p:notesMasterIdLst>
  <p:handoutMasterIdLst>
    <p:handoutMasterId r:id="rId8"/>
  </p:handoutMasterIdLst>
  <p:sldIdLst>
    <p:sldId id="256" r:id="rId6"/>
    <p:sldId id="257" r:id="rId5"/>
    <p:sldId id="258" r:id="rId4"/>
    <p:sldId id="259" r:id="rId3"/>
    <p:sldId id="260" r:id="rId13"/>
    <p:sldId id="261" r:id="rId14"/>
    <p:sldId id="262" r:id="rId15"/>
    <p:sldId id="263" r:id="rId16"/>
    <p:sldId id="264" r:id="rId17"/>
    <p:sldId id="265" r:id="rId18"/>
    <p:sldId id="266" r:id="rId19"/>
    <p:sldId id="267" r:id="rId20"/>
    <p:sldId id="268" r:id="rId21"/>
    <p:sldId id="269" r:id="rId2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4D5D"/>
    <a:srgbClr val="DCE7F0"/>
    <a:srgbClr val="1D8DB0"/>
    <a:srgbClr val="005E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659" autoAdjust="0"/>
    <p:restoredTop sz="94652"/>
  </p:normalViewPr>
  <p:slideViewPr>
    <p:cSldViewPr snapToGrid="0" snapToObjects="1">
      <p:cViewPr varScale="1">
        <p:scale>
          <a:sx n="82" d="100"/>
          <a:sy n="82" d="100"/>
        </p:scale>
        <p:origin x="782" y="72"/>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58" d="100"/>
          <a:sy n="158" d="100"/>
        </p:scale>
        <p:origin x="4240" y="2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handoutMaster" Target="handoutMasters/handout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F591CCF-F6FD-734B-854A-5BC033593B1E}" type="datetimeFigureOut">
              <a:rPr lang="nl-NL" smtClean="0"/>
              <a:t>29-11-2024</a:t>
            </a:fld>
            <a:endParaRPr lang="nl-NL"/>
          </a:p>
        </p:txBody>
      </p:sp>
      <p:sp>
        <p:nvSpPr>
          <p:cNvPr id="4" name="Tijdelijke aanduiding voor voettekst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52A6D4-CD3D-5148-8B70-A84796F20135}" type="slidenum">
              <a:rPr lang="nl-NL" smtClean="0"/>
              <a:t>‹nr.›</a:t>
            </a:fld>
            <a:endParaRPr lang="nl-NL"/>
          </a:p>
        </p:txBody>
      </p:sp>
    </p:spTree>
    <p:extLst>
      <p:ext uri="{BB962C8B-B14F-4D97-AF65-F5344CB8AC3E}">
        <p14:creationId xmlns:p14="http://schemas.microsoft.com/office/powerpoint/2010/main" val="458916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C66214-DB21-4647-B5DA-0D17CA592867}" type="datetimeFigureOut">
              <a:rPr lang="nl-NL" smtClean="0"/>
              <a:t>29-11-2024</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54E32A-327F-AF4B-8E1F-209FBF93D26D}" type="slidenum">
              <a:rPr lang="nl-NL" smtClean="0"/>
              <a:t>‹nr.›</a:t>
            </a:fld>
            <a:endParaRPr lang="nl-NL"/>
          </a:p>
        </p:txBody>
      </p:sp>
    </p:spTree>
    <p:extLst>
      <p:ext uri="{BB962C8B-B14F-4D97-AF65-F5344CB8AC3E}">
        <p14:creationId xmlns:p14="http://schemas.microsoft.com/office/powerpoint/2010/main" val="1464046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Lukas   |   Target ~20 s</a:t>
            </a:r>
          </a:p>
          <a:p/>
          <a:p>
            <a:r>
              <a:t>Greeting. Our examination assignment is on multiresolution topology optimization, MTOP. In topology optimization the question is where to put material to make a structure as stiff as possible; here the question is whether we can answer that question faster. We assessed MTOP on the half MBB beam and compared it head-to-head with the classical approach. The image is our optimized beam.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Lukas   |   Target ~50 s</a:t>
            </a:r>
          </a:p>
          <a:p/>
          <a:p>
            <a:r>
              <a:t>Topology optimization distributes a fixed amount of material so the structure is as stiff as possible. The cost is dominated by repeatedly solving the finite element system K u = f.</a:t>
            </a:r>
          </a:p>
          <a:p>
            <a:r>
              <a:t>MTOP, introduced by Nguyen and co-workers in 2010, splits the problem: the design is still described on a fine mesh, but the equilibrium equations are solved on a coarse mesh, which should be much cheaper.</a:t>
            </a:r>
          </a:p>
          <a:p>
            <a:r>
              <a:t>The catch: the original paper never reported computation times. So our research question is exactly that - how large is the speedup, and does the optimized design stay the same?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Lukas   |   Target ~40 s</a:t>
            </a:r>
          </a:p>
          <a:p/>
          <a:p>
            <a:r>
              <a:t>Our test structure is the half MBB beam from the Chapter 9 lecture code. A unit point load at the top-left corner, a symmetry condition on the left edge, and a roller at the bottom-right. Plane stress, bilinear quad elements.</a:t>
            </a:r>
          </a:p>
          <a:p>
            <a:r>
              <a:t>The optimization targets a volume fraction of one half, SIMP penalization three, and a cone filter of radius 24 density cells. Important: these settings are identical for every experiment, so any difference we see is due to MTOP, not the parameters.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Lukas   |   Target ~70 s</a:t>
            </a:r>
          </a:p>
          <a:p/>
          <a:p>
            <a:r>
              <a:t>This is the heart of MTOP. In the classical approach the analysis mesh and the design mesh are the same, 600 by 200.</a:t>
            </a:r>
          </a:p>
          <a:p>
            <a:r>
              <a:t>In MTOP we keep the 600 by 200 design resolution, but we analyze on a coarse 120 by 40 mesh, with 5 by 5 density cells inside each finite element - that is the zoom on the right.</a:t>
            </a:r>
          </a:p>
          <a:p>
            <a:r>
              <a:t>Each element's stiffness is integrated with one midpoint sample per density cell, so 25 small stiffness templates, which are precomputed once per run.</a:t>
            </a:r>
          </a:p>
          <a:p>
            <a:r>
              <a:t>The payoff is the number of equations: the free degrees of freedom drop from about 241,000 to about 9,900. That factor is the speedup we are chasing.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Lukas   |   Target ~50 s</a:t>
            </a:r>
          </a:p>
          <a:p/>
          <a:p>
            <a:r>
              <a:t>Quickly, the optimization problem. The design variables are the cell densities, the objective is to minimize compliance, and the constraint is the volume fraction of one half. SIMP with penalization three, and a cone filter of radius 24, used either as a sensitivity filter or a density filter.</a:t>
            </a:r>
          </a:p>
          <a:p>
            <a:r>
              <a:t>We ran the seven experiments in the table: the optimality-criteria runs for assignment steps 1 to 3, then MMA for step 4 with sensitivity filtering, density filtering, and Heaviside projection at three thresholds. Every MTOP run has a classical counterpart for comparison.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Lukas   |   Target ~40 s</a:t>
            </a:r>
          </a:p>
          <a:p/>
          <a:p>
            <a:r>
              <a:t>Before trusting any result we verified the sensitivities - the gradients the optimizer relies on. We checked three derivative chains: the classical SIMP gradient, the MTOP per-cell gradient, and the full Heaviside chain, each with three finite-difference strategies.</a:t>
            </a:r>
          </a:p>
          <a:p>
            <a:r>
              <a:t>The strongest is the Taylor remainder test, the right-hand panel: it should decay quadratically with the step size, and the fitted slope is essentially 2.00 for all three chains, with errors down to ten to the minus six. So the analytical gradients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Lukas   |   Target ~45 s</a:t>
            </a:r>
          </a:p>
          <a:p/>
          <a:p>
            <a:r>
              <a:t>Now the results. Steps 1 and 2: optimality criteria with sensitivity filtering. On the right, the classical design on top, the MTOP design in the middle, and their difference at the bottom.</a:t>
            </a:r>
          </a:p>
          <a:p>
            <a:r>
              <a:t>The two layouts are the same truss - a top chord, a bottom chord, a triangulated web. The difference plot is almost empty, just small boundary shifts, an RMS of three thousandths. Re-evaluated on the same fine mesh the compliances differ by 0.045 percent.</a:t>
            </a:r>
          </a:p>
          <a:p>
            <a:r>
              <a:t>So MTOP does not change the design. I will hand over to Tiebert for how much faster it 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Tiebert   (takes over from Lukas)   |   Target ~40 s</a:t>
            </a:r>
          </a:p>
          <a:p/>
          <a:p>
            <a:r>
              <a:t>Thanks. So the designs are identical, but the timing is not. This plot is compliance against wall-clock time - classical in blue, MTOP in orange.</a:t>
            </a:r>
          </a:p>
          <a:p>
            <a:r>
              <a:t>Both runs take essentially the same number of iterations, 94 and 95, so the optimization path is unchanged. But the classical run takes 263 seconds and the MTOP run takes 12 - a factor of 21. You can see the orange curve squeezed against the time axis.</a:t>
            </a:r>
          </a:p>
          <a:p>
            <a:r>
              <a:t>Same design, same iteration count, 21 times faster.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Tiebert   |   Target ~50 s</a:t>
            </a:r>
          </a:p>
          <a:p/>
          <a:p>
            <a:r>
              <a:t>Step 3 repeats the comparison with a density filter instead of a sensitivity filter. The designs are again almost identical, 0.04 percent in compliance.</a:t>
            </a:r>
          </a:p>
          <a:p>
            <a:r>
              <a:t>But the speedup drops from 21 to about 5. The reason: the density filter adds a chain-rule convolution and a volume check that still run on the full 600 by 200 density mesh, so they do not shrink with the analysis mesh.</a:t>
            </a:r>
          </a:p>
          <a:p>
            <a:r>
              <a:t>One more observation: with a density filter the OC update never quite meets the design-change tolerance - it oscillates at the boundary - so we stop it on a compliance plateau instead.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Tiebert   |   Target ~65 s</a:t>
            </a:r>
          </a:p>
          <a:p/>
          <a:p>
            <a:r>
              <a:t>Step 4 swaps the optimality-criteria update for MMA, the method of moving asymptotes. MMA on its own gives a design close to the OC result, and it does not by itself fix the density-filter convergence issue from the previous slide.</a:t>
            </a:r>
          </a:p>
          <a:p>
            <a:r>
              <a:t>The real benefit comes with Heaviside projection, which pushes the gray material towards either solid or void. On the right are the three projected designs, for thresholds 0.3, 0.5 and 0.7: all near black-and-white, all the same load path.</a:t>
            </a:r>
          </a:p>
          <a:p>
            <a:r>
              <a:t>The projected compliance is about 17 percent below the gray density-filtered design. The three thresholds differ by less than 0.7 percent; 0.5 is marginally the best.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Tiebert   |   Target ~50 s</a:t>
            </a:r>
          </a:p>
          <a:p/>
          <a:p>
            <a:r>
              <a:t>So where does the speedup actually come from? This chart breaks each run into algorithmic phases.</a:t>
            </a:r>
          </a:p>
          <a:p>
            <a:r>
              <a:t>For the classical OC run, the green block - the finite element solve - is 82 percent of the time. MTOP shrinks exactly that block: the coarse solve is about 40 times faster.</a:t>
            </a:r>
          </a:p>
          <a:p>
            <a:r>
              <a:t>What it cannot shrink is the rest - the filtering, the assembly, the optimizer - which still act on the fine density mesh. That is why the total speedup is 21 and not 40. For the MMA runs the red optimizer block dominates, so there the equilibrium solve is no longer the bottleneck.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Tiebert   |   Target ~50 s</a:t>
            </a:r>
          </a:p>
          <a:p/>
          <a:p>
            <a:r>
              <a:t>One honest qualification. We also ran a plain coarse model, 120 by 40 for both the analysis and the design. Re-analyzed on the fine mesh, it lands within 0.6 percent of the full design.</a:t>
            </a:r>
          </a:p>
          <a:p>
            <a:r>
              <a:t>So for this 2D beam, with a fairly large filter, even a crude model already finds the load path. The difference is that this coarse design is locked to 120-by-40 resolution and is noticeably grayer.</a:t>
            </a:r>
          </a:p>
          <a:p>
            <a:r>
              <a:t>MTOP's real value is that it keeps the full 600-by-200 design description while only paying for the coarse solve.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Tiebert   |   Target ~40 s</a:t>
            </a:r>
          </a:p>
          <a:p/>
          <a:p>
            <a:r>
              <a:t>To conclude. MTOP reproduces the classical MBB design to within 0.05 percent compliance. It is 21 times faster with sensitivity filtering and 5 times faster with density filtering.</a:t>
            </a:r>
          </a:p>
          <a:p>
            <a:r>
              <a:t>The speedup comes from the cheaper coarse equilibrium solve, and is capped by the operations that still run on the fine mesh. OC with density filtering converges only in the compliance sense. And Heaviside projection gives the lowest, near-binary compliance, best at threshold 0.5.</a:t>
            </a:r>
          </a:p>
          <a:p>
            <a:r>
              <a:t>The chart summarizes all nine runs - cost on the left, compliance on the right.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Tiebert   |   Target ~30 s</a:t>
            </a:r>
          </a:p>
          <a:p/>
          <a:p>
            <a:r>
              <a:t>To close, a brief outlook. Our headline numbers are for a 2D beam, where a plain coarse model already came within 0.6 percent, so the 2D benefit was modest. MTOP pays off most where the equilibrium solve genuinely dominates the cost: in 3D, with much larger systems, and where the design has fine features a coarse model cannot resolve, so keeping the fine density description is worth it.</a:t>
            </a:r>
          </a:p>
          <a:p>
            <a:r>
              <a:t>Three open issues from this study: density filtering needs a better convergence criterion than the design-change tolerance; the filtering, assembly and optimizer steps still scale with the fine mesh and cap the speedup below the 40 times of the solve itself; and with MMA the optimizer subproblem, not the FE solve, becomes the bottleneck.</a:t>
            </a:r>
          </a:p>
          <a:p>
            <a:r>
              <a:t>Thank you -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dia">
    <p:spTree>
      <p:nvGrpSpPr>
        <p:cNvPr id="1" name=""/>
        <p:cNvGrpSpPr/>
        <p:nvPr/>
      </p:nvGrpSpPr>
      <p:grpSpPr>
        <a:xfrm>
          <a:off x="0" y="0"/>
          <a:ext cx="0" cy="0"/>
          <a:chOff x="0" y="0"/>
          <a:chExt cx="0" cy="0"/>
        </a:xfrm>
      </p:grpSpPr>
      <p:sp>
        <p:nvSpPr>
          <p:cNvPr id="7" name="Rechthoek 6"/>
          <p:cNvSpPr/>
          <p:nvPr userDrawn="1"/>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10" name="Rechthoek 9"/>
          <p:cNvSpPr/>
          <p:nvPr userDrawn="1"/>
        </p:nvSpPr>
        <p:spPr>
          <a:xfrm>
            <a:off x="0" y="648000"/>
            <a:ext cx="12193200" cy="6210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userDrawn="1"/>
        </p:nvSpPr>
        <p:spPr>
          <a:xfrm>
            <a:off x="0" y="647998"/>
            <a:ext cx="12193200" cy="4456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9" name="Afbeelding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0000" y="360000"/>
            <a:ext cx="2018135" cy="720000"/>
          </a:xfrm>
          <a:prstGeom prst="rect">
            <a:avLst/>
          </a:prstGeom>
        </p:spPr>
      </p:pic>
      <p:sp>
        <p:nvSpPr>
          <p:cNvPr id="2" name="Titel 1"/>
          <p:cNvSpPr>
            <a:spLocks noGrp="1"/>
          </p:cNvSpPr>
          <p:nvPr>
            <p:ph type="ctrTitle"/>
          </p:nvPr>
        </p:nvSpPr>
        <p:spPr>
          <a:xfrm>
            <a:off x="575999" y="1080000"/>
            <a:ext cx="6096524" cy="4024798"/>
          </a:xfrm>
        </p:spPr>
        <p:txBody>
          <a:bodyPr anchor="ctr" anchorCtr="0">
            <a:normAutofit/>
          </a:bodyPr>
          <a:lstStyle>
            <a:lvl1pPr algn="l">
              <a:defRPr sz="4000" baseline="0">
                <a:solidFill>
                  <a:schemeClr val="bg1"/>
                </a:solidFill>
              </a:defRPr>
            </a:lvl1pPr>
          </a:lstStyle>
          <a:p>
            <a:r>
              <a:rPr lang="en-US" dirty="0"/>
              <a:t>Click to edit Master title style</a:t>
            </a:r>
            <a:endParaRPr lang="nl-NL" dirty="0"/>
          </a:p>
        </p:txBody>
      </p:sp>
      <p:sp>
        <p:nvSpPr>
          <p:cNvPr id="3" name="Ondertitel 2"/>
          <p:cNvSpPr>
            <a:spLocks noGrp="1"/>
          </p:cNvSpPr>
          <p:nvPr>
            <p:ph type="subTitle" idx="1"/>
          </p:nvPr>
        </p:nvSpPr>
        <p:spPr>
          <a:xfrm>
            <a:off x="575999" y="5392801"/>
            <a:ext cx="6096524" cy="730188"/>
          </a:xfrm>
        </p:spPr>
        <p:txBody>
          <a:bodyPr lIns="0" tIns="0" rIns="0" bIns="0"/>
          <a:lstStyle>
            <a:lvl1pPr marL="0" indent="0" algn="l">
              <a:buNone/>
              <a:defRPr sz="24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nl-NL" dirty="0"/>
          </a:p>
        </p:txBody>
      </p:sp>
      <p:sp>
        <p:nvSpPr>
          <p:cNvPr id="5" name="Picture Placeholder 4"/>
          <p:cNvSpPr>
            <a:spLocks noGrp="1"/>
          </p:cNvSpPr>
          <p:nvPr>
            <p:ph type="pic" sz="quarter" idx="10"/>
          </p:nvPr>
        </p:nvSpPr>
        <p:spPr>
          <a:xfrm>
            <a:off x="7248525" y="1654175"/>
            <a:ext cx="4368673" cy="4468813"/>
          </a:xfrm>
        </p:spPr>
        <p:txBody>
          <a:bodyPr/>
          <a:lstStyle/>
          <a:p>
            <a:r>
              <a:rPr lang="en-US"/>
              <a:t>Click icon to add picture</a:t>
            </a:r>
            <a:endParaRPr lang="nl-NL"/>
          </a:p>
        </p:txBody>
      </p:sp>
    </p:spTree>
    <p:extLst>
      <p:ext uri="{BB962C8B-B14F-4D97-AF65-F5344CB8AC3E}">
        <p14:creationId xmlns:p14="http://schemas.microsoft.com/office/powerpoint/2010/main" val="1128617704"/>
      </p:ext>
    </p:extLst>
  </p:cSld>
  <p:clrMapOvr>
    <a:masterClrMapping/>
  </p:clrMapOvr>
  <p:extLst>
    <p:ext uri="{DCECCB84-F9BA-43D5-87BE-67443E8EF086}">
      <p15:sldGuideLst xmlns:p15="http://schemas.microsoft.com/office/powerpoint/2012/main">
        <p15:guide id="1" orient="horz" pos="1026">
          <p15:clr>
            <a:srgbClr val="FBAE40"/>
          </p15:clr>
        </p15:guide>
        <p15:guide id="2" pos="4203">
          <p15:clr>
            <a:srgbClr val="FBAE40"/>
          </p15:clr>
        </p15:guide>
        <p15:guide id="3" orient="horz" pos="397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 en object">
    <p:spTree>
      <p:nvGrpSpPr>
        <p:cNvPr id="1" name=""/>
        <p:cNvGrpSpPr/>
        <p:nvPr/>
      </p:nvGrpSpPr>
      <p:grpSpPr>
        <a:xfrm>
          <a:off x="0" y="0"/>
          <a:ext cx="0" cy="0"/>
          <a:chOff x="0" y="0"/>
          <a:chExt cx="0" cy="0"/>
        </a:xfrm>
      </p:grpSpPr>
      <p:sp>
        <p:nvSpPr>
          <p:cNvPr id="3" name="Tijdelijke aanduiding voor inhou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ijdelijke aanduiding voor datum 3"/>
          <p:cNvSpPr>
            <a:spLocks noGrp="1"/>
          </p:cNvSpPr>
          <p:nvPr>
            <p:ph type="dt" sz="half" idx="10"/>
          </p:nvPr>
        </p:nvSpPr>
        <p:spPr/>
        <p:txBody>
          <a:bodyPr/>
          <a:lstStyle/>
          <a:p>
            <a:fld id="{AA7DF125-8D2F-407C-A946-0B214A077F46}" type="datetime1">
              <a:rPr lang="nl-BE" smtClean="0"/>
              <a:t>29/11/2024</a:t>
            </a:fld>
            <a:endParaRPr lang="nl-NL"/>
          </a:p>
        </p:txBody>
      </p:sp>
      <p:sp>
        <p:nvSpPr>
          <p:cNvPr id="5" name="Tijdelijke aanduiding voor voettekst 4"/>
          <p:cNvSpPr>
            <a:spLocks noGrp="1"/>
          </p:cNvSpPr>
          <p:nvPr>
            <p:ph type="ftr" sz="quarter" idx="11"/>
          </p:nvPr>
        </p:nvSpPr>
        <p:spPr/>
        <p:txBody>
          <a:bodyPr/>
          <a:lstStyle/>
          <a:p>
            <a:r>
              <a:rPr lang="nl-NL"/>
              <a:t>Faculteit, departement, dienst …</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‹nr.›</a:t>
            </a:fld>
            <a:endParaRPr lang="nl-NL"/>
          </a:p>
        </p:txBody>
      </p:sp>
      <p:sp>
        <p:nvSpPr>
          <p:cNvPr id="2" name="Titel 1"/>
          <p:cNvSpPr>
            <a:spLocks noGrp="1"/>
          </p:cNvSpPr>
          <p:nvPr>
            <p:ph type="title"/>
          </p:nvPr>
        </p:nvSpPr>
        <p:spPr/>
        <p:txBody>
          <a:bodyPr/>
          <a:lstStyle/>
          <a:p>
            <a:r>
              <a:rPr lang="nl-NL"/>
              <a:t>Klik om de stijl te bewerken</a:t>
            </a:r>
          </a:p>
        </p:txBody>
      </p:sp>
    </p:spTree>
    <p:extLst>
      <p:ext uri="{BB962C8B-B14F-4D97-AF65-F5344CB8AC3E}">
        <p14:creationId xmlns:p14="http://schemas.microsoft.com/office/powerpoint/2010/main" val="2102180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ekop">
    <p:spTree>
      <p:nvGrpSpPr>
        <p:cNvPr id="1" name=""/>
        <p:cNvGrpSpPr/>
        <p:nvPr/>
      </p:nvGrpSpPr>
      <p:grpSpPr>
        <a:xfrm>
          <a:off x="0" y="0"/>
          <a:ext cx="0" cy="0"/>
          <a:chOff x="0" y="0"/>
          <a:chExt cx="0" cy="0"/>
        </a:xfrm>
      </p:grpSpPr>
      <p:sp>
        <p:nvSpPr>
          <p:cNvPr id="7" name="Rechthoek 6"/>
          <p:cNvSpPr/>
          <p:nvPr userDrawn="1"/>
        </p:nvSpPr>
        <p:spPr>
          <a:xfrm>
            <a:off x="0" y="0"/>
            <a:ext cx="12193200" cy="62075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5999" y="1800000"/>
            <a:ext cx="6096524" cy="2386800"/>
          </a:xfrm>
        </p:spPr>
        <p:txBody>
          <a:bodyPr anchor="b"/>
          <a:lstStyle>
            <a:lvl1pPr>
              <a:defRPr sz="4000" baseline="0">
                <a:solidFill>
                  <a:schemeClr val="tx2"/>
                </a:solidFill>
              </a:defRPr>
            </a:lvl1pPr>
          </a:lstStyle>
          <a:p>
            <a:r>
              <a:rPr lang="en-US" dirty="0"/>
              <a:t>Click to edit Master title style</a:t>
            </a:r>
            <a:endParaRPr lang="nl-NL" dirty="0"/>
          </a:p>
        </p:txBody>
      </p:sp>
      <p:sp>
        <p:nvSpPr>
          <p:cNvPr id="3" name="Tijdelijke aanduiding voor tekst 2"/>
          <p:cNvSpPr>
            <a:spLocks noGrp="1"/>
          </p:cNvSpPr>
          <p:nvPr>
            <p:ph type="body" idx="1"/>
          </p:nvPr>
        </p:nvSpPr>
        <p:spPr>
          <a:xfrm>
            <a:off x="575999" y="4359600"/>
            <a:ext cx="6096264" cy="1501200"/>
          </a:xfrm>
        </p:spPr>
        <p:txBody>
          <a:bodyPr lIns="0" tIns="0" rIns="0" bIns="0"/>
          <a:lstStyle>
            <a:lvl1pPr marL="0" indent="0">
              <a:buNone/>
              <a:defRPr sz="24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Tijdelijke aanduiding voor datum 3"/>
          <p:cNvSpPr>
            <a:spLocks noGrp="1"/>
          </p:cNvSpPr>
          <p:nvPr>
            <p:ph type="dt" sz="half" idx="10"/>
          </p:nvPr>
        </p:nvSpPr>
        <p:spPr/>
        <p:txBody>
          <a:bodyPr/>
          <a:lstStyle/>
          <a:p>
            <a:fld id="{FE566779-A426-4C6E-B33F-12BA9B572EC4}" type="datetime1">
              <a:rPr lang="nl-BE" smtClean="0"/>
              <a:t>29/11/2024</a:t>
            </a:fld>
            <a:endParaRPr lang="nl-NL" dirty="0"/>
          </a:p>
        </p:txBody>
      </p:sp>
      <p:sp>
        <p:nvSpPr>
          <p:cNvPr id="5" name="Tijdelijke aanduiding voor voettekst 4"/>
          <p:cNvSpPr>
            <a:spLocks noGrp="1"/>
          </p:cNvSpPr>
          <p:nvPr>
            <p:ph type="ftr" sz="quarter" idx="11"/>
          </p:nvPr>
        </p:nvSpPr>
        <p:spPr/>
        <p:txBody>
          <a:bodyPr/>
          <a:lstStyle/>
          <a:p>
            <a:r>
              <a:rPr lang="nl-NL"/>
              <a:t>Faculteit, departement, dienst …</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‹nr.›</a:t>
            </a:fld>
            <a:endParaRPr lang="nl-NL"/>
          </a:p>
        </p:txBody>
      </p:sp>
      <p:sp>
        <p:nvSpPr>
          <p:cNvPr id="8" name="Picture Placeholder 4"/>
          <p:cNvSpPr>
            <a:spLocks noGrp="1"/>
          </p:cNvSpPr>
          <p:nvPr>
            <p:ph type="pic" sz="quarter" idx="13"/>
          </p:nvPr>
        </p:nvSpPr>
        <p:spPr>
          <a:xfrm>
            <a:off x="7248525" y="584201"/>
            <a:ext cx="4368673" cy="2376000"/>
          </a:xfrm>
        </p:spPr>
        <p:txBody>
          <a:bodyPr/>
          <a:lstStyle/>
          <a:p>
            <a:r>
              <a:rPr lang="en-US"/>
              <a:t>Click icon to add picture</a:t>
            </a:r>
            <a:endParaRPr lang="nl-NL"/>
          </a:p>
        </p:txBody>
      </p:sp>
      <p:sp>
        <p:nvSpPr>
          <p:cNvPr id="9" name="Picture Placeholder 4"/>
          <p:cNvSpPr>
            <a:spLocks noGrp="1"/>
          </p:cNvSpPr>
          <p:nvPr>
            <p:ph type="pic" sz="quarter" idx="14"/>
          </p:nvPr>
        </p:nvSpPr>
        <p:spPr>
          <a:xfrm>
            <a:off x="7248262" y="3248513"/>
            <a:ext cx="4368673" cy="2376000"/>
          </a:xfrm>
        </p:spPr>
        <p:txBody>
          <a:bodyPr/>
          <a:lstStyle/>
          <a:p>
            <a:r>
              <a:rPr lang="en-US"/>
              <a:t>Click icon to add picture</a:t>
            </a:r>
            <a:endParaRPr lang="nl-NL"/>
          </a:p>
        </p:txBody>
      </p:sp>
    </p:spTree>
    <p:extLst>
      <p:ext uri="{BB962C8B-B14F-4D97-AF65-F5344CB8AC3E}">
        <p14:creationId xmlns:p14="http://schemas.microsoft.com/office/powerpoint/2010/main" val="952148524"/>
      </p:ext>
    </p:extLst>
  </p:cSld>
  <p:clrMapOvr>
    <a:masterClrMapping/>
  </p:clrMapOvr>
  <p:extLst>
    <p:ext uri="{DCECCB84-F9BA-43D5-87BE-67443E8EF086}">
      <p15:sldGuideLst xmlns:p15="http://schemas.microsoft.com/office/powerpoint/2012/main">
        <p15:guide id="1" orient="horz" pos="3543">
          <p15:clr>
            <a:srgbClr val="FBAE40"/>
          </p15:clr>
        </p15:guide>
        <p15:guide id="2" pos="420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ekopWit">
    <p:spTree>
      <p:nvGrpSpPr>
        <p:cNvPr id="1" name=""/>
        <p:cNvGrpSpPr/>
        <p:nvPr/>
      </p:nvGrpSpPr>
      <p:grpSpPr>
        <a:xfrm>
          <a:off x="0" y="0"/>
          <a:ext cx="0" cy="0"/>
          <a:chOff x="0" y="0"/>
          <a:chExt cx="0" cy="0"/>
        </a:xfrm>
      </p:grpSpPr>
      <p:sp>
        <p:nvSpPr>
          <p:cNvPr id="2" name="Titel 1"/>
          <p:cNvSpPr>
            <a:spLocks noGrp="1"/>
          </p:cNvSpPr>
          <p:nvPr>
            <p:ph type="title"/>
          </p:nvPr>
        </p:nvSpPr>
        <p:spPr>
          <a:xfrm>
            <a:off x="575999" y="1800000"/>
            <a:ext cx="6096264" cy="2386800"/>
          </a:xfrm>
        </p:spPr>
        <p:txBody>
          <a:bodyPr anchor="b">
            <a:normAutofit/>
          </a:bodyPr>
          <a:lstStyle>
            <a:lvl1pPr>
              <a:defRPr sz="4000"/>
            </a:lvl1pPr>
          </a:lstStyle>
          <a:p>
            <a:r>
              <a:rPr lang="en-US"/>
              <a:t>Click to edit Master title style</a:t>
            </a:r>
            <a:endParaRPr lang="nl-NL" dirty="0"/>
          </a:p>
        </p:txBody>
      </p:sp>
      <p:sp>
        <p:nvSpPr>
          <p:cNvPr id="3" name="Tijdelijke aanduiding voor tekst 2"/>
          <p:cNvSpPr>
            <a:spLocks noGrp="1"/>
          </p:cNvSpPr>
          <p:nvPr>
            <p:ph type="body" idx="1"/>
          </p:nvPr>
        </p:nvSpPr>
        <p:spPr>
          <a:xfrm>
            <a:off x="575999" y="4359600"/>
            <a:ext cx="6096264" cy="1501200"/>
          </a:xfrm>
        </p:spPr>
        <p:txBody>
          <a:bodyPr lIns="0" tIns="0" rIns="0" bIns="0"/>
          <a:lstStyle>
            <a:lvl1pPr marL="0" indent="0">
              <a:buNone/>
              <a:defRPr sz="24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Tijdelijke aanduiding voor datum 3"/>
          <p:cNvSpPr>
            <a:spLocks noGrp="1"/>
          </p:cNvSpPr>
          <p:nvPr>
            <p:ph type="dt" sz="half" idx="10"/>
          </p:nvPr>
        </p:nvSpPr>
        <p:spPr/>
        <p:txBody>
          <a:bodyPr/>
          <a:lstStyle/>
          <a:p>
            <a:fld id="{E40DF61B-1080-4D20-8EAC-F5AC55182461}" type="datetime1">
              <a:rPr lang="nl-BE" smtClean="0"/>
              <a:t>29/11/2024</a:t>
            </a:fld>
            <a:endParaRPr lang="nl-NL" dirty="0"/>
          </a:p>
        </p:txBody>
      </p:sp>
      <p:sp>
        <p:nvSpPr>
          <p:cNvPr id="5" name="Tijdelijke aanduiding voor voettekst 4"/>
          <p:cNvSpPr>
            <a:spLocks noGrp="1"/>
          </p:cNvSpPr>
          <p:nvPr>
            <p:ph type="ftr" sz="quarter" idx="11"/>
          </p:nvPr>
        </p:nvSpPr>
        <p:spPr/>
        <p:txBody>
          <a:bodyPr/>
          <a:lstStyle/>
          <a:p>
            <a:r>
              <a:rPr lang="nl-NL"/>
              <a:t>Faculteit, departement, dienst …</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‹nr.›</a:t>
            </a:fld>
            <a:endParaRPr lang="nl-NL"/>
          </a:p>
        </p:txBody>
      </p:sp>
      <p:sp>
        <p:nvSpPr>
          <p:cNvPr id="7" name="Picture Placeholder 4"/>
          <p:cNvSpPr>
            <a:spLocks noGrp="1"/>
          </p:cNvSpPr>
          <p:nvPr>
            <p:ph type="pic" sz="quarter" idx="13"/>
          </p:nvPr>
        </p:nvSpPr>
        <p:spPr>
          <a:xfrm>
            <a:off x="7248525" y="584201"/>
            <a:ext cx="4368673" cy="5040312"/>
          </a:xfrm>
        </p:spPr>
        <p:txBody>
          <a:bodyPr/>
          <a:lstStyle/>
          <a:p>
            <a:r>
              <a:rPr lang="en-US"/>
              <a:t>Click icon to add picture</a:t>
            </a:r>
            <a:endParaRPr lang="nl-NL"/>
          </a:p>
        </p:txBody>
      </p:sp>
    </p:spTree>
  </p:cSld>
  <p:clrMapOvr>
    <a:masterClrMapping/>
  </p:clrMapOvr>
  <p:extLst>
    <p:ext uri="{DCECCB84-F9BA-43D5-87BE-67443E8EF086}">
      <p15:sldGuideLst xmlns:p15="http://schemas.microsoft.com/office/powerpoint/2012/main">
        <p15:guide id="1" orient="horz" pos="3543" userDrawn="1">
          <p15:clr>
            <a:srgbClr val="FBAE40"/>
          </p15:clr>
        </p15:guide>
        <p15:guide id="2" pos="4203" userDrawn="1">
          <p15:clr>
            <a:srgbClr val="FBAE40"/>
          </p15:clr>
        </p15:guide>
        <p15:guide id="3" orient="horz" pos="36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ee objecten">
    <p:spTree>
      <p:nvGrpSpPr>
        <p:cNvPr id="1" name=""/>
        <p:cNvGrpSpPr/>
        <p:nvPr/>
      </p:nvGrpSpPr>
      <p:grpSpPr>
        <a:xfrm>
          <a:off x="0" y="0"/>
          <a:ext cx="0" cy="0"/>
          <a:chOff x="0" y="0"/>
          <a:chExt cx="0" cy="0"/>
        </a:xfrm>
      </p:grpSpPr>
      <p:sp>
        <p:nvSpPr>
          <p:cNvPr id="5" name="Tijdelijke aanduiding voor datum 4"/>
          <p:cNvSpPr>
            <a:spLocks noGrp="1"/>
          </p:cNvSpPr>
          <p:nvPr>
            <p:ph type="dt" sz="half" idx="10"/>
          </p:nvPr>
        </p:nvSpPr>
        <p:spPr/>
        <p:txBody>
          <a:bodyPr/>
          <a:lstStyle/>
          <a:p>
            <a:fld id="{94A4F625-24B7-4F40-98BC-AFA043082CE9}" type="datetime1">
              <a:rPr lang="nl-BE" smtClean="0"/>
              <a:t>29/11/2024</a:t>
            </a:fld>
            <a:endParaRPr lang="nl-NL"/>
          </a:p>
        </p:txBody>
      </p:sp>
      <p:sp>
        <p:nvSpPr>
          <p:cNvPr id="6" name="Tijdelijke aanduiding voor voettekst 5"/>
          <p:cNvSpPr>
            <a:spLocks noGrp="1"/>
          </p:cNvSpPr>
          <p:nvPr>
            <p:ph type="ftr" sz="quarter" idx="11"/>
          </p:nvPr>
        </p:nvSpPr>
        <p:spPr/>
        <p:txBody>
          <a:bodyPr/>
          <a:lstStyle/>
          <a:p>
            <a:r>
              <a:rPr lang="nl-NL"/>
              <a:t>Faculteit, departement, dienst …</a:t>
            </a:r>
          </a:p>
        </p:txBody>
      </p:sp>
      <p:sp>
        <p:nvSpPr>
          <p:cNvPr id="7" name="Tijdelijke aanduiding voor dianummer 6"/>
          <p:cNvSpPr>
            <a:spLocks noGrp="1"/>
          </p:cNvSpPr>
          <p:nvPr>
            <p:ph type="sldNum" sz="quarter" idx="12"/>
          </p:nvPr>
        </p:nvSpPr>
        <p:spPr/>
        <p:txBody>
          <a:bodyPr/>
          <a:lstStyle/>
          <a:p>
            <a:fld id="{0A297500-7527-634B-90F4-69D0994C32B4}" type="slidenum">
              <a:rPr lang="nl-NL" smtClean="0"/>
              <a:t>‹nr.›</a:t>
            </a:fld>
            <a:endParaRPr lang="nl-NL"/>
          </a:p>
        </p:txBody>
      </p:sp>
      <p:sp>
        <p:nvSpPr>
          <p:cNvPr id="9" name="Tijdelijke aanduiding voor tekst 2"/>
          <p:cNvSpPr>
            <a:spLocks noGrp="1"/>
          </p:cNvSpPr>
          <p:nvPr>
            <p:ph idx="1"/>
          </p:nvPr>
        </p:nvSpPr>
        <p:spPr>
          <a:xfrm>
            <a:off x="576000" y="1656000"/>
            <a:ext cx="5400000" cy="44640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12" name="Content Placeholder 11"/>
          <p:cNvSpPr>
            <a:spLocks noGrp="1"/>
          </p:cNvSpPr>
          <p:nvPr>
            <p:ph sz="quarter" idx="13"/>
          </p:nvPr>
        </p:nvSpPr>
        <p:spPr>
          <a:xfrm>
            <a:off x="6217200" y="1656000"/>
            <a:ext cx="5400000" cy="4464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2" name="Titel 1"/>
          <p:cNvSpPr>
            <a:spLocks noGrp="1"/>
          </p:cNvSpPr>
          <p:nvPr>
            <p:ph type="title"/>
          </p:nvPr>
        </p:nvSpPr>
        <p:spPr/>
        <p:txBody>
          <a:bodyPr/>
          <a:lstStyle/>
          <a:p>
            <a:r>
              <a:rPr lang="en-US"/>
              <a:t>Click to edit Master title style</a:t>
            </a:r>
            <a:endParaRPr lang="nl-BE"/>
          </a:p>
        </p:txBody>
      </p:sp>
    </p:spTree>
    <p:extLst>
      <p:ext uri="{BB962C8B-B14F-4D97-AF65-F5344CB8AC3E}">
        <p14:creationId xmlns:p14="http://schemas.microsoft.com/office/powerpoint/2010/main" val="1859589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ergelijking">
    <p:spTree>
      <p:nvGrpSpPr>
        <p:cNvPr id="1" name=""/>
        <p:cNvGrpSpPr/>
        <p:nvPr/>
      </p:nvGrpSpPr>
      <p:grpSpPr>
        <a:xfrm>
          <a:off x="0" y="0"/>
          <a:ext cx="0" cy="0"/>
          <a:chOff x="0" y="0"/>
          <a:chExt cx="0" cy="0"/>
        </a:xfrm>
      </p:grpSpPr>
      <p:sp>
        <p:nvSpPr>
          <p:cNvPr id="3" name="Tijdelijke aanduiding voor tekst 2"/>
          <p:cNvSpPr>
            <a:spLocks noGrp="1"/>
          </p:cNvSpPr>
          <p:nvPr>
            <p:ph type="body" idx="1"/>
          </p:nvPr>
        </p:nvSpPr>
        <p:spPr>
          <a:xfrm>
            <a:off x="576000" y="1656000"/>
            <a:ext cx="5421575" cy="54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Tijdelijke aanduiding voor inhoud 3"/>
          <p:cNvSpPr>
            <a:spLocks noGrp="1"/>
          </p:cNvSpPr>
          <p:nvPr>
            <p:ph sz="half" idx="2"/>
          </p:nvPr>
        </p:nvSpPr>
        <p:spPr>
          <a:xfrm>
            <a:off x="576000" y="2276271"/>
            <a:ext cx="5421575" cy="383765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5" name="Tijdelijke aanduiding voor tekst 4"/>
          <p:cNvSpPr>
            <a:spLocks noGrp="1"/>
          </p:cNvSpPr>
          <p:nvPr>
            <p:ph type="body" sz="quarter" idx="3"/>
          </p:nvPr>
        </p:nvSpPr>
        <p:spPr>
          <a:xfrm>
            <a:off x="6172200" y="1656000"/>
            <a:ext cx="5445000" cy="54000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Tijdelijke aanduiding voor inhoud 5"/>
          <p:cNvSpPr>
            <a:spLocks noGrp="1"/>
          </p:cNvSpPr>
          <p:nvPr>
            <p:ph sz="quarter" idx="4"/>
          </p:nvPr>
        </p:nvSpPr>
        <p:spPr>
          <a:xfrm>
            <a:off x="6172200" y="2276271"/>
            <a:ext cx="5445000" cy="383765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l-NL" dirty="0"/>
          </a:p>
        </p:txBody>
      </p:sp>
      <p:sp>
        <p:nvSpPr>
          <p:cNvPr id="7" name="Tijdelijke aanduiding voor datum 6"/>
          <p:cNvSpPr>
            <a:spLocks noGrp="1"/>
          </p:cNvSpPr>
          <p:nvPr>
            <p:ph type="dt" sz="half" idx="10"/>
          </p:nvPr>
        </p:nvSpPr>
        <p:spPr/>
        <p:txBody>
          <a:bodyPr/>
          <a:lstStyle/>
          <a:p>
            <a:fld id="{292342B6-1303-46D4-9581-5E95FC0B22E4}" type="datetime1">
              <a:rPr lang="nl-BE" smtClean="0"/>
              <a:t>29/11/2024</a:t>
            </a:fld>
            <a:endParaRPr lang="nl-NL" dirty="0"/>
          </a:p>
        </p:txBody>
      </p:sp>
      <p:sp>
        <p:nvSpPr>
          <p:cNvPr id="8" name="Tijdelijke aanduiding voor voettekst 7"/>
          <p:cNvSpPr>
            <a:spLocks noGrp="1"/>
          </p:cNvSpPr>
          <p:nvPr>
            <p:ph type="ftr" sz="quarter" idx="11"/>
          </p:nvPr>
        </p:nvSpPr>
        <p:spPr/>
        <p:txBody>
          <a:bodyPr/>
          <a:lstStyle/>
          <a:p>
            <a:r>
              <a:rPr lang="nl-NL"/>
              <a:t>Faculteit, departement, dienst …</a:t>
            </a:r>
          </a:p>
        </p:txBody>
      </p:sp>
      <p:sp>
        <p:nvSpPr>
          <p:cNvPr id="9" name="Tijdelijke aanduiding voor dianummer 8"/>
          <p:cNvSpPr>
            <a:spLocks noGrp="1"/>
          </p:cNvSpPr>
          <p:nvPr>
            <p:ph type="sldNum" sz="quarter" idx="12"/>
          </p:nvPr>
        </p:nvSpPr>
        <p:spPr/>
        <p:txBody>
          <a:bodyPr/>
          <a:lstStyle/>
          <a:p>
            <a:fld id="{0A297500-7527-634B-90F4-69D0994C32B4}" type="slidenum">
              <a:rPr lang="nl-NL" smtClean="0"/>
              <a:t>‹nr.›</a:t>
            </a:fld>
            <a:endParaRPr lang="nl-NL"/>
          </a:p>
        </p:txBody>
      </p:sp>
      <p:sp>
        <p:nvSpPr>
          <p:cNvPr id="2" name="Titel 1"/>
          <p:cNvSpPr>
            <a:spLocks noGrp="1"/>
          </p:cNvSpPr>
          <p:nvPr>
            <p:ph type="title"/>
          </p:nvPr>
        </p:nvSpPr>
        <p:spPr/>
        <p:txBody>
          <a:bodyPr/>
          <a:lstStyle/>
          <a:p>
            <a:r>
              <a:rPr lang="en-US"/>
              <a:t>Click to edit Master title style</a:t>
            </a:r>
            <a:endParaRPr lang="nl-BE"/>
          </a:p>
        </p:txBody>
      </p:sp>
    </p:spTree>
    <p:extLst>
      <p:ext uri="{BB962C8B-B14F-4D97-AF65-F5344CB8AC3E}">
        <p14:creationId xmlns:p14="http://schemas.microsoft.com/office/powerpoint/2010/main" val="1784001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3" name="Tijdelijke aanduiding voor datum 2"/>
          <p:cNvSpPr>
            <a:spLocks noGrp="1"/>
          </p:cNvSpPr>
          <p:nvPr>
            <p:ph type="dt" sz="half" idx="10"/>
          </p:nvPr>
        </p:nvSpPr>
        <p:spPr/>
        <p:txBody>
          <a:bodyPr/>
          <a:lstStyle/>
          <a:p>
            <a:fld id="{A76F3976-FDFC-4D8C-ACD3-BCE6A597C36A}" type="datetime1">
              <a:rPr lang="nl-BE" smtClean="0"/>
              <a:t>29/11/2024</a:t>
            </a:fld>
            <a:endParaRPr lang="nl-NL"/>
          </a:p>
        </p:txBody>
      </p:sp>
      <p:sp>
        <p:nvSpPr>
          <p:cNvPr id="4" name="Tijdelijke aanduiding voor voettekst 3"/>
          <p:cNvSpPr>
            <a:spLocks noGrp="1"/>
          </p:cNvSpPr>
          <p:nvPr>
            <p:ph type="ftr" sz="quarter" idx="11"/>
          </p:nvPr>
        </p:nvSpPr>
        <p:spPr/>
        <p:txBody>
          <a:bodyPr/>
          <a:lstStyle/>
          <a:p>
            <a:r>
              <a:rPr lang="nl-NL"/>
              <a:t>Faculteit, departement, dienst …</a:t>
            </a:r>
          </a:p>
        </p:txBody>
      </p:sp>
      <p:sp>
        <p:nvSpPr>
          <p:cNvPr id="5" name="Tijdelijke aanduiding voor dianummer 4"/>
          <p:cNvSpPr>
            <a:spLocks noGrp="1"/>
          </p:cNvSpPr>
          <p:nvPr>
            <p:ph type="sldNum" sz="quarter" idx="12"/>
          </p:nvPr>
        </p:nvSpPr>
        <p:spPr/>
        <p:txBody>
          <a:bodyPr/>
          <a:lstStyle/>
          <a:p>
            <a:fld id="{0A297500-7527-634B-90F4-69D0994C32B4}" type="slidenum">
              <a:rPr lang="nl-NL" smtClean="0"/>
              <a:t>‹nr.›</a:t>
            </a:fld>
            <a:endParaRPr lang="nl-NL"/>
          </a:p>
        </p:txBody>
      </p:sp>
      <p:sp>
        <p:nvSpPr>
          <p:cNvPr id="6" name="Title 5"/>
          <p:cNvSpPr>
            <a:spLocks noGrp="1"/>
          </p:cNvSpPr>
          <p:nvPr>
            <p:ph type="title"/>
          </p:nvPr>
        </p:nvSpPr>
        <p:spPr/>
        <p:txBody>
          <a:bodyPr/>
          <a:lstStyle/>
          <a:p>
            <a:r>
              <a:rPr lang="en-US"/>
              <a:t>Click to edit Master title style</a:t>
            </a:r>
            <a:endParaRPr lang="nl-NL"/>
          </a:p>
        </p:txBody>
      </p:sp>
    </p:spTree>
    <p:extLst>
      <p:ext uri="{BB962C8B-B14F-4D97-AF65-F5344CB8AC3E}">
        <p14:creationId xmlns:p14="http://schemas.microsoft.com/office/powerpoint/2010/main" val="546631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5ADFEA79-DE61-4EF0-8C65-B83CEE2687EB}" type="datetime1">
              <a:rPr lang="nl-BE" smtClean="0"/>
              <a:t>29/11/2024</a:t>
            </a:fld>
            <a:endParaRPr lang="nl-NL"/>
          </a:p>
        </p:txBody>
      </p:sp>
      <p:sp>
        <p:nvSpPr>
          <p:cNvPr id="3" name="Tijdelijke aanduiding voor voettekst 2"/>
          <p:cNvSpPr>
            <a:spLocks noGrp="1"/>
          </p:cNvSpPr>
          <p:nvPr>
            <p:ph type="ftr" sz="quarter" idx="11"/>
          </p:nvPr>
        </p:nvSpPr>
        <p:spPr/>
        <p:txBody>
          <a:bodyPr/>
          <a:lstStyle/>
          <a:p>
            <a:r>
              <a:rPr lang="nl-NL"/>
              <a:t>Faculteit, departement, dienst …</a:t>
            </a:r>
          </a:p>
        </p:txBody>
      </p:sp>
      <p:sp>
        <p:nvSpPr>
          <p:cNvPr id="4" name="Tijdelijke aanduiding voor dianummer 3"/>
          <p:cNvSpPr>
            <a:spLocks noGrp="1"/>
          </p:cNvSpPr>
          <p:nvPr>
            <p:ph type="sldNum" sz="quarter" idx="12"/>
          </p:nvPr>
        </p:nvSpPr>
        <p:spPr/>
        <p:txBody>
          <a:bodyPr/>
          <a:lstStyle/>
          <a:p>
            <a:fld id="{0A297500-7527-634B-90F4-69D0994C32B4}" type="slidenum">
              <a:rPr lang="nl-NL" smtClean="0"/>
              <a:t>‹nr.›</a:t>
            </a:fld>
            <a:endParaRPr lang="nl-NL"/>
          </a:p>
        </p:txBody>
      </p:sp>
    </p:spTree>
    <p:extLst>
      <p:ext uri="{BB962C8B-B14F-4D97-AF65-F5344CB8AC3E}">
        <p14:creationId xmlns:p14="http://schemas.microsoft.com/office/powerpoint/2010/main" val="3077720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ekopSlot">
    <p:spTree>
      <p:nvGrpSpPr>
        <p:cNvPr id="1" name=""/>
        <p:cNvGrpSpPr/>
        <p:nvPr/>
      </p:nvGrpSpPr>
      <p:grpSpPr>
        <a:xfrm>
          <a:off x="0" y="0"/>
          <a:ext cx="0" cy="0"/>
          <a:chOff x="0" y="0"/>
          <a:chExt cx="0" cy="0"/>
        </a:xfrm>
      </p:grpSpPr>
      <p:sp>
        <p:nvSpPr>
          <p:cNvPr id="9" name="Rechthoek 8"/>
          <p:cNvSpPr/>
          <p:nvPr userDrawn="1"/>
        </p:nvSpPr>
        <p:spPr>
          <a:xfrm>
            <a:off x="0" y="0"/>
            <a:ext cx="12193200" cy="6209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2" name="Titel 1"/>
          <p:cNvSpPr>
            <a:spLocks noGrp="1"/>
          </p:cNvSpPr>
          <p:nvPr>
            <p:ph type="title"/>
          </p:nvPr>
        </p:nvSpPr>
        <p:spPr>
          <a:xfrm>
            <a:off x="579120" y="510988"/>
            <a:ext cx="11039793" cy="5184424"/>
          </a:xfrm>
        </p:spPr>
        <p:txBody>
          <a:bodyPr anchor="ctr" anchorCtr="0">
            <a:noAutofit/>
          </a:bodyPr>
          <a:lstStyle>
            <a:lvl1pPr algn="ctr">
              <a:defRPr sz="6000" baseline="0">
                <a:solidFill>
                  <a:schemeClr val="bg1"/>
                </a:solidFill>
              </a:defRPr>
            </a:lvl1pPr>
          </a:lstStyle>
          <a:p>
            <a:r>
              <a:rPr lang="en-US" dirty="0"/>
              <a:t>Click to edit Master title style</a:t>
            </a:r>
            <a:endParaRPr lang="nl-NL" dirty="0"/>
          </a:p>
        </p:txBody>
      </p:sp>
      <p:sp>
        <p:nvSpPr>
          <p:cNvPr id="4" name="Tijdelijke aanduiding voor datum 3"/>
          <p:cNvSpPr>
            <a:spLocks noGrp="1"/>
          </p:cNvSpPr>
          <p:nvPr>
            <p:ph type="dt" sz="half" idx="10"/>
          </p:nvPr>
        </p:nvSpPr>
        <p:spPr/>
        <p:txBody>
          <a:bodyPr/>
          <a:lstStyle/>
          <a:p>
            <a:fld id="{FA2EC5B9-2DE2-43DC-AAE2-5679419BAC4A}" type="datetime1">
              <a:rPr lang="nl-BE" smtClean="0"/>
              <a:t>29/11/2024</a:t>
            </a:fld>
            <a:endParaRPr lang="nl-NL" dirty="0"/>
          </a:p>
        </p:txBody>
      </p:sp>
      <p:sp>
        <p:nvSpPr>
          <p:cNvPr id="5" name="Tijdelijke aanduiding voor voettekst 4"/>
          <p:cNvSpPr>
            <a:spLocks noGrp="1"/>
          </p:cNvSpPr>
          <p:nvPr>
            <p:ph type="ftr" sz="quarter" idx="11"/>
          </p:nvPr>
        </p:nvSpPr>
        <p:spPr/>
        <p:txBody>
          <a:bodyPr/>
          <a:lstStyle/>
          <a:p>
            <a:r>
              <a:rPr lang="nl-NL"/>
              <a:t>Faculteit, departement, dienst …</a:t>
            </a:r>
          </a:p>
        </p:txBody>
      </p:sp>
      <p:sp>
        <p:nvSpPr>
          <p:cNvPr id="6" name="Tijdelijke aanduiding voor dianummer 5"/>
          <p:cNvSpPr>
            <a:spLocks noGrp="1"/>
          </p:cNvSpPr>
          <p:nvPr>
            <p:ph type="sldNum" sz="quarter" idx="12"/>
          </p:nvPr>
        </p:nvSpPr>
        <p:spPr/>
        <p:txBody>
          <a:bodyPr/>
          <a:lstStyle/>
          <a:p>
            <a:fld id="{0A297500-7527-634B-90F4-69D0994C32B4}" type="slidenum">
              <a:rPr lang="nl-NL" smtClean="0"/>
              <a:t>‹nr.›</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eldia">
    <p:spTree>
      <p:nvGrpSpPr>
        <p:cNvPr id="1" name=""/>
        <p:cNvGrpSpPr/>
        <p:nvPr/>
      </p:nvGrpSpPr>
      <p:grpSpPr>
        <a:xfrm>
          <a:off x="0" y="0"/>
          <a:ext cx="0" cy="0"/>
          <a:chOff x="0" y="0"/>
          <a:chExt cx="0" cy="0"/>
        </a:xfrm>
      </p:grpSpPr>
      <p:sp>
        <p:nvSpPr>
          <p:cNvPr id="7" name="Rechthoek 6"/>
          <p:cNvSpPr/>
          <p:nvPr/>
        </p:nvSpPr>
        <p:spPr>
          <a:xfrm>
            <a:off x="0" y="0"/>
            <a:ext cx="121932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8" name="Rechthoek 7"/>
          <p:cNvSpPr/>
          <p:nvPr/>
        </p:nvSpPr>
        <p:spPr>
          <a:xfrm>
            <a:off x="0" y="647998"/>
            <a:ext cx="12193200" cy="621000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9" name="Afbeelding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60000" y="360000"/>
            <a:ext cx="2018135" cy="72000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3791" y="1350253"/>
            <a:ext cx="4648209" cy="5507747"/>
          </a:xfrm>
          <a:prstGeom prst="rect">
            <a:avLst/>
          </a:prstGeom>
        </p:spPr>
      </p:pic>
      <p:sp>
        <p:nvSpPr>
          <p:cNvPr id="12" name="Ondertitel 2"/>
          <p:cNvSpPr>
            <a:spLocks noGrp="1"/>
          </p:cNvSpPr>
          <p:nvPr>
            <p:ph type="subTitle" idx="1"/>
          </p:nvPr>
        </p:nvSpPr>
        <p:spPr>
          <a:xfrm>
            <a:off x="576003" y="4359604"/>
            <a:ext cx="8333999" cy="1655999"/>
          </a:xfrm>
        </p:spPr>
        <p:txBody>
          <a:bodyPr lIns="0" tIns="0" rIns="0" bIns="0"/>
          <a:lstStyle>
            <a:lvl1pPr marL="0" indent="0" algn="l">
              <a:buNone/>
              <a:defRPr sz="2400" baseline="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nl-NL"/>
              <a:t>Klik om de ondertitelstijl van het model te bewerken</a:t>
            </a:r>
            <a:endParaRPr lang="nl-NL" dirty="0"/>
          </a:p>
        </p:txBody>
      </p:sp>
      <p:sp>
        <p:nvSpPr>
          <p:cNvPr id="3" name="Title 2"/>
          <p:cNvSpPr>
            <a:spLocks noGrp="1"/>
          </p:cNvSpPr>
          <p:nvPr>
            <p:ph type="title"/>
          </p:nvPr>
        </p:nvSpPr>
        <p:spPr>
          <a:xfrm>
            <a:off x="576000" y="1800000"/>
            <a:ext cx="8334000" cy="2386800"/>
          </a:xfrm>
        </p:spPr>
        <p:txBody>
          <a:bodyPr>
            <a:normAutofit/>
          </a:bodyPr>
          <a:lstStyle>
            <a:lvl1pPr>
              <a:defRPr sz="4000">
                <a:solidFill>
                  <a:schemeClr val="bg1"/>
                </a:solidFill>
              </a:defRPr>
            </a:lvl1pPr>
          </a:lstStyle>
          <a:p>
            <a:r>
              <a:rPr lang="nl-NL" dirty="0"/>
              <a:t>Klik om de stijl te bewerken</a:t>
            </a:r>
          </a:p>
        </p:txBody>
      </p:sp>
    </p:spTree>
    <p:extLst>
      <p:ext uri="{BB962C8B-B14F-4D97-AF65-F5344CB8AC3E}">
        <p14:creationId xmlns:p14="http://schemas.microsoft.com/office/powerpoint/2010/main" val="3320380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ectiekop">
    <p:spTree>
      <p:nvGrpSpPr>
        <p:cNvPr id="1" name=""/>
        <p:cNvGrpSpPr/>
        <p:nvPr/>
      </p:nvGrpSpPr>
      <p:grpSpPr>
        <a:xfrm>
          <a:off x="0" y="0"/>
          <a:ext cx="0" cy="0"/>
          <a:chOff x="0" y="0"/>
          <a:chExt cx="0" cy="0"/>
        </a:xfrm>
      </p:grpSpPr>
      <p:sp>
        <p:nvSpPr>
          <p:cNvPr id="7" name="Rechthoek 6"/>
          <p:cNvSpPr/>
          <p:nvPr/>
        </p:nvSpPr>
        <p:spPr>
          <a:xfrm>
            <a:off x="0" y="0"/>
            <a:ext cx="12193200" cy="620756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sp>
        <p:nvSpPr>
          <p:cNvPr id="4" name="Tijdelijke aanduiding voor datum 3"/>
          <p:cNvSpPr>
            <a:spLocks noGrp="1"/>
          </p:cNvSpPr>
          <p:nvPr>
            <p:ph type="dt" sz="half" idx="10"/>
          </p:nvPr>
        </p:nvSpPr>
        <p:spPr/>
        <p:txBody>
          <a:bodyPr/>
          <a:lstStyle/>
          <a:p>
            <a:fld id="{EA3A7081-D270-4FBF-AE40-A52D674243CC}" type="datetime1">
              <a:rPr lang="nl-BE" smtClean="0"/>
              <a:t>29/11/2024</a:t>
            </a:fld>
            <a:endParaRPr lang="nl-NL"/>
          </a:p>
        </p:txBody>
      </p:sp>
      <p:sp>
        <p:nvSpPr>
          <p:cNvPr id="5" name="Tijdelijke aanduiding voor voettekst 4"/>
          <p:cNvSpPr>
            <a:spLocks noGrp="1"/>
          </p:cNvSpPr>
          <p:nvPr>
            <p:ph type="ftr" sz="quarter" idx="11"/>
          </p:nvPr>
        </p:nvSpPr>
        <p:spPr/>
        <p:txBody>
          <a:bodyPr/>
          <a:lstStyle/>
          <a:p>
            <a:r>
              <a:rPr lang="nl-NL"/>
              <a:t>Faculteit, departement, dienst …</a:t>
            </a:r>
          </a:p>
        </p:txBody>
      </p:sp>
      <p:sp>
        <p:nvSpPr>
          <p:cNvPr id="6" name="Tijdelijke aanduiding voor dianummer 5"/>
          <p:cNvSpPr>
            <a:spLocks noGrp="1"/>
          </p:cNvSpPr>
          <p:nvPr>
            <p:ph type="sldNum" sz="quarter" idx="12"/>
          </p:nvPr>
        </p:nvSpPr>
        <p:spPr/>
        <p:txBody>
          <a:bodyPr/>
          <a:lstStyle/>
          <a:p>
            <a:fld id="{CF179DAE-D0A6-40C3-B8BC-6A97C268D03A}" type="slidenum">
              <a:rPr lang="nl-NL" smtClean="0"/>
              <a:t>‹nr.›</a:t>
            </a:fld>
            <a:endParaRPr lang="nl-NL"/>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791" y="675126"/>
            <a:ext cx="4648209" cy="5507747"/>
          </a:xfrm>
          <a:prstGeom prst="rect">
            <a:avLst/>
          </a:prstGeom>
        </p:spPr>
      </p:pic>
      <p:sp>
        <p:nvSpPr>
          <p:cNvPr id="9" name="Titel 1"/>
          <p:cNvSpPr>
            <a:spLocks noGrp="1"/>
          </p:cNvSpPr>
          <p:nvPr>
            <p:ph type="title"/>
          </p:nvPr>
        </p:nvSpPr>
        <p:spPr>
          <a:xfrm>
            <a:off x="576003" y="1800000"/>
            <a:ext cx="8333999" cy="2386800"/>
          </a:xfrm>
        </p:spPr>
        <p:txBody>
          <a:bodyPr anchor="b">
            <a:normAutofit/>
          </a:bodyPr>
          <a:lstStyle>
            <a:lvl1pPr>
              <a:defRPr sz="4000" baseline="0">
                <a:solidFill>
                  <a:srgbClr val="1D8DB0"/>
                </a:solidFill>
              </a:defRPr>
            </a:lvl1pPr>
          </a:lstStyle>
          <a:p>
            <a:r>
              <a:rPr lang="nl-NL"/>
              <a:t>Klik om de stijl te bewerken</a:t>
            </a:r>
            <a:endParaRPr lang="nl-NL" dirty="0"/>
          </a:p>
        </p:txBody>
      </p:sp>
      <p:sp>
        <p:nvSpPr>
          <p:cNvPr id="10" name="Tijdelijke aanduiding voor tekst 2"/>
          <p:cNvSpPr>
            <a:spLocks noGrp="1"/>
          </p:cNvSpPr>
          <p:nvPr>
            <p:ph type="body" idx="1"/>
          </p:nvPr>
        </p:nvSpPr>
        <p:spPr>
          <a:xfrm>
            <a:off x="576003" y="4359600"/>
            <a:ext cx="8333999" cy="1501200"/>
          </a:xfrm>
        </p:spPr>
        <p:txBody>
          <a:bodyPr lIns="0" tIns="0" rIns="0" bIns="0"/>
          <a:lstStyle>
            <a:lvl1pPr marL="0" indent="0">
              <a:buNone/>
              <a:defRPr sz="2400" baseline="0">
                <a:solidFill>
                  <a:srgbClr val="005E77"/>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l-NL"/>
              <a:t>Tekststijl van het model bewerken</a:t>
            </a:r>
          </a:p>
        </p:txBody>
      </p:sp>
    </p:spTree>
    <p:extLst>
      <p:ext uri="{BB962C8B-B14F-4D97-AF65-F5344CB8AC3E}">
        <p14:creationId xmlns:p14="http://schemas.microsoft.com/office/powerpoint/2010/main" val="3322770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ectiekopWit">
    <p:spTree>
      <p:nvGrpSpPr>
        <p:cNvPr id="1" name=""/>
        <p:cNvGrpSpPr/>
        <p:nvPr/>
      </p:nvGrpSpPr>
      <p:grpSpPr>
        <a:xfrm>
          <a:off x="0" y="0"/>
          <a:ext cx="0" cy="0"/>
          <a:chOff x="0" y="0"/>
          <a:chExt cx="0" cy="0"/>
        </a:xfrm>
      </p:grpSpPr>
      <p:sp>
        <p:nvSpPr>
          <p:cNvPr id="4" name="Tijdelijke aanduiding voor datum 3"/>
          <p:cNvSpPr>
            <a:spLocks noGrp="1"/>
          </p:cNvSpPr>
          <p:nvPr>
            <p:ph type="dt" sz="half" idx="10"/>
          </p:nvPr>
        </p:nvSpPr>
        <p:spPr/>
        <p:txBody>
          <a:bodyPr/>
          <a:lstStyle/>
          <a:p>
            <a:fld id="{5C69415A-EEF6-439C-A913-189A8C067023}" type="datetime1">
              <a:rPr lang="nl-BE" smtClean="0"/>
              <a:t>29/11/2024</a:t>
            </a:fld>
            <a:endParaRPr lang="nl-NL"/>
          </a:p>
        </p:txBody>
      </p:sp>
      <p:sp>
        <p:nvSpPr>
          <p:cNvPr id="5" name="Tijdelijke aanduiding voor voettekst 4"/>
          <p:cNvSpPr>
            <a:spLocks noGrp="1"/>
          </p:cNvSpPr>
          <p:nvPr>
            <p:ph type="ftr" sz="quarter" idx="11"/>
          </p:nvPr>
        </p:nvSpPr>
        <p:spPr/>
        <p:txBody>
          <a:bodyPr/>
          <a:lstStyle/>
          <a:p>
            <a:r>
              <a:rPr lang="nl-NL"/>
              <a:t>Faculteit, departement, dienst …</a:t>
            </a:r>
          </a:p>
        </p:txBody>
      </p:sp>
      <p:sp>
        <p:nvSpPr>
          <p:cNvPr id="6" name="Tijdelijke aanduiding voor dianummer 5"/>
          <p:cNvSpPr>
            <a:spLocks noGrp="1"/>
          </p:cNvSpPr>
          <p:nvPr>
            <p:ph type="sldNum" sz="quarter" idx="12"/>
          </p:nvPr>
        </p:nvSpPr>
        <p:spPr/>
        <p:txBody>
          <a:bodyPr/>
          <a:lstStyle/>
          <a:p>
            <a:fld id="{CF179DAE-D0A6-40C3-B8BC-6A97C268D03A}" type="slidenum">
              <a:rPr lang="nl-NL" smtClean="0"/>
              <a:t>‹nr.›</a:t>
            </a:fld>
            <a:endParaRPr lang="nl-NL"/>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3791" y="675126"/>
            <a:ext cx="4648209" cy="5507747"/>
          </a:xfrm>
          <a:prstGeom prst="rect">
            <a:avLst/>
          </a:prstGeom>
        </p:spPr>
      </p:pic>
      <p:sp>
        <p:nvSpPr>
          <p:cNvPr id="8" name="Titel 1"/>
          <p:cNvSpPr>
            <a:spLocks noGrp="1"/>
          </p:cNvSpPr>
          <p:nvPr>
            <p:ph type="title"/>
          </p:nvPr>
        </p:nvSpPr>
        <p:spPr>
          <a:xfrm>
            <a:off x="576003" y="1800000"/>
            <a:ext cx="8333999" cy="2386800"/>
          </a:xfrm>
        </p:spPr>
        <p:txBody>
          <a:bodyPr anchor="b">
            <a:normAutofit/>
          </a:bodyPr>
          <a:lstStyle>
            <a:lvl1pPr>
              <a:defRPr sz="4000"/>
            </a:lvl1pPr>
          </a:lstStyle>
          <a:p>
            <a:r>
              <a:rPr lang="nl-NL" dirty="0"/>
              <a:t>Klik om de stijl te bewerken</a:t>
            </a:r>
          </a:p>
        </p:txBody>
      </p:sp>
      <p:sp>
        <p:nvSpPr>
          <p:cNvPr id="9" name="Tijdelijke aanduiding voor tekst 2"/>
          <p:cNvSpPr>
            <a:spLocks noGrp="1"/>
          </p:cNvSpPr>
          <p:nvPr>
            <p:ph type="body" idx="1"/>
          </p:nvPr>
        </p:nvSpPr>
        <p:spPr>
          <a:xfrm>
            <a:off x="576003" y="4359600"/>
            <a:ext cx="8333999" cy="1501200"/>
          </a:xfrm>
        </p:spPr>
        <p:txBody>
          <a:bodyPr lIns="0" tIns="0" rIns="0" bIns="0"/>
          <a:lstStyle>
            <a:lvl1pPr marL="0" indent="0">
              <a:buNone/>
              <a:defRPr sz="2400" baseline="0">
                <a:solidFill>
                  <a:srgbClr val="2F4D5D"/>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nl-NL" dirty="0"/>
              <a:t>Tekststijl van het model bewerken</a:t>
            </a:r>
          </a:p>
        </p:txBody>
      </p:sp>
    </p:spTree>
    <p:extLst>
      <p:ext uri="{BB962C8B-B14F-4D97-AF65-F5344CB8AC3E}">
        <p14:creationId xmlns:p14="http://schemas.microsoft.com/office/powerpoint/2010/main" val="327069114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theme" Target="../theme/theme2.xml"/><Relationship Id="rId5"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p:cNvSpPr/>
          <p:nvPr userDrawn="1"/>
        </p:nvSpPr>
        <p:spPr>
          <a:xfrm>
            <a:off x="0" y="6210000"/>
            <a:ext cx="121920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8" name="Afbeelding 7"/>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1041200" y="6353999"/>
            <a:ext cx="1008305" cy="360000"/>
          </a:xfrm>
          <a:prstGeom prst="rect">
            <a:avLst/>
          </a:prstGeom>
        </p:spPr>
      </p:pic>
      <p:sp>
        <p:nvSpPr>
          <p:cNvPr id="2" name="Tijdelijke aanduiding voor titel 1"/>
          <p:cNvSpPr>
            <a:spLocks noGrp="1"/>
          </p:cNvSpPr>
          <p:nvPr>
            <p:ph type="title"/>
          </p:nvPr>
        </p:nvSpPr>
        <p:spPr>
          <a:xfrm>
            <a:off x="576000" y="207036"/>
            <a:ext cx="11041200" cy="1152000"/>
          </a:xfrm>
          <a:prstGeom prst="rect">
            <a:avLst/>
          </a:prstGeom>
        </p:spPr>
        <p:txBody>
          <a:bodyPr vert="horz" lIns="0" tIns="0" rIns="0" bIns="0" rtlCol="0" anchor="ctr"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656000"/>
            <a:ext cx="11041200" cy="4464000"/>
          </a:xfrm>
          <a:prstGeom prst="rect">
            <a:avLst/>
          </a:prstGeom>
        </p:spPr>
        <p:txBody>
          <a:bodyPr vert="horz" lIns="91440" tIns="45720" rIns="91440" bIns="4572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BB46EC33-4D1A-4426-91DF-270C2E654CCE}" type="datetime1">
              <a:rPr lang="nl-BE" smtClean="0"/>
              <a:t>29/11/2024</a:t>
            </a:fld>
            <a:endParaRPr lang="nl-NL" dirty="0"/>
          </a:p>
        </p:txBody>
      </p:sp>
      <p:sp>
        <p:nvSpPr>
          <p:cNvPr id="5" name="Tijdelijke aanduiding voor voettekst 4"/>
          <p:cNvSpPr>
            <a:spLocks noGrp="1"/>
          </p:cNvSpPr>
          <p:nvPr>
            <p:ph type="ftr" sz="quarter" idx="3"/>
          </p:nvPr>
        </p:nvSpPr>
        <p:spPr>
          <a:xfrm>
            <a:off x="6033600"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r>
              <a:rPr lang="nl-NL"/>
              <a:t>Faculteit, departement, dienst …</a:t>
            </a:r>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‹nr.›</a:t>
            </a:fld>
            <a:endParaRPr lang="nl-NL" dirty="0"/>
          </a:p>
        </p:txBody>
      </p:sp>
    </p:spTree>
    <p:extLst>
      <p:ext uri="{BB962C8B-B14F-4D97-AF65-F5344CB8AC3E}">
        <p14:creationId xmlns:p14="http://schemas.microsoft.com/office/powerpoint/2010/main" val="4637559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61" r:id="rId9"/>
  </p:sldLayoutIdLst>
  <p:hf hdr="0" dt="0"/>
  <p:txStyles>
    <p:titleStyle>
      <a:lvl1pPr algn="l" defTabSz="914400" rtl="0" eaLnBrk="1" latinLnBrk="0" hangingPunct="1">
        <a:lnSpc>
          <a:spcPct val="100000"/>
        </a:lnSpc>
        <a:spcBef>
          <a:spcPct val="0"/>
        </a:spcBef>
        <a:buNone/>
        <a:defRPr sz="4000" kern="1200" baseline="0">
          <a:solidFill>
            <a:schemeClr val="tx2"/>
          </a:solidFill>
          <a:latin typeface="Arial" charset="0"/>
          <a:ea typeface="+mj-ea"/>
          <a:cs typeface="+mj-cs"/>
        </a:defRPr>
      </a:lvl1pPr>
    </p:titleStyle>
    <p:bodyStyle>
      <a:lvl1pPr marL="228600" indent="-228600" algn="l" defTabSz="914400" rtl="0" eaLnBrk="1" latinLnBrk="0" hangingPunct="1">
        <a:lnSpc>
          <a:spcPct val="100000"/>
        </a:lnSpc>
        <a:spcBef>
          <a:spcPts val="1000"/>
        </a:spcBef>
        <a:buFont typeface="Arial"/>
        <a:buChar char="•"/>
        <a:defRPr sz="2400" kern="1200" baseline="0">
          <a:solidFill>
            <a:schemeClr val="tx1"/>
          </a:solidFill>
          <a:latin typeface="Arial" charset="0"/>
          <a:ea typeface="+mn-ea"/>
          <a:cs typeface="+mn-cs"/>
        </a:defRPr>
      </a:lvl1pPr>
      <a:lvl2pPr marL="685800" indent="-228600" algn="l" defTabSz="914400" rtl="0" eaLnBrk="1" latinLnBrk="0" hangingPunct="1">
        <a:lnSpc>
          <a:spcPct val="100000"/>
        </a:lnSpc>
        <a:spcBef>
          <a:spcPts val="500"/>
        </a:spcBef>
        <a:buFont typeface="Arial"/>
        <a:buChar char="•"/>
        <a:defRPr sz="2400" kern="1200" baseline="0">
          <a:solidFill>
            <a:schemeClr val="tx1"/>
          </a:solidFill>
          <a:latin typeface="Arial" charset="0"/>
          <a:ea typeface="+mn-ea"/>
          <a:cs typeface="+mn-cs"/>
        </a:defRPr>
      </a:lvl2pPr>
      <a:lvl3pPr marL="1143000" indent="-228600" algn="l" defTabSz="914400" rtl="0" eaLnBrk="1" latinLnBrk="0" hangingPunct="1">
        <a:lnSpc>
          <a:spcPct val="100000"/>
        </a:lnSpc>
        <a:spcBef>
          <a:spcPts val="500"/>
        </a:spcBef>
        <a:buFont typeface="Arial"/>
        <a:buChar char="•"/>
        <a:defRPr sz="2000" kern="1200" baseline="0">
          <a:solidFill>
            <a:schemeClr val="tx1"/>
          </a:solidFill>
          <a:latin typeface="Arial" charset="0"/>
          <a:ea typeface="+mn-ea"/>
          <a:cs typeface="+mn-cs"/>
        </a:defRPr>
      </a:lvl3pPr>
      <a:lvl4pPr marL="16002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4pPr>
      <a:lvl5pPr marL="20574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42" userDrawn="1">
          <p15:clr>
            <a:srgbClr val="F26B43"/>
          </p15:clr>
        </p15:guide>
        <p15:guide id="2" pos="7319" userDrawn="1">
          <p15:clr>
            <a:srgbClr val="F26B43"/>
          </p15:clr>
        </p15:guide>
        <p15:guide id="3" orient="horz" pos="3857" userDrawn="1">
          <p15:clr>
            <a:srgbClr val="F26B43"/>
          </p15:clr>
        </p15:guide>
        <p15:guide id="4" pos="36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p:cNvSpPr/>
          <p:nvPr/>
        </p:nvSpPr>
        <p:spPr>
          <a:xfrm>
            <a:off x="0" y="6210000"/>
            <a:ext cx="121920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nl-BE"/>
          </a:p>
        </p:txBody>
      </p:sp>
      <p:pic>
        <p:nvPicPr>
          <p:cNvPr id="8" name="Afbeelding 7"/>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041200" y="6353999"/>
            <a:ext cx="1008305" cy="360000"/>
          </a:xfrm>
          <a:prstGeom prst="rect">
            <a:avLst/>
          </a:prstGeom>
        </p:spPr>
      </p:pic>
      <p:sp>
        <p:nvSpPr>
          <p:cNvPr id="2" name="Tijdelijke aanduiding voor titel 1"/>
          <p:cNvSpPr>
            <a:spLocks noGrp="1"/>
          </p:cNvSpPr>
          <p:nvPr>
            <p:ph type="title"/>
          </p:nvPr>
        </p:nvSpPr>
        <p:spPr>
          <a:xfrm>
            <a:off x="576000" y="216000"/>
            <a:ext cx="11041200" cy="1152000"/>
          </a:xfrm>
          <a:prstGeom prst="rect">
            <a:avLst/>
          </a:prstGeom>
        </p:spPr>
        <p:txBody>
          <a:bodyPr vert="horz" lIns="0" tIns="0" rIns="0" bIns="0" rtlCol="0" anchor="ctr" anchorCtr="0">
            <a:normAutofit/>
          </a:bodyPr>
          <a:lstStyle/>
          <a:p>
            <a:r>
              <a:rPr lang="nl-NL" dirty="0"/>
              <a:t>Titelstijl van model bewerken</a:t>
            </a:r>
          </a:p>
        </p:txBody>
      </p:sp>
      <p:sp>
        <p:nvSpPr>
          <p:cNvPr id="3" name="Tijdelijke aanduiding voor tekst 2"/>
          <p:cNvSpPr>
            <a:spLocks noGrp="1"/>
          </p:cNvSpPr>
          <p:nvPr>
            <p:ph type="body" idx="1"/>
          </p:nvPr>
        </p:nvSpPr>
        <p:spPr>
          <a:xfrm>
            <a:off x="576000" y="1656000"/>
            <a:ext cx="11041200" cy="4464000"/>
          </a:xfrm>
          <a:prstGeom prst="rect">
            <a:avLst/>
          </a:prstGeom>
        </p:spPr>
        <p:txBody>
          <a:bodyPr vert="horz" lIns="91440" tIns="45720" rIns="91440" bIns="45720" rtlCol="0">
            <a:norm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1440000" y="6210000"/>
            <a:ext cx="720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48C250A7-EEA6-4BD5-AB95-D7BF57F3506B}" type="datetime1">
              <a:rPr lang="nl-BE" smtClean="0"/>
              <a:t>29/11/2024</a:t>
            </a:fld>
            <a:endParaRPr lang="nl-NL" dirty="0"/>
          </a:p>
        </p:txBody>
      </p:sp>
      <p:sp>
        <p:nvSpPr>
          <p:cNvPr id="5" name="Tijdelijke aanduiding voor voettekst 4"/>
          <p:cNvSpPr>
            <a:spLocks noGrp="1"/>
          </p:cNvSpPr>
          <p:nvPr>
            <p:ph type="ftr" sz="quarter" idx="3"/>
          </p:nvPr>
        </p:nvSpPr>
        <p:spPr>
          <a:xfrm>
            <a:off x="6033600" y="6210000"/>
            <a:ext cx="4993200" cy="648000"/>
          </a:xfrm>
          <a:prstGeom prst="rect">
            <a:avLst/>
          </a:prstGeom>
        </p:spPr>
        <p:txBody>
          <a:bodyPr vert="horz" lIns="0" tIns="0" rIns="180000" bIns="0" rtlCol="0" anchor="ctr"/>
          <a:lstStyle>
            <a:lvl1pPr algn="r">
              <a:defRPr sz="1000" baseline="0">
                <a:solidFill>
                  <a:schemeClr val="bg1"/>
                </a:solidFill>
                <a:latin typeface="Arial" charset="0"/>
              </a:defRPr>
            </a:lvl1pPr>
          </a:lstStyle>
          <a:p>
            <a:r>
              <a:rPr lang="nl-NL"/>
              <a:t>Faculteit, departement, dienst …</a:t>
            </a:r>
            <a:endParaRPr lang="nl-NL" dirty="0"/>
          </a:p>
        </p:txBody>
      </p:sp>
      <p:sp>
        <p:nvSpPr>
          <p:cNvPr id="6" name="Tijdelijke aanduiding voor dianummer 5"/>
          <p:cNvSpPr>
            <a:spLocks noGrp="1"/>
          </p:cNvSpPr>
          <p:nvPr>
            <p:ph type="sldNum" sz="quarter" idx="4"/>
          </p:nvPr>
        </p:nvSpPr>
        <p:spPr>
          <a:xfrm>
            <a:off x="576000" y="6210000"/>
            <a:ext cx="648000" cy="648000"/>
          </a:xfrm>
          <a:prstGeom prst="rect">
            <a:avLst/>
          </a:prstGeom>
        </p:spPr>
        <p:txBody>
          <a:bodyPr vert="horz" lIns="0" tIns="0" rIns="0" bIns="0" rtlCol="0" anchor="ctr"/>
          <a:lstStyle>
            <a:lvl1pPr algn="l">
              <a:defRPr sz="1000" baseline="0">
                <a:solidFill>
                  <a:schemeClr val="bg1"/>
                </a:solidFill>
                <a:latin typeface="Arial" charset="0"/>
              </a:defRPr>
            </a:lvl1pPr>
          </a:lstStyle>
          <a:p>
            <a:fld id="{0A297500-7527-634B-90F4-69D0994C32B4}" type="slidenum">
              <a:rPr lang="nl-NL" smtClean="0"/>
              <a:pPr/>
              <a:t>‹nr.›</a:t>
            </a:fld>
            <a:endParaRPr lang="nl-NL" dirty="0"/>
          </a:p>
        </p:txBody>
      </p:sp>
    </p:spTree>
    <p:extLst>
      <p:ext uri="{BB962C8B-B14F-4D97-AF65-F5344CB8AC3E}">
        <p14:creationId xmlns:p14="http://schemas.microsoft.com/office/powerpoint/2010/main" val="17325232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Lst>
  <p:hf hdr="0" dt="0"/>
  <p:txStyles>
    <p:titleStyle>
      <a:lvl1pPr algn="l" defTabSz="914400" rtl="0" eaLnBrk="1" latinLnBrk="0" hangingPunct="1">
        <a:lnSpc>
          <a:spcPct val="100000"/>
        </a:lnSpc>
        <a:spcBef>
          <a:spcPct val="0"/>
        </a:spcBef>
        <a:buNone/>
        <a:defRPr sz="4000" kern="1200" baseline="0">
          <a:solidFill>
            <a:schemeClr val="tx2"/>
          </a:solidFill>
          <a:latin typeface="Arial" charset="0"/>
          <a:ea typeface="+mj-ea"/>
          <a:cs typeface="+mj-cs"/>
        </a:defRPr>
      </a:lvl1pPr>
    </p:titleStyle>
    <p:bodyStyle>
      <a:lvl1pPr marL="228600" indent="-228600" algn="l" defTabSz="914400" rtl="0" eaLnBrk="1" latinLnBrk="0" hangingPunct="1">
        <a:lnSpc>
          <a:spcPct val="100000"/>
        </a:lnSpc>
        <a:spcBef>
          <a:spcPts val="1000"/>
        </a:spcBef>
        <a:buFont typeface="Arial"/>
        <a:buChar char="•"/>
        <a:defRPr sz="2400" kern="1200" baseline="0">
          <a:solidFill>
            <a:schemeClr val="tx1"/>
          </a:solidFill>
          <a:latin typeface="Arial" charset="0"/>
          <a:ea typeface="+mn-ea"/>
          <a:cs typeface="+mn-cs"/>
        </a:defRPr>
      </a:lvl1pPr>
      <a:lvl2pPr marL="685800" indent="-228600" algn="l" defTabSz="914400" rtl="0" eaLnBrk="1" latinLnBrk="0" hangingPunct="1">
        <a:lnSpc>
          <a:spcPct val="100000"/>
        </a:lnSpc>
        <a:spcBef>
          <a:spcPts val="500"/>
        </a:spcBef>
        <a:buFont typeface="Arial"/>
        <a:buChar char="•"/>
        <a:defRPr sz="2400" kern="1200" baseline="0">
          <a:solidFill>
            <a:schemeClr val="tx1"/>
          </a:solidFill>
          <a:latin typeface="Arial" charset="0"/>
          <a:ea typeface="+mn-ea"/>
          <a:cs typeface="+mn-cs"/>
        </a:defRPr>
      </a:lvl2pPr>
      <a:lvl3pPr marL="1143000" indent="-228600" algn="l" defTabSz="914400" rtl="0" eaLnBrk="1" latinLnBrk="0" hangingPunct="1">
        <a:lnSpc>
          <a:spcPct val="100000"/>
        </a:lnSpc>
        <a:spcBef>
          <a:spcPts val="500"/>
        </a:spcBef>
        <a:buFont typeface="Arial"/>
        <a:buChar char="•"/>
        <a:defRPr sz="2000" kern="1200" baseline="0">
          <a:solidFill>
            <a:schemeClr val="tx1"/>
          </a:solidFill>
          <a:latin typeface="Arial" charset="0"/>
          <a:ea typeface="+mn-ea"/>
          <a:cs typeface="+mn-cs"/>
        </a:defRPr>
      </a:lvl3pPr>
      <a:lvl4pPr marL="16002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4pPr>
      <a:lvl5pPr marL="2057400" indent="-228600" algn="l" defTabSz="914400" rtl="0" eaLnBrk="1" latinLnBrk="0" hangingPunct="1">
        <a:lnSpc>
          <a:spcPct val="100000"/>
        </a:lnSpc>
        <a:spcBef>
          <a:spcPts val="500"/>
        </a:spcBef>
        <a:buFont typeface="Arial"/>
        <a:buChar char="•"/>
        <a:defRPr sz="1800" kern="1200" baseline="0">
          <a:solidFill>
            <a:schemeClr val="tx1"/>
          </a:solidFill>
          <a:latin typeface="Arial" charset="0"/>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sz="4000" b="1"/>
              <a:t>Multiresolution topology optimization</a:t>
            </a:r>
          </a:p>
          <a:p>
            <a:pPr>
              <a:spcBef>
                <a:spcPts val="1200"/>
              </a:spcBef>
            </a:pPr>
            <a:r>
              <a:rPr sz="2000"/>
              <a:t>Computational-efficiency assessment for the half MBB beam</a:t>
            </a:r>
          </a:p>
        </p:txBody>
      </p:sp>
      <p:sp>
        <p:nvSpPr>
          <p:cNvPr id="3" name="Subtitle 2"/>
          <p:cNvSpPr>
            <a:spLocks noGrp="1"/>
          </p:cNvSpPr>
          <p:nvPr>
            <p:ph type="subTitle" idx="1"/>
          </p:nvPr>
        </p:nvSpPr>
        <p:spPr>
          <a:xfrm>
            <a:off x="576000" y="5230000"/>
            <a:ext cx="6380000" cy="1250000"/>
          </a:xfrm>
        </p:spPr>
        <p:txBody>
          <a:bodyPr wrap="square"/>
          <a:lstStyle/>
          <a:p>
            <a:pPr>
              <a:spcAft>
                <a:spcPts val="400"/>
              </a:spcAft>
            </a:pPr>
            <a:r>
              <a:rPr sz="1600" b="1"/>
              <a:t>Lukas Campaert  ·  Tiebert Lefebure</a:t>
            </a:r>
          </a:p>
          <a:p>
            <a:pPr>
              <a:spcAft>
                <a:spcPts val="400"/>
              </a:spcAft>
            </a:pPr>
            <a:r>
              <a:rPr sz="1300" b="0"/>
              <a:t>Structural Optimization  ·  B-KUL-H0T88A  ·  Prof. M. Schevenels</a:t>
            </a:r>
          </a:p>
          <a:p>
            <a:pPr>
              <a:spcAft>
                <a:spcPts val="400"/>
              </a:spcAft>
            </a:pPr>
            <a:r>
              <a:rPr sz="1300" b="0"/>
              <a:t>Faculty of Engineering Science  ·  Academic Year 2025-2026</a:t>
            </a:r>
          </a:p>
        </p:txBody>
      </p:sp>
      <p:pic>
        <p:nvPicPr>
          <p:cNvPr id="4" name="Picture 3" descr="mtop_oc_sensitivity_design.png"/>
          <p:cNvPicPr>
            <a:picLocks noChangeAspect="1"/>
          </p:cNvPicPr>
          <p:nvPr/>
        </p:nvPicPr>
        <p:blipFill>
          <a:blip r:embed="rId2"/>
          <a:stretch>
            <a:fillRect/>
          </a:stretch>
        </p:blipFill>
        <p:spPr>
          <a:xfrm>
            <a:off x="7248525" y="3146099"/>
            <a:ext cx="4368673" cy="14849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4790000" cy="4740000"/>
          </a:xfrm>
        </p:spPr>
        <p:txBody>
          <a:bodyPr wrap="square" anchor="ctr"/>
          <a:lstStyle/>
          <a:p>
            <a:pPr>
              <a:spcBef>
                <a:spcPts val="200"/>
              </a:spcBef>
              <a:spcAft>
                <a:spcPts val="800"/>
              </a:spcAft>
            </a:pPr>
            <a:r>
              <a:rPr sz="1900" b="0">
                <a:solidFill>
                  <a:srgbClr val="2F4D5D"/>
                </a:solidFill>
              </a:rPr>
              <a:t>Minimum-compliance topology optimization of the half MBB beam</a:t>
            </a:r>
          </a:p>
          <a:p>
            <a:pPr>
              <a:spcBef>
                <a:spcPts val="200"/>
              </a:spcBef>
              <a:spcAft>
                <a:spcPts val="800"/>
              </a:spcAft>
            </a:pPr>
            <a:r>
              <a:rPr sz="1900" b="0">
                <a:solidFill>
                  <a:srgbClr val="2F4D5D"/>
                </a:solidFill>
              </a:rPr>
              <a:t>MTOP (Nguyen et al., 2010): describe the design on a fine density mesh, solve the equilibrium on a coarser mesh</a:t>
            </a:r>
          </a:p>
          <a:p>
            <a:pPr>
              <a:spcBef>
                <a:spcPts val="200"/>
              </a:spcBef>
              <a:spcAft>
                <a:spcPts val="800"/>
              </a:spcAft>
            </a:pPr>
            <a:r>
              <a:rPr sz="1900" b="0">
                <a:solidFill>
                  <a:srgbClr val="2F4D5D"/>
                </a:solidFill>
              </a:rPr>
              <a:t>A smaller system K u = f should lower the computation time</a:t>
            </a:r>
          </a:p>
          <a:p>
            <a:pPr>
              <a:spcBef>
                <a:spcPts val="200"/>
              </a:spcBef>
              <a:spcAft>
                <a:spcPts val="800"/>
              </a:spcAft>
            </a:pPr>
            <a:r>
              <a:rPr sz="1900" b="0">
                <a:solidFill>
                  <a:srgbClr val="2F4D5D"/>
                </a:solidFill>
              </a:rPr>
              <a:t>The original paper reports no computation times or speedup factors</a:t>
            </a:r>
          </a:p>
          <a:p>
            <a:pPr>
              <a:spcBef>
                <a:spcPts val="200"/>
              </a:spcBef>
              <a:spcAft>
                <a:spcPts val="800"/>
              </a:spcAft>
            </a:pPr>
            <a:r>
              <a:rPr sz="1900" b="1">
                <a:solidFill>
                  <a:srgbClr val="2F4D5D"/>
                </a:solidFill>
              </a:rPr>
              <a:t>Research question: how large is the speedup, and is the optimized design preserved?</a:t>
            </a:r>
          </a:p>
        </p:txBody>
      </p:sp>
      <p:sp>
        <p:nvSpPr>
          <p:cNvPr id="4" name="Title 3"/>
          <p:cNvSpPr>
            <a:spLocks noGrp="1"/>
          </p:cNvSpPr>
          <p:nvPr>
            <p:ph type="title"/>
          </p:nvPr>
        </p:nvSpPr>
        <p:spPr/>
        <p:txBody>
          <a:bodyPr/>
          <a:lstStyle/>
          <a:p>
            <a:r>
              <a:rPr sz="3200"/>
              <a:t>Problem statement and research question</a:t>
            </a:r>
          </a:p>
        </p:txBody>
      </p:sp>
      <p:pic>
        <p:nvPicPr>
          <p:cNvPr id="5" name="Picture 4" descr="gen_idea.png"/>
          <p:cNvPicPr>
            <a:picLocks noChangeAspect="1"/>
          </p:cNvPicPr>
          <p:nvPr/>
        </p:nvPicPr>
        <p:blipFill>
          <a:blip r:embed="rId2"/>
          <a:stretch>
            <a:fillRect/>
          </a:stretch>
        </p:blipFill>
        <p:spPr>
          <a:xfrm>
            <a:off x="5815464" y="1410000"/>
            <a:ext cx="5671071" cy="4740000"/>
          </a:xfrm>
          <a:prstGeom prst="rect">
            <a:avLst/>
          </a:prstGeom>
        </p:spPr>
      </p:pic>
      <p:sp>
        <p:nvSpPr>
          <p:cNvPr id="6" name="TextBox 5"/>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7" name="TextBox 6"/>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4790000" cy="4740000"/>
          </a:xfrm>
        </p:spPr>
        <p:txBody>
          <a:bodyPr wrap="square" anchor="ctr"/>
          <a:lstStyle/>
          <a:p>
            <a:pPr>
              <a:spcBef>
                <a:spcPts val="200"/>
              </a:spcBef>
              <a:spcAft>
                <a:spcPts val="800"/>
              </a:spcAft>
            </a:pPr>
            <a:r>
              <a:rPr sz="1900" b="0">
                <a:solidFill>
                  <a:srgbClr val="2F4D5D"/>
                </a:solidFill>
              </a:rPr>
              <a:t>Half MBB beam, plane stress, bilinear Q4 elements</a:t>
            </a:r>
          </a:p>
          <a:p>
            <a:pPr>
              <a:spcBef>
                <a:spcPts val="200"/>
              </a:spcBef>
              <a:spcAft>
                <a:spcPts val="800"/>
              </a:spcAft>
            </a:pPr>
            <a:r>
              <a:rPr sz="1900" b="0">
                <a:solidFill>
                  <a:srgbClr val="2F4D5D"/>
                </a:solidFill>
              </a:rPr>
              <a:t>Unit point load at the upper-left corner</a:t>
            </a:r>
          </a:p>
          <a:p>
            <a:pPr>
              <a:spcBef>
                <a:spcPts val="200"/>
              </a:spcBef>
              <a:spcAft>
                <a:spcPts val="800"/>
              </a:spcAft>
            </a:pPr>
            <a:r>
              <a:rPr sz="1900" b="0">
                <a:solidFill>
                  <a:srgbClr val="2F4D5D"/>
                </a:solidFill>
              </a:rPr>
              <a:t>Symmetry support on the left edge, roller at the lower-right corner</a:t>
            </a:r>
          </a:p>
          <a:p>
            <a:pPr>
              <a:spcBef>
                <a:spcPts val="200"/>
              </a:spcBef>
              <a:spcAft>
                <a:spcPts val="800"/>
              </a:spcAft>
            </a:pPr>
            <a:r>
              <a:rPr sz="1900" b="0">
                <a:solidFill>
                  <a:srgbClr val="2F4D5D"/>
                </a:solidFill>
              </a:rPr>
              <a:t>Volume fraction 0.5, SIMP penalization power 3</a:t>
            </a:r>
          </a:p>
          <a:p>
            <a:pPr>
              <a:spcBef>
                <a:spcPts val="200"/>
              </a:spcBef>
              <a:spcAft>
                <a:spcPts val="800"/>
              </a:spcAft>
            </a:pPr>
            <a:r>
              <a:rPr sz="1900" b="0">
                <a:solidFill>
                  <a:srgbClr val="2F4D5D"/>
                </a:solidFill>
              </a:rPr>
              <a:t>Cone filter radius of 24 density cells</a:t>
            </a:r>
          </a:p>
          <a:p>
            <a:pPr>
              <a:spcBef>
                <a:spcPts val="200"/>
              </a:spcBef>
              <a:spcAft>
                <a:spcPts val="800"/>
              </a:spcAft>
            </a:pPr>
            <a:r>
              <a:rPr sz="1900" b="1">
                <a:solidFill>
                  <a:srgbClr val="2F4D5D"/>
                </a:solidFill>
              </a:rPr>
              <a:t>These settings are fixed for every experiment</a:t>
            </a:r>
          </a:p>
        </p:txBody>
      </p:sp>
      <p:sp>
        <p:nvSpPr>
          <p:cNvPr id="4" name="Title 3"/>
          <p:cNvSpPr>
            <a:spLocks noGrp="1"/>
          </p:cNvSpPr>
          <p:nvPr>
            <p:ph type="title"/>
          </p:nvPr>
        </p:nvSpPr>
        <p:spPr/>
        <p:txBody>
          <a:bodyPr/>
          <a:lstStyle/>
          <a:p>
            <a:r>
              <a:rPr sz="3200"/>
              <a:t>The structural model: half MBB beam</a:t>
            </a:r>
          </a:p>
        </p:txBody>
      </p:sp>
      <p:pic>
        <p:nvPicPr>
          <p:cNvPr id="5" name="Picture 4" descr="geometry.png"/>
          <p:cNvPicPr>
            <a:picLocks noChangeAspect="1"/>
          </p:cNvPicPr>
          <p:nvPr/>
        </p:nvPicPr>
        <p:blipFill>
          <a:blip r:embed="rId2"/>
          <a:stretch>
            <a:fillRect/>
          </a:stretch>
        </p:blipFill>
        <p:spPr>
          <a:xfrm>
            <a:off x="5686000" y="1851201"/>
            <a:ext cx="5930000" cy="3857597"/>
          </a:xfrm>
          <a:prstGeom prst="rect">
            <a:avLst/>
          </a:prstGeom>
        </p:spPr>
      </p:pic>
      <p:sp>
        <p:nvSpPr>
          <p:cNvPr id="6" name="TextBox 5"/>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7" name="TextBox 6"/>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4790000" cy="4740000"/>
          </a:xfrm>
        </p:spPr>
        <p:txBody>
          <a:bodyPr wrap="square" anchor="ctr"/>
          <a:lstStyle/>
          <a:p>
            <a:pPr>
              <a:spcBef>
                <a:spcPts val="200"/>
              </a:spcBef>
              <a:spcAft>
                <a:spcPts val="800"/>
              </a:spcAft>
            </a:pPr>
            <a:r>
              <a:rPr sz="1900" b="0">
                <a:solidFill>
                  <a:srgbClr val="2F4D5D"/>
                </a:solidFill>
              </a:rPr>
              <a:t>Classical: analysis mesh = density mesh (600 × 200)</a:t>
            </a:r>
          </a:p>
          <a:p>
            <a:pPr>
              <a:spcBef>
                <a:spcPts val="200"/>
              </a:spcBef>
              <a:spcAft>
                <a:spcPts val="800"/>
              </a:spcAft>
            </a:pPr>
            <a:r>
              <a:rPr sz="1900" b="0">
                <a:solidFill>
                  <a:srgbClr val="2F4D5D"/>
                </a:solidFill>
              </a:rPr>
              <a:t>MTOP: coarse 120 × 40 analysis mesh, 5 × 5 density cells per element</a:t>
            </a:r>
          </a:p>
          <a:p>
            <a:pPr>
              <a:spcBef>
                <a:spcPts val="200"/>
              </a:spcBef>
              <a:spcAft>
                <a:spcPts val="800"/>
              </a:spcAft>
            </a:pPr>
            <a:r>
              <a:rPr sz="1900" b="0">
                <a:solidFill>
                  <a:srgbClr val="2F4D5D"/>
                </a:solidFill>
              </a:rPr>
              <a:t>Same 600 × 200 design resolution, far fewer equations</a:t>
            </a:r>
          </a:p>
          <a:p>
            <a:pPr>
              <a:spcBef>
                <a:spcPts val="200"/>
              </a:spcBef>
              <a:spcAft>
                <a:spcPts val="800"/>
              </a:spcAft>
            </a:pPr>
            <a:r>
              <a:rPr sz="1900" b="0">
                <a:solidFill>
                  <a:srgbClr val="2F4D5D"/>
                </a:solidFill>
              </a:rPr>
              <a:t>Element stiffness by midpoint quadrature; 25 sub-cell templates precomputed once per run</a:t>
            </a:r>
          </a:p>
          <a:p>
            <a:pPr>
              <a:spcBef>
                <a:spcPts val="200"/>
              </a:spcBef>
              <a:spcAft>
                <a:spcPts val="800"/>
              </a:spcAft>
            </a:pPr>
            <a:r>
              <a:rPr sz="1900" b="1">
                <a:solidFill>
                  <a:srgbClr val="2F4D5D"/>
                </a:solidFill>
              </a:rPr>
              <a:t>Free degrees of freedom: 241,000 → 9,900</a:t>
            </a:r>
          </a:p>
        </p:txBody>
      </p:sp>
      <p:sp>
        <p:nvSpPr>
          <p:cNvPr id="4" name="Title 3"/>
          <p:cNvSpPr>
            <a:spLocks noGrp="1"/>
          </p:cNvSpPr>
          <p:nvPr>
            <p:ph type="title"/>
          </p:nvPr>
        </p:nvSpPr>
        <p:spPr/>
        <p:txBody>
          <a:bodyPr/>
          <a:lstStyle/>
          <a:p>
            <a:r>
              <a:rPr sz="3200"/>
              <a:t>The MTOP idea: decouple analysis from design</a:t>
            </a:r>
          </a:p>
        </p:txBody>
      </p:sp>
      <p:pic>
        <p:nvPicPr>
          <p:cNvPr id="5" name="Picture 4" descr="gen_concept_meshes.png"/>
          <p:cNvPicPr>
            <a:picLocks noChangeAspect="1"/>
          </p:cNvPicPr>
          <p:nvPr/>
        </p:nvPicPr>
        <p:blipFill>
          <a:blip r:embed="rId2"/>
          <a:stretch>
            <a:fillRect/>
          </a:stretch>
        </p:blipFill>
        <p:spPr>
          <a:xfrm>
            <a:off x="5436000" y="2325169"/>
            <a:ext cx="6180000" cy="2909661"/>
          </a:xfrm>
          <a:prstGeom prst="rect">
            <a:avLst/>
          </a:prstGeom>
        </p:spPr>
      </p:pic>
      <p:sp>
        <p:nvSpPr>
          <p:cNvPr id="6" name="TextBox 5"/>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7" name="TextBox 6"/>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4790000" cy="4740000"/>
          </a:xfrm>
        </p:spPr>
        <p:txBody>
          <a:bodyPr wrap="square" anchor="ctr"/>
          <a:lstStyle/>
          <a:p>
            <a:pPr>
              <a:spcBef>
                <a:spcPts val="200"/>
              </a:spcBef>
              <a:spcAft>
                <a:spcPts val="800"/>
              </a:spcAft>
            </a:pPr>
            <a:r>
              <a:rPr sz="1900" b="0">
                <a:solidFill>
                  <a:srgbClr val="2F4D5D"/>
                </a:solidFill>
              </a:rPr>
              <a:t>Design variables: the density of each density cell</a:t>
            </a:r>
          </a:p>
          <a:p>
            <a:pPr>
              <a:spcBef>
                <a:spcPts val="200"/>
              </a:spcBef>
              <a:spcAft>
                <a:spcPts val="800"/>
              </a:spcAft>
            </a:pPr>
            <a:r>
              <a:rPr sz="1900" b="0">
                <a:solidFill>
                  <a:srgbClr val="2F4D5D"/>
                </a:solidFill>
              </a:rPr>
              <a:t>Objective: minimize compliance (maximize stiffness)</a:t>
            </a:r>
          </a:p>
          <a:p>
            <a:pPr>
              <a:spcBef>
                <a:spcPts val="200"/>
              </a:spcBef>
              <a:spcAft>
                <a:spcPts val="800"/>
              </a:spcAft>
            </a:pPr>
            <a:r>
              <a:rPr sz="1900" b="0">
                <a:solidFill>
                  <a:srgbClr val="2F4D5D"/>
                </a:solidFill>
              </a:rPr>
              <a:t>Constraint: material volume fraction at most 0.5</a:t>
            </a:r>
          </a:p>
          <a:p>
            <a:pPr>
              <a:spcBef>
                <a:spcPts val="200"/>
              </a:spcBef>
              <a:spcAft>
                <a:spcPts val="800"/>
              </a:spcAft>
            </a:pPr>
            <a:r>
              <a:rPr sz="1900" b="0">
                <a:solidFill>
                  <a:srgbClr val="2F4D5D"/>
                </a:solidFill>
              </a:rPr>
              <a:t>SIMP material interpolation, penalization power 3</a:t>
            </a:r>
          </a:p>
          <a:p>
            <a:pPr>
              <a:spcBef>
                <a:spcPts val="200"/>
              </a:spcBef>
              <a:spcAft>
                <a:spcPts val="800"/>
              </a:spcAft>
            </a:pPr>
            <a:r>
              <a:rPr sz="1900" b="0">
                <a:solidFill>
                  <a:srgbClr val="2F4D5D"/>
                </a:solidFill>
              </a:rPr>
              <a:t>Cone filter, radius 24 cells (sensitivity or density)</a:t>
            </a:r>
          </a:p>
          <a:p>
            <a:pPr>
              <a:spcBef>
                <a:spcPts val="200"/>
              </a:spcBef>
              <a:spcAft>
                <a:spcPts val="800"/>
              </a:spcAft>
            </a:pPr>
            <a:r>
              <a:rPr sz="1900" b="1">
                <a:solidFill>
                  <a:srgbClr val="2F4D5D"/>
                </a:solidFill>
              </a:rPr>
              <a:t>Seven experiments: OC versus MMA, three filter / projection choices</a:t>
            </a:r>
          </a:p>
        </p:txBody>
      </p:sp>
      <p:sp>
        <p:nvSpPr>
          <p:cNvPr id="4" name="Title 3"/>
          <p:cNvSpPr>
            <a:spLocks noGrp="1"/>
          </p:cNvSpPr>
          <p:nvPr>
            <p:ph type="title"/>
          </p:nvPr>
        </p:nvSpPr>
        <p:spPr/>
        <p:txBody>
          <a:bodyPr/>
          <a:lstStyle/>
          <a:p>
            <a:r>
              <a:rPr sz="3200"/>
              <a:t>Optimization problem and experiment matrix</a:t>
            </a:r>
          </a:p>
        </p:txBody>
      </p:sp>
      <p:graphicFrame>
        <p:nvGraphicFramePr>
          <p:cNvPr id="5" name="Table 4"/>
          <p:cNvGraphicFramePr>
            <a:graphicFrameLocks noGrp="1"/>
          </p:cNvGraphicFramePr>
          <p:nvPr/>
        </p:nvGraphicFramePr>
        <p:xfrm>
          <a:off x="5686000" y="2030000"/>
          <a:ext cx="5930000" cy="3500000"/>
        </p:xfrm>
        <a:graphic>
          <a:graphicData uri="http://schemas.openxmlformats.org/drawingml/2006/table">
            <a:tbl>
              <a:tblPr>
                <a:tableStyleId>{5C22544A-7EE6-4342-B048-85BDC9FD1C3A}</a:tableStyleId>
              </a:tblPr>
              <a:tblGrid>
                <a:gridCol w="720000"/>
                <a:gridCol w="1500000"/>
                <a:gridCol w="1180000"/>
                <a:gridCol w="2530000"/>
              </a:tblGrid>
              <a:tr h="437500">
                <a:tc>
                  <a:txBody>
                    <a:bodyPr/>
                    <a:lstStyle/>
                    <a:p>
                      <a:pPr algn="ctr"/>
                      <a:r>
                        <a:rPr sz="1250" b="1">
                          <a:solidFill>
                            <a:srgbClr val="FFFFFF"/>
                          </a:solidFill>
                        </a:rPr>
                        <a:t>Case</a:t>
                      </a:r>
                    </a:p>
                  </a:txBody>
                  <a:tcPr anchor="ctr" marL="90000" marR="60000" marT="20000" marB="20000">
                    <a:solidFill>
                      <a:srgbClr val="1D8DB0"/>
                    </a:solidFill>
                  </a:tcPr>
                </a:tc>
                <a:tc>
                  <a:txBody>
                    <a:bodyPr/>
                    <a:lstStyle/>
                    <a:p>
                      <a:pPr algn="ctr"/>
                      <a:r>
                        <a:rPr sz="1250" b="1">
                          <a:solidFill>
                            <a:srgbClr val="FFFFFF"/>
                          </a:solidFill>
                        </a:rPr>
                        <a:t>Approach</a:t>
                      </a:r>
                    </a:p>
                  </a:txBody>
                  <a:tcPr anchor="ctr" marL="90000" marR="60000" marT="20000" marB="20000">
                    <a:solidFill>
                      <a:srgbClr val="1D8DB0"/>
                    </a:solidFill>
                  </a:tcPr>
                </a:tc>
                <a:tc>
                  <a:txBody>
                    <a:bodyPr/>
                    <a:lstStyle/>
                    <a:p>
                      <a:pPr algn="ctr"/>
                      <a:r>
                        <a:rPr sz="1250" b="1">
                          <a:solidFill>
                            <a:srgbClr val="FFFFFF"/>
                          </a:solidFill>
                        </a:rPr>
                        <a:t>Optimizer</a:t>
                      </a:r>
                    </a:p>
                  </a:txBody>
                  <a:tcPr anchor="ctr" marL="90000" marR="60000" marT="20000" marB="20000">
                    <a:solidFill>
                      <a:srgbClr val="1D8DB0"/>
                    </a:solidFill>
                  </a:tcPr>
                </a:tc>
                <a:tc>
                  <a:txBody>
                    <a:bodyPr/>
                    <a:lstStyle/>
                    <a:p>
                      <a:pPr algn="l"/>
                      <a:r>
                        <a:rPr sz="1250" b="1">
                          <a:solidFill>
                            <a:srgbClr val="FFFFFF"/>
                          </a:solidFill>
                        </a:rPr>
                        <a:t>Filter / projection</a:t>
                      </a:r>
                    </a:p>
                  </a:txBody>
                  <a:tcPr anchor="ctr" marL="90000" marR="60000" marT="20000" marB="20000">
                    <a:solidFill>
                      <a:srgbClr val="1D8DB0"/>
                    </a:solidFill>
                  </a:tcPr>
                </a:tc>
              </a:tr>
              <a:tr h="437500">
                <a:tc>
                  <a:txBody>
                    <a:bodyPr/>
                    <a:lstStyle/>
                    <a:p>
                      <a:pPr algn="ctr"/>
                      <a:r>
                        <a:rPr sz="1200" b="0">
                          <a:solidFill>
                            <a:srgbClr val="2F4D5D"/>
                          </a:solidFill>
                        </a:rPr>
                        <a:t>1</a:t>
                      </a:r>
                    </a:p>
                  </a:txBody>
                  <a:tcPr anchor="ctr" marL="90000" marR="60000" marT="20000" marB="20000">
                    <a:solidFill>
                      <a:srgbClr val="FFFFFF"/>
                    </a:solidFill>
                  </a:tcPr>
                </a:tc>
                <a:tc>
                  <a:txBody>
                    <a:bodyPr/>
                    <a:lstStyle/>
                    <a:p>
                      <a:pPr algn="ctr"/>
                      <a:r>
                        <a:rPr sz="1200" b="0">
                          <a:solidFill>
                            <a:srgbClr val="2F4D5D"/>
                          </a:solidFill>
                        </a:rPr>
                        <a:t>Classical</a:t>
                      </a:r>
                    </a:p>
                  </a:txBody>
                  <a:tcPr anchor="ctr" marL="90000" marR="60000" marT="20000" marB="20000">
                    <a:solidFill>
                      <a:srgbClr val="FFFFFF"/>
                    </a:solidFill>
                  </a:tcPr>
                </a:tc>
                <a:tc>
                  <a:txBody>
                    <a:bodyPr/>
                    <a:lstStyle/>
                    <a:p>
                      <a:pPr algn="ctr"/>
                      <a:r>
                        <a:rPr sz="1200" b="0">
                          <a:solidFill>
                            <a:srgbClr val="2F4D5D"/>
                          </a:solidFill>
                        </a:rPr>
                        <a:t>OC</a:t>
                      </a:r>
                    </a:p>
                  </a:txBody>
                  <a:tcPr anchor="ctr" marL="90000" marR="60000" marT="20000" marB="20000">
                    <a:solidFill>
                      <a:srgbClr val="FFFFFF"/>
                    </a:solidFill>
                  </a:tcPr>
                </a:tc>
                <a:tc>
                  <a:txBody>
                    <a:bodyPr/>
                    <a:lstStyle/>
                    <a:p>
                      <a:pPr algn="l"/>
                      <a:r>
                        <a:rPr sz="1200" b="0">
                          <a:solidFill>
                            <a:srgbClr val="2F4D5D"/>
                          </a:solidFill>
                        </a:rPr>
                        <a:t>Sensitivity filter</a:t>
                      </a:r>
                    </a:p>
                  </a:txBody>
                  <a:tcPr anchor="ctr" marL="90000" marR="60000" marT="20000" marB="20000">
                    <a:solidFill>
                      <a:srgbClr val="FFFFFF"/>
                    </a:solidFill>
                  </a:tcPr>
                </a:tc>
              </a:tr>
              <a:tr h="437500">
                <a:tc>
                  <a:txBody>
                    <a:bodyPr/>
                    <a:lstStyle/>
                    <a:p>
                      <a:pPr algn="ctr"/>
                      <a:r>
                        <a:rPr sz="1200" b="0">
                          <a:solidFill>
                            <a:srgbClr val="2F4D5D"/>
                          </a:solidFill>
                        </a:rPr>
                        <a:t>2</a:t>
                      </a:r>
                    </a:p>
                  </a:txBody>
                  <a:tcPr anchor="ctr" marL="90000" marR="60000" marT="20000" marB="20000">
                    <a:solidFill>
                      <a:srgbClr val="FFFFFF"/>
                    </a:solidFill>
                  </a:tcPr>
                </a:tc>
                <a:tc>
                  <a:txBody>
                    <a:bodyPr/>
                    <a:lstStyle/>
                    <a:p>
                      <a:pPr algn="ctr"/>
                      <a:r>
                        <a:rPr sz="1200" b="0">
                          <a:solidFill>
                            <a:srgbClr val="2F4D5D"/>
                          </a:solidFill>
                        </a:rPr>
                        <a:t>MTOP</a:t>
                      </a:r>
                    </a:p>
                  </a:txBody>
                  <a:tcPr anchor="ctr" marL="90000" marR="60000" marT="20000" marB="20000">
                    <a:solidFill>
                      <a:srgbClr val="FFFFFF"/>
                    </a:solidFill>
                  </a:tcPr>
                </a:tc>
                <a:tc>
                  <a:txBody>
                    <a:bodyPr/>
                    <a:lstStyle/>
                    <a:p>
                      <a:pPr algn="ctr"/>
                      <a:r>
                        <a:rPr sz="1200" b="0">
                          <a:solidFill>
                            <a:srgbClr val="2F4D5D"/>
                          </a:solidFill>
                        </a:rPr>
                        <a:t>OC</a:t>
                      </a:r>
                    </a:p>
                  </a:txBody>
                  <a:tcPr anchor="ctr" marL="90000" marR="60000" marT="20000" marB="20000">
                    <a:solidFill>
                      <a:srgbClr val="FFFFFF"/>
                    </a:solidFill>
                  </a:tcPr>
                </a:tc>
                <a:tc>
                  <a:txBody>
                    <a:bodyPr/>
                    <a:lstStyle/>
                    <a:p>
                      <a:pPr algn="l"/>
                      <a:r>
                        <a:rPr sz="1200" b="0">
                          <a:solidFill>
                            <a:srgbClr val="2F4D5D"/>
                          </a:solidFill>
                        </a:rPr>
                        <a:t>Sensitivity filter</a:t>
                      </a:r>
                    </a:p>
                  </a:txBody>
                  <a:tcPr anchor="ctr" marL="90000" marR="60000" marT="20000" marB="20000">
                    <a:solidFill>
                      <a:srgbClr val="FFFFFF"/>
                    </a:solidFill>
                  </a:tcPr>
                </a:tc>
              </a:tr>
              <a:tr h="437500">
                <a:tc>
                  <a:txBody>
                    <a:bodyPr/>
                    <a:lstStyle/>
                    <a:p>
                      <a:pPr algn="ctr"/>
                      <a:r>
                        <a:rPr sz="1200" b="0">
                          <a:solidFill>
                            <a:srgbClr val="2F4D5D"/>
                          </a:solidFill>
                        </a:rPr>
                        <a:t>3</a:t>
                      </a:r>
                    </a:p>
                  </a:txBody>
                  <a:tcPr anchor="ctr" marL="90000" marR="60000" marT="20000" marB="20000">
                    <a:solidFill>
                      <a:srgbClr val="FFFFFF"/>
                    </a:solidFill>
                  </a:tcPr>
                </a:tc>
                <a:tc>
                  <a:txBody>
                    <a:bodyPr/>
                    <a:lstStyle/>
                    <a:p>
                      <a:pPr algn="ctr"/>
                      <a:r>
                        <a:rPr sz="1200" b="0">
                          <a:solidFill>
                            <a:srgbClr val="2F4D5D"/>
                          </a:solidFill>
                        </a:rPr>
                        <a:t>Classical</a:t>
                      </a:r>
                    </a:p>
                  </a:txBody>
                  <a:tcPr anchor="ctr" marL="90000" marR="60000" marT="20000" marB="20000">
                    <a:solidFill>
                      <a:srgbClr val="FFFFFF"/>
                    </a:solidFill>
                  </a:tcPr>
                </a:tc>
                <a:tc>
                  <a:txBody>
                    <a:bodyPr/>
                    <a:lstStyle/>
                    <a:p>
                      <a:pPr algn="ctr"/>
                      <a:r>
                        <a:rPr sz="1200" b="0">
                          <a:solidFill>
                            <a:srgbClr val="2F4D5D"/>
                          </a:solidFill>
                        </a:rPr>
                        <a:t>OC</a:t>
                      </a:r>
                    </a:p>
                  </a:txBody>
                  <a:tcPr anchor="ctr" marL="90000" marR="60000" marT="20000" marB="20000">
                    <a:solidFill>
                      <a:srgbClr val="FFFFFF"/>
                    </a:solidFill>
                  </a:tcPr>
                </a:tc>
                <a:tc>
                  <a:txBody>
                    <a:bodyPr/>
                    <a:lstStyle/>
                    <a:p>
                      <a:pPr algn="l"/>
                      <a:r>
                        <a:rPr sz="1200" b="0">
                          <a:solidFill>
                            <a:srgbClr val="2F4D5D"/>
                          </a:solidFill>
                        </a:rPr>
                        <a:t>Density filter</a:t>
                      </a:r>
                    </a:p>
                  </a:txBody>
                  <a:tcPr anchor="ctr" marL="90000" marR="60000" marT="20000" marB="20000">
                    <a:solidFill>
                      <a:srgbClr val="FFFFFF"/>
                    </a:solidFill>
                  </a:tcPr>
                </a:tc>
              </a:tr>
              <a:tr h="437500">
                <a:tc>
                  <a:txBody>
                    <a:bodyPr/>
                    <a:lstStyle/>
                    <a:p>
                      <a:pPr algn="ctr"/>
                      <a:r>
                        <a:rPr sz="1200" b="0">
                          <a:solidFill>
                            <a:srgbClr val="2F4D5D"/>
                          </a:solidFill>
                        </a:rPr>
                        <a:t>4</a:t>
                      </a:r>
                    </a:p>
                  </a:txBody>
                  <a:tcPr anchor="ctr" marL="90000" marR="60000" marT="20000" marB="20000">
                    <a:solidFill>
                      <a:srgbClr val="FFFFFF"/>
                    </a:solidFill>
                  </a:tcPr>
                </a:tc>
                <a:tc>
                  <a:txBody>
                    <a:bodyPr/>
                    <a:lstStyle/>
                    <a:p>
                      <a:pPr algn="ctr"/>
                      <a:r>
                        <a:rPr sz="1200" b="0">
                          <a:solidFill>
                            <a:srgbClr val="2F4D5D"/>
                          </a:solidFill>
                        </a:rPr>
                        <a:t>MTOP</a:t>
                      </a:r>
                    </a:p>
                  </a:txBody>
                  <a:tcPr anchor="ctr" marL="90000" marR="60000" marT="20000" marB="20000">
                    <a:solidFill>
                      <a:srgbClr val="FFFFFF"/>
                    </a:solidFill>
                  </a:tcPr>
                </a:tc>
                <a:tc>
                  <a:txBody>
                    <a:bodyPr/>
                    <a:lstStyle/>
                    <a:p>
                      <a:pPr algn="ctr"/>
                      <a:r>
                        <a:rPr sz="1200" b="0">
                          <a:solidFill>
                            <a:srgbClr val="2F4D5D"/>
                          </a:solidFill>
                        </a:rPr>
                        <a:t>OC</a:t>
                      </a:r>
                    </a:p>
                  </a:txBody>
                  <a:tcPr anchor="ctr" marL="90000" marR="60000" marT="20000" marB="20000">
                    <a:solidFill>
                      <a:srgbClr val="FFFFFF"/>
                    </a:solidFill>
                  </a:tcPr>
                </a:tc>
                <a:tc>
                  <a:txBody>
                    <a:bodyPr/>
                    <a:lstStyle/>
                    <a:p>
                      <a:pPr algn="l"/>
                      <a:r>
                        <a:rPr sz="1200" b="0">
                          <a:solidFill>
                            <a:srgbClr val="2F4D5D"/>
                          </a:solidFill>
                        </a:rPr>
                        <a:t>Density filter</a:t>
                      </a:r>
                    </a:p>
                  </a:txBody>
                  <a:tcPr anchor="ctr" marL="90000" marR="60000" marT="20000" marB="20000">
                    <a:solidFill>
                      <a:srgbClr val="FFFFFF"/>
                    </a:solidFill>
                  </a:tcPr>
                </a:tc>
              </a:tr>
              <a:tr h="437500">
                <a:tc>
                  <a:txBody>
                    <a:bodyPr/>
                    <a:lstStyle/>
                    <a:p>
                      <a:pPr algn="ctr"/>
                      <a:r>
                        <a:rPr sz="1200" b="0">
                          <a:solidFill>
                            <a:srgbClr val="2F4D5D"/>
                          </a:solidFill>
                        </a:rPr>
                        <a:t>5</a:t>
                      </a:r>
                    </a:p>
                  </a:txBody>
                  <a:tcPr anchor="ctr" marL="90000" marR="60000" marT="20000" marB="20000">
                    <a:solidFill>
                      <a:srgbClr val="FFFFFF"/>
                    </a:solidFill>
                  </a:tcPr>
                </a:tc>
                <a:tc>
                  <a:txBody>
                    <a:bodyPr/>
                    <a:lstStyle/>
                    <a:p>
                      <a:pPr algn="ctr"/>
                      <a:r>
                        <a:rPr sz="1200" b="0">
                          <a:solidFill>
                            <a:srgbClr val="2F4D5D"/>
                          </a:solidFill>
                        </a:rPr>
                        <a:t>MTOP</a:t>
                      </a:r>
                    </a:p>
                  </a:txBody>
                  <a:tcPr anchor="ctr" marL="90000" marR="60000" marT="20000" marB="20000">
                    <a:solidFill>
                      <a:srgbClr val="FFFFFF"/>
                    </a:solidFill>
                  </a:tcPr>
                </a:tc>
                <a:tc>
                  <a:txBody>
                    <a:bodyPr/>
                    <a:lstStyle/>
                    <a:p>
                      <a:pPr algn="ctr"/>
                      <a:r>
                        <a:rPr sz="1200" b="0">
                          <a:solidFill>
                            <a:srgbClr val="2F4D5D"/>
                          </a:solidFill>
                        </a:rPr>
                        <a:t>MMA</a:t>
                      </a:r>
                    </a:p>
                  </a:txBody>
                  <a:tcPr anchor="ctr" marL="90000" marR="60000" marT="20000" marB="20000">
                    <a:solidFill>
                      <a:srgbClr val="FFFFFF"/>
                    </a:solidFill>
                  </a:tcPr>
                </a:tc>
                <a:tc>
                  <a:txBody>
                    <a:bodyPr/>
                    <a:lstStyle/>
                    <a:p>
                      <a:pPr algn="l"/>
                      <a:r>
                        <a:rPr sz="1200" b="0">
                          <a:solidFill>
                            <a:srgbClr val="2F4D5D"/>
                          </a:solidFill>
                        </a:rPr>
                        <a:t>Sensitivity filter</a:t>
                      </a:r>
                    </a:p>
                  </a:txBody>
                  <a:tcPr anchor="ctr" marL="90000" marR="60000" marT="20000" marB="20000">
                    <a:solidFill>
                      <a:srgbClr val="FFFFFF"/>
                    </a:solidFill>
                  </a:tcPr>
                </a:tc>
              </a:tr>
              <a:tr h="437500">
                <a:tc>
                  <a:txBody>
                    <a:bodyPr/>
                    <a:lstStyle/>
                    <a:p>
                      <a:pPr algn="ctr"/>
                      <a:r>
                        <a:rPr sz="1200" b="0">
                          <a:solidFill>
                            <a:srgbClr val="2F4D5D"/>
                          </a:solidFill>
                        </a:rPr>
                        <a:t>6</a:t>
                      </a:r>
                    </a:p>
                  </a:txBody>
                  <a:tcPr anchor="ctr" marL="90000" marR="60000" marT="20000" marB="20000">
                    <a:solidFill>
                      <a:srgbClr val="FFFFFF"/>
                    </a:solidFill>
                  </a:tcPr>
                </a:tc>
                <a:tc>
                  <a:txBody>
                    <a:bodyPr/>
                    <a:lstStyle/>
                    <a:p>
                      <a:pPr algn="ctr"/>
                      <a:r>
                        <a:rPr sz="1200" b="0">
                          <a:solidFill>
                            <a:srgbClr val="2F4D5D"/>
                          </a:solidFill>
                        </a:rPr>
                        <a:t>MTOP</a:t>
                      </a:r>
                    </a:p>
                  </a:txBody>
                  <a:tcPr anchor="ctr" marL="90000" marR="60000" marT="20000" marB="20000">
                    <a:solidFill>
                      <a:srgbClr val="FFFFFF"/>
                    </a:solidFill>
                  </a:tcPr>
                </a:tc>
                <a:tc>
                  <a:txBody>
                    <a:bodyPr/>
                    <a:lstStyle/>
                    <a:p>
                      <a:pPr algn="ctr"/>
                      <a:r>
                        <a:rPr sz="1200" b="0">
                          <a:solidFill>
                            <a:srgbClr val="2F4D5D"/>
                          </a:solidFill>
                        </a:rPr>
                        <a:t>MMA</a:t>
                      </a:r>
                    </a:p>
                  </a:txBody>
                  <a:tcPr anchor="ctr" marL="90000" marR="60000" marT="20000" marB="20000">
                    <a:solidFill>
                      <a:srgbClr val="FFFFFF"/>
                    </a:solidFill>
                  </a:tcPr>
                </a:tc>
                <a:tc>
                  <a:txBody>
                    <a:bodyPr/>
                    <a:lstStyle/>
                    <a:p>
                      <a:pPr algn="l"/>
                      <a:r>
                        <a:rPr sz="1200" b="0">
                          <a:solidFill>
                            <a:srgbClr val="2F4D5D"/>
                          </a:solidFill>
                        </a:rPr>
                        <a:t>Density filter</a:t>
                      </a:r>
                    </a:p>
                  </a:txBody>
                  <a:tcPr anchor="ctr" marL="90000" marR="60000" marT="20000" marB="20000">
                    <a:solidFill>
                      <a:srgbClr val="FFFFFF"/>
                    </a:solidFill>
                  </a:tcPr>
                </a:tc>
              </a:tr>
              <a:tr h="437500">
                <a:tc>
                  <a:txBody>
                    <a:bodyPr/>
                    <a:lstStyle/>
                    <a:p>
                      <a:pPr algn="ctr"/>
                      <a:r>
                        <a:rPr sz="1200" b="0">
                          <a:solidFill>
                            <a:srgbClr val="2F4D5D"/>
                          </a:solidFill>
                        </a:rPr>
                        <a:t>7</a:t>
                      </a:r>
                    </a:p>
                  </a:txBody>
                  <a:tcPr anchor="ctr" marL="90000" marR="60000" marT="20000" marB="20000">
                    <a:solidFill>
                      <a:srgbClr val="FFFFFF"/>
                    </a:solidFill>
                  </a:tcPr>
                </a:tc>
                <a:tc>
                  <a:txBody>
                    <a:bodyPr/>
                    <a:lstStyle/>
                    <a:p>
                      <a:pPr algn="ctr"/>
                      <a:r>
                        <a:rPr sz="1200" b="0">
                          <a:solidFill>
                            <a:srgbClr val="2F4D5D"/>
                          </a:solidFill>
                        </a:rPr>
                        <a:t>MTOP</a:t>
                      </a:r>
                    </a:p>
                  </a:txBody>
                  <a:tcPr anchor="ctr" marL="90000" marR="60000" marT="20000" marB="20000">
                    <a:solidFill>
                      <a:srgbClr val="FFFFFF"/>
                    </a:solidFill>
                  </a:tcPr>
                </a:tc>
                <a:tc>
                  <a:txBody>
                    <a:bodyPr/>
                    <a:lstStyle/>
                    <a:p>
                      <a:pPr algn="ctr"/>
                      <a:r>
                        <a:rPr sz="1200" b="0">
                          <a:solidFill>
                            <a:srgbClr val="2F4D5D"/>
                          </a:solidFill>
                        </a:rPr>
                        <a:t>MMA</a:t>
                      </a:r>
                    </a:p>
                  </a:txBody>
                  <a:tcPr anchor="ctr" marL="90000" marR="60000" marT="20000" marB="20000">
                    <a:solidFill>
                      <a:srgbClr val="FFFFFF"/>
                    </a:solidFill>
                  </a:tcPr>
                </a:tc>
                <a:tc>
                  <a:txBody>
                    <a:bodyPr/>
                    <a:lstStyle/>
                    <a:p>
                      <a:pPr algn="l"/>
                      <a:r>
                        <a:rPr sz="1200" b="0">
                          <a:solidFill>
                            <a:srgbClr val="2F4D5D"/>
                          </a:solidFill>
                        </a:rPr>
                        <a:t>Heaviside η = 0.3 / 0.5 / 0.7</a:t>
                      </a:r>
                    </a:p>
                  </a:txBody>
                  <a:tcPr anchor="ctr" marL="90000" marR="60000" marT="20000" marB="20000">
                    <a:solidFill>
                      <a:srgbClr val="FFFFFF"/>
                    </a:solidFill>
                  </a:tcPr>
                </a:tc>
              </a:tr>
            </a:tbl>
          </a:graphicData>
        </a:graphic>
      </p:graphicFrame>
      <p:sp>
        <p:nvSpPr>
          <p:cNvPr id="6" name="TextBox 5"/>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7" name="TextBox 6"/>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5510000"/>
            <a:ext cx="11040000" cy="640000"/>
          </a:xfrm>
        </p:spPr>
        <p:txBody>
          <a:bodyPr wrap="square" anchor="ctr"/>
          <a:lstStyle/>
          <a:p>
            <a:pPr>
              <a:spcBef>
                <a:spcPts val="200"/>
              </a:spcBef>
              <a:spcAft>
                <a:spcPts val="800"/>
              </a:spcAft>
            </a:pPr>
            <a:r>
              <a:rPr sz="1700" b="0">
                <a:solidFill>
                  <a:srgbClr val="2F4D5D"/>
                </a:solidFill>
              </a:rPr>
              <a:t>Verified three derivative chains with three finite-difference strategies</a:t>
            </a:r>
          </a:p>
          <a:p>
            <a:pPr>
              <a:spcBef>
                <a:spcPts val="200"/>
              </a:spcBef>
              <a:spcAft>
                <a:spcPts val="800"/>
              </a:spcAft>
            </a:pPr>
            <a:r>
              <a:rPr sz="1700" b="0">
                <a:solidFill>
                  <a:srgbClr val="2F4D5D"/>
                </a:solidFill>
              </a:rPr>
              <a:t>Taylor remainder slope ≈ 2.00 confirms the analytical sensitivities</a:t>
            </a:r>
          </a:p>
        </p:txBody>
      </p:sp>
      <p:sp>
        <p:nvSpPr>
          <p:cNvPr id="3" name="Title 2"/>
          <p:cNvSpPr>
            <a:spLocks noGrp="1"/>
          </p:cNvSpPr>
          <p:nvPr>
            <p:ph type="title"/>
          </p:nvPr>
        </p:nvSpPr>
        <p:spPr/>
        <p:txBody>
          <a:bodyPr/>
          <a:lstStyle/>
          <a:p>
            <a:r>
              <a:rPr sz="3200"/>
              <a:t>Verifying the implementation</a:t>
            </a:r>
          </a:p>
        </p:txBody>
      </p:sp>
      <p:pic>
        <p:nvPicPr>
          <p:cNvPr id="4" name="Picture 3" descr="sensitivity_verification_fd_strategies.png"/>
          <p:cNvPicPr>
            <a:picLocks noChangeAspect="1"/>
          </p:cNvPicPr>
          <p:nvPr/>
        </p:nvPicPr>
        <p:blipFill>
          <a:blip r:embed="rId2"/>
          <a:stretch>
            <a:fillRect/>
          </a:stretch>
        </p:blipFill>
        <p:spPr>
          <a:xfrm>
            <a:off x="1315994" y="1410000"/>
            <a:ext cx="9560011" cy="3950000"/>
          </a:xfrm>
          <a:prstGeom prst="rect">
            <a:avLst/>
          </a:prstGeom>
        </p:spPr>
      </p:pic>
      <p:sp>
        <p:nvSpPr>
          <p:cNvPr id="5" name="TextBox 4"/>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6" name="TextBox 5"/>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4790000" cy="4740000"/>
          </a:xfrm>
        </p:spPr>
        <p:txBody>
          <a:bodyPr wrap="square" anchor="ctr"/>
          <a:lstStyle/>
          <a:p>
            <a:pPr>
              <a:spcBef>
                <a:spcPts val="200"/>
              </a:spcBef>
              <a:spcAft>
                <a:spcPts val="800"/>
              </a:spcAft>
            </a:pPr>
            <a:r>
              <a:rPr sz="1900" b="0">
                <a:solidFill>
                  <a:srgbClr val="2F4D5D"/>
                </a:solidFill>
              </a:rPr>
              <a:t>Optimality criteria with sensitivity filtering</a:t>
            </a:r>
          </a:p>
          <a:p>
            <a:pPr>
              <a:spcBef>
                <a:spcPts val="200"/>
              </a:spcBef>
              <a:spcAft>
                <a:spcPts val="800"/>
              </a:spcAft>
            </a:pPr>
            <a:r>
              <a:rPr sz="1900" b="0">
                <a:solidFill>
                  <a:srgbClr val="2F4D5D"/>
                </a:solidFill>
              </a:rPr>
              <a:t>Same truss load path: top chord, bottom chord, triangulated web</a:t>
            </a:r>
          </a:p>
          <a:p>
            <a:pPr>
              <a:spcBef>
                <a:spcPts val="200"/>
              </a:spcBef>
              <a:spcAft>
                <a:spcPts val="800"/>
              </a:spcAft>
            </a:pPr>
            <a:r>
              <a:rPr sz="1900" b="0">
                <a:solidFill>
                  <a:srgbClr val="2F4D5D"/>
                </a:solidFill>
              </a:rPr>
              <a:t>Fine-mesh compliance: classical 224.6, MTOP 224.7 (+0.045 %)</a:t>
            </a:r>
          </a:p>
          <a:p>
            <a:pPr>
              <a:spcBef>
                <a:spcPts val="200"/>
              </a:spcBef>
              <a:spcAft>
                <a:spcPts val="800"/>
              </a:spcAft>
            </a:pPr>
            <a:r>
              <a:rPr sz="1900" b="0">
                <a:solidFill>
                  <a:srgbClr val="2F4D5D"/>
                </a:solidFill>
              </a:rPr>
              <a:t>Difference is a tiny boundary-level redistribution (RMS 0.003)</a:t>
            </a:r>
          </a:p>
          <a:p>
            <a:pPr>
              <a:spcBef>
                <a:spcPts val="200"/>
              </a:spcBef>
              <a:spcAft>
                <a:spcPts val="800"/>
              </a:spcAft>
            </a:pPr>
            <a:r>
              <a:rPr sz="1900" b="1">
                <a:solidFill>
                  <a:srgbClr val="2F4D5D"/>
                </a:solidFill>
              </a:rPr>
              <a:t>MTOP does not change the optimized design</a:t>
            </a:r>
          </a:p>
        </p:txBody>
      </p:sp>
      <p:sp>
        <p:nvSpPr>
          <p:cNvPr id="4" name="Title 3"/>
          <p:cNvSpPr>
            <a:spLocks noGrp="1"/>
          </p:cNvSpPr>
          <p:nvPr>
            <p:ph type="title"/>
          </p:nvPr>
        </p:nvSpPr>
        <p:spPr/>
        <p:txBody>
          <a:bodyPr/>
          <a:lstStyle/>
          <a:p>
            <a:r>
              <a:rPr sz="3200"/>
              <a:t>Steps 1 and 2: MTOP reproduces the classical design</a:t>
            </a:r>
          </a:p>
        </p:txBody>
      </p:sp>
      <p:pic>
        <p:nvPicPr>
          <p:cNvPr id="5" name="Picture 4" descr="mtop_oc_sensitivity_design_difference.png"/>
          <p:cNvPicPr>
            <a:picLocks noChangeAspect="1"/>
          </p:cNvPicPr>
          <p:nvPr/>
        </p:nvPicPr>
        <p:blipFill>
          <a:blip r:embed="rId2"/>
          <a:stretch>
            <a:fillRect/>
          </a:stretch>
        </p:blipFill>
        <p:spPr>
          <a:xfrm>
            <a:off x="6392665" y="1410000"/>
            <a:ext cx="4516669" cy="4740000"/>
          </a:xfrm>
          <a:prstGeom prst="rect">
            <a:avLst/>
          </a:prstGeom>
        </p:spPr>
      </p:pic>
      <p:sp>
        <p:nvSpPr>
          <p:cNvPr id="6" name="TextBox 5"/>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7" name="TextBox 6"/>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4790000" cy="4740000"/>
          </a:xfrm>
        </p:spPr>
        <p:txBody>
          <a:bodyPr wrap="square" anchor="ctr"/>
          <a:lstStyle/>
          <a:p>
            <a:pPr>
              <a:spcBef>
                <a:spcPts val="200"/>
              </a:spcBef>
              <a:spcAft>
                <a:spcPts val="800"/>
              </a:spcAft>
            </a:pPr>
            <a:r>
              <a:rPr sz="1900" b="0">
                <a:solidFill>
                  <a:srgbClr val="2F4D5D"/>
                </a:solidFill>
              </a:rPr>
              <a:t>Same convergence path: 94 versus 95 iterations</a:t>
            </a:r>
          </a:p>
          <a:p>
            <a:pPr>
              <a:spcBef>
                <a:spcPts val="200"/>
              </a:spcBef>
              <a:spcAft>
                <a:spcPts val="800"/>
              </a:spcAft>
            </a:pPr>
            <a:r>
              <a:rPr sz="1900" b="0">
                <a:solidFill>
                  <a:srgbClr val="2F4D5D"/>
                </a:solidFill>
              </a:rPr>
              <a:t>Wall-clock time: 263 s → 12 s</a:t>
            </a:r>
          </a:p>
          <a:p>
            <a:pPr>
              <a:spcBef>
                <a:spcPts val="200"/>
              </a:spcBef>
              <a:spcAft>
                <a:spcPts val="800"/>
              </a:spcAft>
            </a:pPr>
            <a:r>
              <a:rPr sz="1900" b="0">
                <a:solidFill>
                  <a:srgbClr val="2F4D5D"/>
                </a:solidFill>
              </a:rPr>
              <a:t>Speedup factor of 21 at matched compliance</a:t>
            </a:r>
          </a:p>
          <a:p>
            <a:pPr>
              <a:spcBef>
                <a:spcPts val="200"/>
              </a:spcBef>
              <a:spcAft>
                <a:spcPts val="800"/>
              </a:spcAft>
            </a:pPr>
            <a:r>
              <a:rPr sz="1900" b="0">
                <a:solidFill>
                  <a:srgbClr val="2F4D5D"/>
                </a:solidFill>
              </a:rPr>
              <a:t>The MTOP curve collapses against the time axis</a:t>
            </a:r>
          </a:p>
          <a:p>
            <a:pPr>
              <a:spcBef>
                <a:spcPts val="200"/>
              </a:spcBef>
              <a:spcAft>
                <a:spcPts val="800"/>
              </a:spcAft>
            </a:pPr>
            <a:r>
              <a:rPr sz="1900" b="1">
                <a:solidFill>
                  <a:srgbClr val="2F4D5D"/>
                </a:solidFill>
              </a:rPr>
              <a:t>Same design, same iterations, far less time</a:t>
            </a:r>
          </a:p>
        </p:txBody>
      </p:sp>
      <p:sp>
        <p:nvSpPr>
          <p:cNvPr id="4" name="Title 3"/>
          <p:cNvSpPr>
            <a:spLocks noGrp="1"/>
          </p:cNvSpPr>
          <p:nvPr>
            <p:ph type="title"/>
          </p:nvPr>
        </p:nvSpPr>
        <p:spPr/>
        <p:txBody>
          <a:bodyPr/>
          <a:lstStyle/>
          <a:p>
            <a:r>
              <a:rPr sz="3200"/>
              <a:t>Steps 1 and 2: MTOP is 21× faster</a:t>
            </a:r>
          </a:p>
        </p:txBody>
      </p:sp>
      <p:pic>
        <p:nvPicPr>
          <p:cNvPr id="5" name="Picture 4" descr="mtop_oc_sensitivity_convergence_time_compare.png"/>
          <p:cNvPicPr>
            <a:picLocks noChangeAspect="1"/>
          </p:cNvPicPr>
          <p:nvPr/>
        </p:nvPicPr>
        <p:blipFill>
          <a:blip r:embed="rId2"/>
          <a:stretch>
            <a:fillRect/>
          </a:stretch>
        </p:blipFill>
        <p:spPr>
          <a:xfrm>
            <a:off x="5686000" y="1536836"/>
            <a:ext cx="5930000" cy="4486327"/>
          </a:xfrm>
          <a:prstGeom prst="rect">
            <a:avLst/>
          </a:prstGeom>
        </p:spPr>
      </p:pic>
      <p:sp>
        <p:nvSpPr>
          <p:cNvPr id="6" name="TextBox 5"/>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7" name="TextBox 6"/>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4790000" cy="4740000"/>
          </a:xfrm>
        </p:spPr>
        <p:txBody>
          <a:bodyPr wrap="square" anchor="ctr"/>
          <a:lstStyle/>
          <a:p>
            <a:pPr>
              <a:spcBef>
                <a:spcPts val="200"/>
              </a:spcBef>
              <a:spcAft>
                <a:spcPts val="800"/>
              </a:spcAft>
            </a:pPr>
            <a:r>
              <a:rPr sz="1900" b="0">
                <a:solidFill>
                  <a:srgbClr val="2F4D5D"/>
                </a:solidFill>
              </a:rPr>
              <a:t>Same comparison with a density filter instead of a sensitivity filter</a:t>
            </a:r>
          </a:p>
          <a:p>
            <a:pPr>
              <a:spcBef>
                <a:spcPts val="200"/>
              </a:spcBef>
              <a:spcAft>
                <a:spcPts val="800"/>
              </a:spcAft>
            </a:pPr>
            <a:r>
              <a:rPr sz="1900" b="0">
                <a:solidFill>
                  <a:srgbClr val="2F4D5D"/>
                </a:solidFill>
              </a:rPr>
              <a:t>Designs again almost identical: 0.04 % compliance difference</a:t>
            </a:r>
          </a:p>
          <a:p>
            <a:pPr>
              <a:spcBef>
                <a:spcPts val="200"/>
              </a:spcBef>
              <a:spcAft>
                <a:spcPts val="800"/>
              </a:spcAft>
            </a:pPr>
            <a:r>
              <a:rPr sz="1900" b="0">
                <a:solidFill>
                  <a:srgbClr val="2F4D5D"/>
                </a:solidFill>
              </a:rPr>
              <a:t>Speedup drops to 5×: density-filter work still runs on the fine mesh</a:t>
            </a:r>
          </a:p>
          <a:p>
            <a:pPr>
              <a:spcBef>
                <a:spcPts val="200"/>
              </a:spcBef>
              <a:spcAft>
                <a:spcPts val="800"/>
              </a:spcAft>
            </a:pPr>
            <a:r>
              <a:rPr sz="1900" b="0">
                <a:solidFill>
                  <a:srgbClr val="2F4D5D"/>
                </a:solidFill>
              </a:rPr>
              <a:t>OC plus density filter never meets the design-change tolerance</a:t>
            </a:r>
          </a:p>
          <a:p>
            <a:pPr>
              <a:spcBef>
                <a:spcPts val="200"/>
              </a:spcBef>
              <a:spcAft>
                <a:spcPts val="800"/>
              </a:spcAft>
            </a:pPr>
            <a:r>
              <a:rPr sz="1900" b="1">
                <a:solidFill>
                  <a:srgbClr val="2F4D5D"/>
                </a:solidFill>
              </a:rPr>
              <a:t>Stopped instead on a compliance plateau</a:t>
            </a:r>
          </a:p>
        </p:txBody>
      </p:sp>
      <p:sp>
        <p:nvSpPr>
          <p:cNvPr id="4" name="Title 3"/>
          <p:cNvSpPr>
            <a:spLocks noGrp="1"/>
          </p:cNvSpPr>
          <p:nvPr>
            <p:ph type="title"/>
          </p:nvPr>
        </p:nvSpPr>
        <p:spPr/>
        <p:txBody>
          <a:bodyPr/>
          <a:lstStyle/>
          <a:p>
            <a:r>
              <a:rPr sz="3200"/>
              <a:t>Step 3: density filtering</a:t>
            </a:r>
          </a:p>
        </p:txBody>
      </p:sp>
      <p:pic>
        <p:nvPicPr>
          <p:cNvPr id="5" name="Picture 4" descr="mtop_oc_density_design_difference.png"/>
          <p:cNvPicPr>
            <a:picLocks noChangeAspect="1"/>
          </p:cNvPicPr>
          <p:nvPr/>
        </p:nvPicPr>
        <p:blipFill>
          <a:blip r:embed="rId2"/>
          <a:stretch>
            <a:fillRect/>
          </a:stretch>
        </p:blipFill>
        <p:spPr>
          <a:xfrm>
            <a:off x="6392665" y="1410000"/>
            <a:ext cx="4516669" cy="4740000"/>
          </a:xfrm>
          <a:prstGeom prst="rect">
            <a:avLst/>
          </a:prstGeom>
        </p:spPr>
      </p:pic>
      <p:sp>
        <p:nvSpPr>
          <p:cNvPr id="6" name="TextBox 5"/>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7" name="TextBox 6"/>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4790000" cy="4740000"/>
          </a:xfrm>
        </p:spPr>
        <p:txBody>
          <a:bodyPr wrap="square" anchor="ctr"/>
          <a:lstStyle/>
          <a:p>
            <a:pPr>
              <a:spcBef>
                <a:spcPts val="200"/>
              </a:spcBef>
              <a:spcAft>
                <a:spcPts val="800"/>
              </a:spcAft>
            </a:pPr>
            <a:r>
              <a:rPr sz="1900" b="0">
                <a:solidFill>
                  <a:srgbClr val="2F4D5D"/>
                </a:solidFill>
              </a:rPr>
              <a:t>OC update replaced by the method of moving asymptotes (MMA)</a:t>
            </a:r>
          </a:p>
          <a:p>
            <a:pPr>
              <a:spcBef>
                <a:spcPts val="200"/>
              </a:spcBef>
              <a:spcAft>
                <a:spcPts val="800"/>
              </a:spcAft>
            </a:pPr>
            <a:r>
              <a:rPr sz="1900" b="0">
                <a:solidFill>
                  <a:srgbClr val="2F4D5D"/>
                </a:solidFill>
              </a:rPr>
              <a:t>MMA alone: design close to OC; density-filter convergence issue remains</a:t>
            </a:r>
          </a:p>
          <a:p>
            <a:pPr>
              <a:spcBef>
                <a:spcPts val="200"/>
              </a:spcBef>
              <a:spcAft>
                <a:spcPts val="800"/>
              </a:spcAft>
            </a:pPr>
            <a:r>
              <a:rPr sz="1900" b="0">
                <a:solidFill>
                  <a:srgbClr val="2F4D5D"/>
                </a:solidFill>
              </a:rPr>
              <a:t>Heaviside projection pushes the design towards black-and-white</a:t>
            </a:r>
          </a:p>
          <a:p>
            <a:pPr>
              <a:spcBef>
                <a:spcPts val="200"/>
              </a:spcBef>
              <a:spcAft>
                <a:spcPts val="800"/>
              </a:spcAft>
            </a:pPr>
            <a:r>
              <a:rPr sz="1900" b="0">
                <a:solidFill>
                  <a:srgbClr val="2F4D5D"/>
                </a:solidFill>
              </a:rPr>
              <a:t>Near-binary layout: ~17 % lower compliance than the gray design</a:t>
            </a:r>
          </a:p>
          <a:p>
            <a:pPr>
              <a:spcBef>
                <a:spcPts val="200"/>
              </a:spcBef>
              <a:spcAft>
                <a:spcPts val="800"/>
              </a:spcAft>
            </a:pPr>
            <a:r>
              <a:rPr sz="1900" b="1">
                <a:solidFill>
                  <a:srgbClr val="2F4D5D"/>
                </a:solidFill>
              </a:rPr>
              <a:t>All three thresholds agree within 0.7 %; 0.5 is best</a:t>
            </a:r>
          </a:p>
        </p:txBody>
      </p:sp>
      <p:sp>
        <p:nvSpPr>
          <p:cNvPr id="4" name="Title 3"/>
          <p:cNvSpPr>
            <a:spLocks noGrp="1"/>
          </p:cNvSpPr>
          <p:nvPr>
            <p:ph type="title"/>
          </p:nvPr>
        </p:nvSpPr>
        <p:spPr/>
        <p:txBody>
          <a:bodyPr/>
          <a:lstStyle/>
          <a:p>
            <a:r>
              <a:rPr sz="3200"/>
              <a:t>Step 4: MMA and Heaviside projection</a:t>
            </a:r>
          </a:p>
        </p:txBody>
      </p:sp>
      <p:sp>
        <p:nvSpPr>
          <p:cNvPr id="5" name="TextBox 4"/>
          <p:cNvSpPr txBox="1"/>
          <p:nvPr/>
        </p:nvSpPr>
        <p:spPr>
          <a:xfrm>
            <a:off x="5686000" y="1410000"/>
            <a:ext cx="5930000" cy="300000"/>
          </a:xfrm>
          <a:prstGeom prst="rect">
            <a:avLst/>
          </a:prstGeom>
          <a:noFill/>
        </p:spPr>
        <p:txBody>
          <a:bodyPr wrap="square" anchor="t" lIns="36000" rIns="36000" tIns="18000" bIns="18000">
            <a:spAutoFit/>
          </a:bodyPr>
          <a:lstStyle/>
          <a:p>
            <a:pPr algn="ctr"/>
            <a:r>
              <a:rPr sz="1300" b="1">
                <a:solidFill>
                  <a:srgbClr val="1D8DB0"/>
                </a:solidFill>
              </a:rPr>
              <a:t>η = 0.3</a:t>
            </a:r>
          </a:p>
        </p:txBody>
      </p:sp>
      <p:pic>
        <p:nvPicPr>
          <p:cNvPr id="6" name="Picture 5" descr="mtop_mma_heaviside_eta_030_design.png"/>
          <p:cNvPicPr>
            <a:picLocks noChangeAspect="1"/>
          </p:cNvPicPr>
          <p:nvPr/>
        </p:nvPicPr>
        <p:blipFill>
          <a:blip r:embed="rId2"/>
          <a:stretch>
            <a:fillRect/>
          </a:stretch>
        </p:blipFill>
        <p:spPr>
          <a:xfrm>
            <a:off x="6856419" y="1710000"/>
            <a:ext cx="3589161" cy="1220000"/>
          </a:xfrm>
          <a:prstGeom prst="rect">
            <a:avLst/>
          </a:prstGeom>
        </p:spPr>
      </p:pic>
      <p:sp>
        <p:nvSpPr>
          <p:cNvPr id="7" name="TextBox 6"/>
          <p:cNvSpPr txBox="1"/>
          <p:nvPr/>
        </p:nvSpPr>
        <p:spPr>
          <a:xfrm>
            <a:off x="5686000" y="2990000"/>
            <a:ext cx="5930000" cy="300000"/>
          </a:xfrm>
          <a:prstGeom prst="rect">
            <a:avLst/>
          </a:prstGeom>
          <a:noFill/>
        </p:spPr>
        <p:txBody>
          <a:bodyPr wrap="square" anchor="t" lIns="36000" rIns="36000" tIns="18000" bIns="18000">
            <a:spAutoFit/>
          </a:bodyPr>
          <a:lstStyle/>
          <a:p>
            <a:pPr algn="ctr"/>
            <a:r>
              <a:rPr sz="1300" b="1">
                <a:solidFill>
                  <a:srgbClr val="1D8DB0"/>
                </a:solidFill>
              </a:rPr>
              <a:t>η = 0.5   (best)</a:t>
            </a:r>
          </a:p>
        </p:txBody>
      </p:sp>
      <p:pic>
        <p:nvPicPr>
          <p:cNvPr id="8" name="Picture 7" descr="mtop_mma_heaviside_eta_050_design.png"/>
          <p:cNvPicPr>
            <a:picLocks noChangeAspect="1"/>
          </p:cNvPicPr>
          <p:nvPr/>
        </p:nvPicPr>
        <p:blipFill>
          <a:blip r:embed="rId3"/>
          <a:stretch>
            <a:fillRect/>
          </a:stretch>
        </p:blipFill>
        <p:spPr>
          <a:xfrm>
            <a:off x="6856419" y="3290000"/>
            <a:ext cx="3589161" cy="1220000"/>
          </a:xfrm>
          <a:prstGeom prst="rect">
            <a:avLst/>
          </a:prstGeom>
        </p:spPr>
      </p:pic>
      <p:sp>
        <p:nvSpPr>
          <p:cNvPr id="9" name="TextBox 8"/>
          <p:cNvSpPr txBox="1"/>
          <p:nvPr/>
        </p:nvSpPr>
        <p:spPr>
          <a:xfrm>
            <a:off x="5686000" y="4570000"/>
            <a:ext cx="5930000" cy="300000"/>
          </a:xfrm>
          <a:prstGeom prst="rect">
            <a:avLst/>
          </a:prstGeom>
          <a:noFill/>
        </p:spPr>
        <p:txBody>
          <a:bodyPr wrap="square" anchor="t" lIns="36000" rIns="36000" tIns="18000" bIns="18000">
            <a:spAutoFit/>
          </a:bodyPr>
          <a:lstStyle/>
          <a:p>
            <a:pPr algn="ctr"/>
            <a:r>
              <a:rPr sz="1300" b="1">
                <a:solidFill>
                  <a:srgbClr val="1D8DB0"/>
                </a:solidFill>
              </a:rPr>
              <a:t>η = 0.7</a:t>
            </a:r>
          </a:p>
        </p:txBody>
      </p:sp>
      <p:pic>
        <p:nvPicPr>
          <p:cNvPr id="10" name="Picture 9" descr="mtop_mma_heaviside_eta_070_design.png"/>
          <p:cNvPicPr>
            <a:picLocks noChangeAspect="1"/>
          </p:cNvPicPr>
          <p:nvPr/>
        </p:nvPicPr>
        <p:blipFill>
          <a:blip r:embed="rId4"/>
          <a:stretch>
            <a:fillRect/>
          </a:stretch>
        </p:blipFill>
        <p:spPr>
          <a:xfrm>
            <a:off x="6856419" y="4870000"/>
            <a:ext cx="3589161" cy="1220000"/>
          </a:xfrm>
          <a:prstGeom prst="rect">
            <a:avLst/>
          </a:prstGeom>
        </p:spPr>
      </p:pic>
      <p:sp>
        <p:nvSpPr>
          <p:cNvPr id="11" name="TextBox 10"/>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12" name="TextBox 11"/>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7556000" y="1410000"/>
            <a:ext cx="4060000" cy="4740000"/>
          </a:xfrm>
        </p:spPr>
        <p:txBody>
          <a:bodyPr wrap="square" anchor="ctr"/>
          <a:lstStyle/>
          <a:p>
            <a:pPr>
              <a:spcBef>
                <a:spcPts val="200"/>
              </a:spcBef>
              <a:spcAft>
                <a:spcPts val="800"/>
              </a:spcAft>
            </a:pPr>
            <a:r>
              <a:rPr sz="1700" b="0">
                <a:solidFill>
                  <a:srgbClr val="2F4D5D"/>
                </a:solidFill>
              </a:rPr>
              <a:t>Classical OC: 82 % of the time is the finite element solve</a:t>
            </a:r>
          </a:p>
          <a:p>
            <a:pPr>
              <a:spcBef>
                <a:spcPts val="200"/>
              </a:spcBef>
              <a:spcAft>
                <a:spcPts val="800"/>
              </a:spcAft>
            </a:pPr>
            <a:r>
              <a:rPr sz="1700" b="0">
                <a:solidFill>
                  <a:srgbClr val="2F4D5D"/>
                </a:solidFill>
              </a:rPr>
              <a:t>MTOP shrinks that solve by about 40×</a:t>
            </a:r>
          </a:p>
          <a:p>
            <a:pPr>
              <a:spcBef>
                <a:spcPts val="200"/>
              </a:spcBef>
              <a:spcAft>
                <a:spcPts val="800"/>
              </a:spcAft>
            </a:pPr>
            <a:r>
              <a:rPr sz="1700" b="0">
                <a:solidFill>
                  <a:srgbClr val="2F4D5D"/>
                </a:solidFill>
              </a:rPr>
              <a:t>Filtering, assembly and the optimizer still act on the full density mesh, so they cap the speedup</a:t>
            </a:r>
          </a:p>
          <a:p>
            <a:pPr>
              <a:spcBef>
                <a:spcPts val="200"/>
              </a:spcBef>
              <a:spcAft>
                <a:spcPts val="800"/>
              </a:spcAft>
            </a:pPr>
            <a:r>
              <a:rPr sz="1700" b="0">
                <a:solidFill>
                  <a:srgbClr val="2F4D5D"/>
                </a:solidFill>
              </a:rPr>
              <a:t>MMA runs become dominated by the optimizer subproblem</a:t>
            </a:r>
          </a:p>
        </p:txBody>
      </p:sp>
      <p:sp>
        <p:nvSpPr>
          <p:cNvPr id="4" name="Title 3"/>
          <p:cNvSpPr>
            <a:spLocks noGrp="1"/>
          </p:cNvSpPr>
          <p:nvPr>
            <p:ph type="title"/>
          </p:nvPr>
        </p:nvSpPr>
        <p:spPr/>
        <p:txBody>
          <a:bodyPr/>
          <a:lstStyle/>
          <a:p>
            <a:r>
              <a:rPr sz="3200"/>
              <a:t>Where does the speedup come from?</a:t>
            </a:r>
          </a:p>
        </p:txBody>
      </p:sp>
      <p:pic>
        <p:nvPicPr>
          <p:cNvPr id="5" name="Picture 4" descr="phase_breakdown_chart.png"/>
          <p:cNvPicPr>
            <a:picLocks noChangeAspect="1"/>
          </p:cNvPicPr>
          <p:nvPr/>
        </p:nvPicPr>
        <p:blipFill>
          <a:blip r:embed="rId2"/>
          <a:stretch>
            <a:fillRect/>
          </a:stretch>
        </p:blipFill>
        <p:spPr>
          <a:xfrm>
            <a:off x="576000" y="1410000"/>
            <a:ext cx="6580160" cy="4740000"/>
          </a:xfrm>
          <a:prstGeom prst="rect">
            <a:avLst/>
          </a:prstGeom>
        </p:spPr>
      </p:pic>
      <p:sp>
        <p:nvSpPr>
          <p:cNvPr id="6" name="TextBox 5"/>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7" name="TextBox 6"/>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4790000" cy="4740000"/>
          </a:xfrm>
        </p:spPr>
        <p:txBody>
          <a:bodyPr wrap="square" anchor="ctr"/>
          <a:lstStyle/>
          <a:p>
            <a:pPr>
              <a:spcBef>
                <a:spcPts val="200"/>
              </a:spcBef>
              <a:spcAft>
                <a:spcPts val="800"/>
              </a:spcAft>
            </a:pPr>
            <a:r>
              <a:rPr sz="1900" b="0">
                <a:solidFill>
                  <a:srgbClr val="2F4D5D"/>
                </a:solidFill>
              </a:rPr>
              <a:t>A plain coarse model reaches within 0.6 % of the fine design</a:t>
            </a:r>
          </a:p>
          <a:p>
            <a:pPr>
              <a:spcBef>
                <a:spcPts val="200"/>
              </a:spcBef>
              <a:spcAft>
                <a:spcPts val="800"/>
              </a:spcAft>
            </a:pPr>
            <a:r>
              <a:rPr sz="1900" b="0">
                <a:solidFill>
                  <a:srgbClr val="2F4D5D"/>
                </a:solidFill>
              </a:rPr>
              <a:t>For this 2D case with a large filter, a coarse model already captures the load path</a:t>
            </a:r>
          </a:p>
          <a:p>
            <a:pPr>
              <a:spcBef>
                <a:spcPts val="200"/>
              </a:spcBef>
              <a:spcAft>
                <a:spcPts val="800"/>
              </a:spcAft>
            </a:pPr>
            <a:r>
              <a:rPr sz="1900" b="0">
                <a:solidFill>
                  <a:srgbClr val="2F4D5D"/>
                </a:solidFill>
              </a:rPr>
              <a:t>But that coarse design is grayer and fixed at the coarse resolution</a:t>
            </a:r>
          </a:p>
          <a:p>
            <a:pPr>
              <a:spcBef>
                <a:spcPts val="200"/>
              </a:spcBef>
              <a:spcAft>
                <a:spcPts val="800"/>
              </a:spcAft>
            </a:pPr>
            <a:r>
              <a:rPr sz="1900" b="1">
                <a:solidFill>
                  <a:srgbClr val="2F4D5D"/>
                </a:solidFill>
              </a:rPr>
              <a:t>MTOP keeps the full 600 × 200 design while paying only the coarse solve</a:t>
            </a:r>
          </a:p>
        </p:txBody>
      </p:sp>
      <p:sp>
        <p:nvSpPr>
          <p:cNvPr id="4" name="Title 3"/>
          <p:cNvSpPr>
            <a:spLocks noGrp="1"/>
          </p:cNvSpPr>
          <p:nvPr>
            <p:ph type="title"/>
          </p:nvPr>
        </p:nvSpPr>
        <p:spPr/>
        <p:txBody>
          <a:bodyPr/>
          <a:lstStyle/>
          <a:p>
            <a:r>
              <a:rPr sz="3200"/>
              <a:t>What MTOP really buys you</a:t>
            </a:r>
          </a:p>
        </p:txBody>
      </p:sp>
      <p:pic>
        <p:nvPicPr>
          <p:cNvPr id="5" name="Picture 4" descr="classical_oc_coarse_sensitivity_design.png"/>
          <p:cNvPicPr>
            <a:picLocks noChangeAspect="1"/>
          </p:cNvPicPr>
          <p:nvPr/>
        </p:nvPicPr>
        <p:blipFill>
          <a:blip r:embed="rId2"/>
          <a:stretch>
            <a:fillRect/>
          </a:stretch>
        </p:blipFill>
        <p:spPr>
          <a:xfrm>
            <a:off x="5686000" y="2622160"/>
            <a:ext cx="5930000" cy="2015679"/>
          </a:xfrm>
          <a:prstGeom prst="rect">
            <a:avLst/>
          </a:prstGeom>
        </p:spPr>
      </p:pic>
      <p:sp>
        <p:nvSpPr>
          <p:cNvPr id="6" name="TextBox 5"/>
          <p:cNvSpPr txBox="1"/>
          <p:nvPr/>
        </p:nvSpPr>
        <p:spPr>
          <a:xfrm>
            <a:off x="5686000" y="5850000"/>
            <a:ext cx="5930000" cy="300000"/>
          </a:xfrm>
          <a:prstGeom prst="rect">
            <a:avLst/>
          </a:prstGeom>
          <a:noFill/>
        </p:spPr>
        <p:txBody>
          <a:bodyPr wrap="square" anchor="t" lIns="36000" rIns="36000" tIns="18000" bIns="18000">
            <a:spAutoFit/>
          </a:bodyPr>
          <a:lstStyle/>
          <a:p>
            <a:pPr algn="ctr"/>
            <a:r>
              <a:rPr sz="1200" b="0">
                <a:solidFill>
                  <a:srgbClr val="5C6E7A"/>
                </a:solidFill>
              </a:rPr>
              <a:t>Coarse-resolution baseline: 120 × 40 analysis = density mesh</a:t>
            </a:r>
          </a:p>
        </p:txBody>
      </p:sp>
      <p:sp>
        <p:nvSpPr>
          <p:cNvPr id="7" name="TextBox 6"/>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8" name="TextBox 7"/>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4790000" cy="4740000"/>
          </a:xfrm>
        </p:spPr>
        <p:txBody>
          <a:bodyPr wrap="square" anchor="ctr"/>
          <a:lstStyle/>
          <a:p>
            <a:pPr>
              <a:spcBef>
                <a:spcPts val="200"/>
              </a:spcBef>
              <a:spcAft>
                <a:spcPts val="800"/>
              </a:spcAft>
            </a:pPr>
            <a:r>
              <a:rPr sz="1900" b="0">
                <a:solidFill>
                  <a:srgbClr val="2F4D5D"/>
                </a:solidFill>
              </a:rPr>
              <a:t>MTOP reproduces the classical MBB design to within 0.05 % compliance</a:t>
            </a:r>
          </a:p>
          <a:p>
            <a:pPr>
              <a:spcBef>
                <a:spcPts val="200"/>
              </a:spcBef>
              <a:spcAft>
                <a:spcPts val="800"/>
              </a:spcAft>
            </a:pPr>
            <a:r>
              <a:rPr sz="1900" b="0">
                <a:solidFill>
                  <a:srgbClr val="2F4D5D"/>
                </a:solidFill>
              </a:rPr>
              <a:t>Sensitivity filtering: 21× faster; density filtering: 5× faster</a:t>
            </a:r>
          </a:p>
          <a:p>
            <a:pPr>
              <a:spcBef>
                <a:spcPts val="200"/>
              </a:spcBef>
              <a:spcAft>
                <a:spcPts val="800"/>
              </a:spcAft>
            </a:pPr>
            <a:r>
              <a:rPr sz="1900" b="0">
                <a:solidFill>
                  <a:srgbClr val="2F4D5D"/>
                </a:solidFill>
              </a:rPr>
              <a:t>The speedup comes from the cheaper coarse equilibrium solve</a:t>
            </a:r>
          </a:p>
          <a:p>
            <a:pPr>
              <a:spcBef>
                <a:spcPts val="200"/>
              </a:spcBef>
              <a:spcAft>
                <a:spcPts val="800"/>
              </a:spcAft>
            </a:pPr>
            <a:r>
              <a:rPr sz="1900" b="0">
                <a:solidFill>
                  <a:srgbClr val="2F4D5D"/>
                </a:solidFill>
              </a:rPr>
              <a:t>OC plus density filtering converges only in the compliance sense</a:t>
            </a:r>
          </a:p>
          <a:p>
            <a:pPr>
              <a:spcBef>
                <a:spcPts val="200"/>
              </a:spcBef>
              <a:spcAft>
                <a:spcPts val="800"/>
              </a:spcAft>
            </a:pPr>
            <a:r>
              <a:rPr sz="1900" b="0">
                <a:solidFill>
                  <a:srgbClr val="2F4D5D"/>
                </a:solidFill>
              </a:rPr>
              <a:t>Heaviside projection gives the lowest, near-binary compliance (threshold 0.5)</a:t>
            </a:r>
          </a:p>
        </p:txBody>
      </p:sp>
      <p:sp>
        <p:nvSpPr>
          <p:cNvPr id="4" name="Title 3"/>
          <p:cNvSpPr>
            <a:spLocks noGrp="1"/>
          </p:cNvSpPr>
          <p:nvPr>
            <p:ph type="title"/>
          </p:nvPr>
        </p:nvSpPr>
        <p:spPr/>
        <p:txBody>
          <a:bodyPr/>
          <a:lstStyle/>
          <a:p>
            <a:r>
              <a:rPr sz="3200"/>
              <a:t>Conclusions</a:t>
            </a:r>
          </a:p>
        </p:txBody>
      </p:sp>
      <p:pic>
        <p:nvPicPr>
          <p:cNvPr id="5" name="Picture 4" descr="runtime_summary_chart.png"/>
          <p:cNvPicPr>
            <a:picLocks noChangeAspect="1"/>
          </p:cNvPicPr>
          <p:nvPr/>
        </p:nvPicPr>
        <p:blipFill>
          <a:blip r:embed="rId2"/>
          <a:stretch>
            <a:fillRect/>
          </a:stretch>
        </p:blipFill>
        <p:spPr>
          <a:xfrm>
            <a:off x="5686000" y="1640785"/>
            <a:ext cx="5930000" cy="4278430"/>
          </a:xfrm>
          <a:prstGeom prst="rect">
            <a:avLst/>
          </a:prstGeom>
        </p:spPr>
      </p:pic>
      <p:sp>
        <p:nvSpPr>
          <p:cNvPr id="6" name="TextBox 5"/>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7" name="TextBox 6"/>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a:xfrm>
            <a:off x="576000" y="1410000"/>
            <a:ext cx="5360000" cy="3500000"/>
          </a:xfrm>
        </p:spPr>
        <p:txBody>
          <a:bodyPr wrap="square" anchor="ctr"/>
          <a:lstStyle/>
          <a:p>
            <a:pPr>
              <a:spcBef>
                <a:spcPts val="200"/>
              </a:spcBef>
              <a:spcAft>
                <a:spcPts val="800"/>
              </a:spcAft>
            </a:pPr>
            <a:r>
              <a:rPr sz="2000" b="1">
                <a:solidFill>
                  <a:srgbClr val="2F4D5D"/>
                </a:solidFill>
              </a:rPr>
              <a:t>Where MTOP pays off most</a:t>
            </a:r>
          </a:p>
          <a:p>
            <a:pPr lvl="1">
              <a:spcBef>
                <a:spcPts val="200"/>
              </a:spcBef>
              <a:spcAft>
                <a:spcPts val="800"/>
              </a:spcAft>
            </a:pPr>
            <a:r>
              <a:rPr sz="1700" b="0">
                <a:solidFill>
                  <a:srgbClr val="2F4D5D"/>
                </a:solidFill>
              </a:rPr>
              <a:t>3D problems: the equilibrium solve dominates far more, so the speedup is larger</a:t>
            </a:r>
          </a:p>
          <a:p>
            <a:pPr lvl="1">
              <a:spcBef>
                <a:spcPts val="200"/>
              </a:spcBef>
              <a:spcAft>
                <a:spcPts val="800"/>
              </a:spcAft>
            </a:pPr>
            <a:r>
              <a:rPr sz="1700" b="0">
                <a:solidFill>
                  <a:srgbClr val="2F4D5D"/>
                </a:solidFill>
              </a:rPr>
              <a:t>Smaller filter radii and finer features, which a plain coarse model cannot resolve</a:t>
            </a:r>
          </a:p>
          <a:p>
            <a:pPr lvl="1">
              <a:spcBef>
                <a:spcPts val="200"/>
              </a:spcBef>
              <a:spcAft>
                <a:spcPts val="800"/>
              </a:spcAft>
            </a:pPr>
            <a:r>
              <a:rPr sz="1700" b="0">
                <a:solidFill>
                  <a:srgbClr val="2F4D5D"/>
                </a:solidFill>
              </a:rPr>
              <a:t>Cases that need the fine design description, not only the overall load path</a:t>
            </a:r>
          </a:p>
        </p:txBody>
      </p:sp>
      <p:sp>
        <p:nvSpPr>
          <p:cNvPr id="3" name="Content Placeholder 2"/>
          <p:cNvSpPr>
            <a:spLocks noGrp="1"/>
          </p:cNvSpPr>
          <p:nvPr>
            <p:ph idx="13" sz="quarter"/>
          </p:nvPr>
        </p:nvSpPr>
        <p:spPr>
          <a:xfrm>
            <a:off x="6256000" y="1410000"/>
            <a:ext cx="5360000" cy="3500000"/>
          </a:xfrm>
        </p:spPr>
        <p:txBody>
          <a:bodyPr wrap="square" anchor="ctr"/>
          <a:lstStyle/>
          <a:p>
            <a:pPr>
              <a:spcBef>
                <a:spcPts val="200"/>
              </a:spcBef>
              <a:spcAft>
                <a:spcPts val="800"/>
              </a:spcAft>
            </a:pPr>
            <a:r>
              <a:rPr sz="2000" b="1">
                <a:solidFill>
                  <a:srgbClr val="2F4D5D"/>
                </a:solidFill>
              </a:rPr>
              <a:t>Open issues and limitations</a:t>
            </a:r>
          </a:p>
          <a:p>
            <a:pPr lvl="1">
              <a:spcBef>
                <a:spcPts val="200"/>
              </a:spcBef>
              <a:spcAft>
                <a:spcPts val="800"/>
              </a:spcAft>
            </a:pPr>
            <a:r>
              <a:rPr sz="1700" b="0">
                <a:solidFill>
                  <a:srgbClr val="2F4D5D"/>
                </a:solidFill>
              </a:rPr>
              <a:t>Density filtering needs a convergence criterion beyond the design-change tolerance</a:t>
            </a:r>
          </a:p>
          <a:p>
            <a:pPr lvl="1">
              <a:spcBef>
                <a:spcPts val="200"/>
              </a:spcBef>
              <a:spcAft>
                <a:spcPts val="800"/>
              </a:spcAft>
            </a:pPr>
            <a:r>
              <a:rPr sz="1700" b="0">
                <a:solidFill>
                  <a:srgbClr val="2F4D5D"/>
                </a:solidFill>
              </a:rPr>
              <a:t>Filtering, assembly and the optimizer still scale with the fine mesh and cap the speedup</a:t>
            </a:r>
          </a:p>
          <a:p>
            <a:pPr lvl="1">
              <a:spcBef>
                <a:spcPts val="200"/>
              </a:spcBef>
              <a:spcAft>
                <a:spcPts val="800"/>
              </a:spcAft>
            </a:pPr>
            <a:r>
              <a:rPr sz="1700" b="0">
                <a:solidFill>
                  <a:srgbClr val="2F4D5D"/>
                </a:solidFill>
              </a:rPr>
              <a:t>With MMA the optimizer subproblem, not the FE solve, is the bottleneck</a:t>
            </a:r>
          </a:p>
        </p:txBody>
      </p:sp>
      <p:sp>
        <p:nvSpPr>
          <p:cNvPr id="4" name="Title 3"/>
          <p:cNvSpPr>
            <a:spLocks noGrp="1"/>
          </p:cNvSpPr>
          <p:nvPr>
            <p:ph type="title"/>
          </p:nvPr>
        </p:nvSpPr>
        <p:spPr/>
        <p:txBody>
          <a:bodyPr/>
          <a:lstStyle/>
          <a:p>
            <a:r>
              <a:rPr sz="3200"/>
              <a:t>Future work and outlook</a:t>
            </a:r>
          </a:p>
        </p:txBody>
      </p:sp>
      <p:sp>
        <p:nvSpPr>
          <p:cNvPr id="5" name="TextBox 4"/>
          <p:cNvSpPr txBox="1"/>
          <p:nvPr/>
        </p:nvSpPr>
        <p:spPr>
          <a:xfrm>
            <a:off x="576000" y="5110000"/>
            <a:ext cx="11040000" cy="680000"/>
          </a:xfrm>
          <a:prstGeom prst="rect">
            <a:avLst/>
          </a:prstGeom>
          <a:noFill/>
        </p:spPr>
        <p:txBody>
          <a:bodyPr wrap="square" anchor="ctr" lIns="36000" rIns="36000" tIns="18000" bIns="18000">
            <a:spAutoFit/>
          </a:bodyPr>
          <a:lstStyle/>
          <a:p>
            <a:pPr algn="ctr"/>
            <a:r>
              <a:rPr sz="2600" b="1">
                <a:solidFill>
                  <a:srgbClr val="1D8DB0"/>
                </a:solidFill>
              </a:rPr>
              <a:t>Thank you for your attention. Questions?</a:t>
            </a:r>
          </a:p>
        </p:txBody>
      </p:sp>
      <p:sp>
        <p:nvSpPr>
          <p:cNvPr id="6" name="TextBox 5"/>
          <p:cNvSpPr txBox="1"/>
          <p:nvPr/>
        </p:nvSpPr>
        <p:spPr>
          <a:xfrm>
            <a:off x="6033600" y="6210000"/>
            <a:ext cx="4993200" cy="648000"/>
          </a:xfrm>
          <a:prstGeom prst="rect">
            <a:avLst/>
          </a:prstGeom>
          <a:noFill/>
        </p:spPr>
        <p:txBody>
          <a:bodyPr wrap="square" anchor="ctr" lIns="36000" rIns="36000" tIns="18000" bIns="18000">
            <a:spAutoFit/>
          </a:bodyPr>
          <a:lstStyle/>
          <a:p>
            <a:pPr algn="r"/>
            <a:r>
              <a:rPr sz="1000" b="0">
                <a:solidFill>
                  <a:srgbClr val="FFFFFF"/>
                </a:solidFill>
              </a:rPr>
              <a:t>Structural Optimization (B-KUL-H0T88A)</a:t>
            </a:r>
          </a:p>
        </p:txBody>
      </p:sp>
      <p:sp>
        <p:nvSpPr>
          <p:cNvPr id="7" name="TextBox 6"/>
          <p:cNvSpPr txBox="1"/>
          <p:nvPr/>
        </p:nvSpPr>
        <p:spPr>
          <a:xfrm>
            <a:off x="576000" y="6210000"/>
            <a:ext cx="648000" cy="648000"/>
          </a:xfrm>
          <a:prstGeom prst="rect">
            <a:avLst/>
          </a:prstGeom>
          <a:noFill/>
        </p:spPr>
        <p:txBody>
          <a:bodyPr wrap="square" anchor="ctr" lIns="36000" rIns="36000" tIns="18000" bIns="18000">
            <a:spAutoFit/>
          </a:bodyPr>
          <a:lstStyle/>
          <a:p>
            <a:pPr algn="l"/>
            <a:r>
              <a:rPr sz="1000" b="0">
                <a:solidFill>
                  <a:srgbClr val="FFFFFF"/>
                </a:solidFill>
              </a:rPr>
              <a:t>14</a:t>
            </a:r>
          </a:p>
        </p:txBody>
      </p:sp>
    </p:spTree>
  </p:cSld>
  <p:clrMapOvr>
    <a:masterClrMapping/>
  </p:clrMapOvr>
</p:sld>
</file>

<file path=ppt/theme/theme1.xml><?xml version="1.0" encoding="utf-8"?>
<a:theme xmlns:a="http://schemas.openxmlformats.org/drawingml/2006/main" name="KU Leuven">
  <a:themeElements>
    <a:clrScheme name="Custom 14">
      <a:dk1>
        <a:srgbClr val="2F4D5D"/>
      </a:dk1>
      <a:lt1>
        <a:srgbClr val="FFFFFF"/>
      </a:lt1>
      <a:dk2>
        <a:srgbClr val="1D8DB0"/>
      </a:dk2>
      <a:lt2>
        <a:srgbClr val="DCE7F0"/>
      </a:lt2>
      <a:accent1>
        <a:srgbClr val="1D8DB0"/>
      </a:accent1>
      <a:accent2>
        <a:srgbClr val="2F4D5D"/>
      </a:accent2>
      <a:accent3>
        <a:srgbClr val="52BDEC"/>
      </a:accent3>
      <a:accent4>
        <a:srgbClr val="466E87"/>
      </a:accent4>
      <a:accent5>
        <a:srgbClr val="E7B037"/>
      </a:accent5>
      <a:accent6>
        <a:srgbClr val="D4D842"/>
      </a:accent6>
      <a:hlink>
        <a:srgbClr val="466E87"/>
      </a:hlink>
      <a:folHlink>
        <a:srgbClr val="1D8D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U Leuven Sedes">
  <a:themeElements>
    <a:clrScheme name="Custom 14">
      <a:dk1>
        <a:srgbClr val="2F4D5D"/>
      </a:dk1>
      <a:lt1>
        <a:srgbClr val="FFFFFF"/>
      </a:lt1>
      <a:dk2>
        <a:srgbClr val="1D8DB0"/>
      </a:dk2>
      <a:lt2>
        <a:srgbClr val="DCE7F0"/>
      </a:lt2>
      <a:accent1>
        <a:srgbClr val="1D8DB0"/>
      </a:accent1>
      <a:accent2>
        <a:srgbClr val="2F4D5D"/>
      </a:accent2>
      <a:accent3>
        <a:srgbClr val="52BDEC"/>
      </a:accent3>
      <a:accent4>
        <a:srgbClr val="466E87"/>
      </a:accent4>
      <a:accent5>
        <a:srgbClr val="E7B037"/>
      </a:accent5>
      <a:accent6>
        <a:srgbClr val="D4D842"/>
      </a:accent6>
      <a:hlink>
        <a:srgbClr val="466E87"/>
      </a:hlink>
      <a:folHlink>
        <a:srgbClr val="1D8DB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U Leuven" id="{BC384CAF-57B4-4083-BC3D-22218BF4A46A}" vid="{75672E21-F18C-4958-94B8-19E54344552B}"/>
    </a:ext>
  </a:extLst>
</a:theme>
</file>

<file path=ppt/theme/theme3.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KU Leuven</Template>
  <TotalTime>0</TotalTime>
  <Words>179</Words>
  <Application>Microsoft Office PowerPoint</Application>
  <PresentationFormat>Breedbeeld</PresentationFormat>
  <Paragraphs>17</Paragraphs>
  <Slides>4</Slides>
  <Notes>0</Notes>
  <HiddenSlides>0</HiddenSlides>
  <MMClips>0</MMClips>
  <ScaleCrop>false</ScaleCrop>
  <HeadingPairs>
    <vt:vector size="6" baseType="variant">
      <vt:variant>
        <vt:lpstr>Gebruikte lettertypen</vt:lpstr>
      </vt:variant>
      <vt:variant>
        <vt:i4>2</vt:i4>
      </vt:variant>
      <vt:variant>
        <vt:lpstr>Thema</vt:lpstr>
      </vt:variant>
      <vt:variant>
        <vt:i4>2</vt:i4>
      </vt:variant>
      <vt:variant>
        <vt:lpstr>Diatitels</vt:lpstr>
      </vt:variant>
      <vt:variant>
        <vt:i4>4</vt:i4>
      </vt:variant>
    </vt:vector>
  </HeadingPairs>
  <TitlesOfParts>
    <vt:vector size="8" baseType="lpstr">
      <vt:lpstr>Arial</vt:lpstr>
      <vt:lpstr>Calibri</vt:lpstr>
      <vt:lpstr>KU Leuven</vt:lpstr>
      <vt:lpstr>KU Leuven Sedes</vt:lpstr>
      <vt:lpstr>Sjabloon aanpassen aan eigen faculteit, departement of dienst</vt:lpstr>
      <vt:lpstr>Gebruik van de indelingen in het sjabloon (1)</vt:lpstr>
      <vt:lpstr>Gebruik van de indelingen in het sjabloon (2)</vt:lpstr>
      <vt:lpstr>PowerPoint-presentatie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2017-09-13T11:47:32Z</dcterms:created>
  <dcterms:modified xsi:type="dcterms:W3CDTF">2024-11-29T12:30:02Z</dcterms:modified>
</cp:coreProperties>
</file>