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 id="2147483694" r:id="rId2"/>
  </p:sldMasterIdLst>
  <p:notesMasterIdLst>
    <p:notesMasterId r:id="rId26"/>
  </p:notesMasterIdLst>
  <p:handoutMasterIdLst>
    <p:handoutMasterId r:id="rId27"/>
  </p:handout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F4D5D"/>
    <a:srgbClr val="DCE7F0"/>
    <a:srgbClr val="1D8DB0"/>
    <a:srgbClr val="005E7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659" autoAdjust="0"/>
    <p:restoredTop sz="94652"/>
  </p:normalViewPr>
  <p:slideViewPr>
    <p:cSldViewPr snapToGrid="0" snapToObjects="1">
      <p:cViewPr varScale="1">
        <p:scale>
          <a:sx n="95" d="100"/>
          <a:sy n="95" d="100"/>
        </p:scale>
        <p:origin x="269" y="72"/>
      </p:cViewPr>
      <p:guideLst/>
    </p:cSldViewPr>
  </p:slideViewPr>
  <p:notesTextViewPr>
    <p:cViewPr>
      <p:scale>
        <a:sx n="1" d="1"/>
        <a:sy n="1" d="1"/>
      </p:scale>
      <p:origin x="0" y="0"/>
    </p:cViewPr>
  </p:notesTextViewPr>
  <p:sorterViewPr>
    <p:cViewPr>
      <p:scale>
        <a:sx n="66" d="100"/>
        <a:sy n="66" d="100"/>
      </p:scale>
      <p:origin x="0" y="0"/>
    </p:cViewPr>
  </p:sorterViewPr>
  <p:notesViewPr>
    <p:cSldViewPr snapToGrid="0" snapToObjects="1">
      <p:cViewPr varScale="1">
        <p:scale>
          <a:sx n="158" d="100"/>
          <a:sy n="158" d="100"/>
        </p:scale>
        <p:origin x="4240" y="20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handoutMaster" Target="handoutMasters/handoutMaster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F591CCF-F6FD-734B-854A-5BC033593B1E}" type="datetimeFigureOut">
              <a:rPr lang="nl-NL" smtClean="0"/>
              <a:t>20-5-2026</a:t>
            </a:fld>
            <a:endParaRPr lang="nl-NL"/>
          </a:p>
        </p:txBody>
      </p:sp>
      <p:sp>
        <p:nvSpPr>
          <p:cNvPr id="4" name="Tijdelijke aanduiding voor voettekst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152A6D4-CD3D-5148-8B70-A84796F20135}" type="slidenum">
              <a:rPr lang="nl-NL" smtClean="0"/>
              <a:t>‹#›</a:t>
            </a:fld>
            <a:endParaRPr lang="nl-NL"/>
          </a:p>
        </p:txBody>
      </p:sp>
    </p:spTree>
    <p:extLst>
      <p:ext uri="{BB962C8B-B14F-4D97-AF65-F5344CB8AC3E}">
        <p14:creationId xmlns:p14="http://schemas.microsoft.com/office/powerpoint/2010/main" val="45891639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3C66214-DB21-4647-B5DA-0D17CA592867}" type="datetimeFigureOut">
              <a:rPr lang="nl-NL" smtClean="0"/>
              <a:t>20-5-2026</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54E32A-327F-AF4B-8E1F-209FBF93D26D}" type="slidenum">
              <a:rPr lang="nl-NL" smtClean="0"/>
              <a:t>‹#›</a:t>
            </a:fld>
            <a:endParaRPr lang="nl-NL"/>
          </a:p>
        </p:txBody>
      </p:sp>
    </p:spTree>
    <p:extLst>
      <p:ext uri="{BB962C8B-B14F-4D97-AF65-F5344CB8AC3E}">
        <p14:creationId xmlns:p14="http://schemas.microsoft.com/office/powerpoint/2010/main" val="14640467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Lukas   |   Target ~25 s</a:t>
            </a:r>
          </a:p>
          <a:p>
            <a:endParaRPr/>
          </a:p>
          <a:p>
            <a:r>
              <a:t>[Pacing: the whole talk targets about 12 minutes, roughly 6 minutes per presenter. Speak at a measured pace and do not rush the figures; the per-slide targets below sum to about 12 minutes.]</a:t>
            </a:r>
          </a:p>
          <a:p>
            <a:endParaRPr/>
          </a:p>
          <a:p>
            <a:r>
              <a:t>Greeting. Our examination assignment is on multiresolution topology optimization, MTOP. In topology optimization the question is where to put material to make a structure as stiff as possible; here the question is whether we can answer that question faster. We assessed MTOP on the half MBB beam and compared it head-to-head with the classical approach. The image is our optimized beam.</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Lukas   |   Target ~50 s</a:t>
            </a:r>
          </a:p>
          <a:p>
            <a:endParaRPr/>
          </a:p>
          <a:p>
            <a:r>
              <a:t>Topology optimization distributes a fixed amount of material so the structure is as stiff as possible. The cost is dominated by repeatedly solving the finite element system K u = f: every optimization iteration needs a fresh solve, and a run takes on the order of a hundred iterations, so that solve cost is paid over and over.</a:t>
            </a:r>
          </a:p>
          <a:p>
            <a:r>
              <a:t>MTOP, introduced by Nguyen and co-workers in 2010, splits the problem: the design is still described on a fine mesh, but the equilibrium equations are solved on a coarse mesh, which should be much cheaper.</a:t>
            </a:r>
          </a:p>
          <a:p>
            <a:r>
              <a:t>The catch: the original paper never reported computation times. So our research question is exactly that - how large is the speedup, and does the optimized design stay the same?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Lukas   |   Target ~45 s</a:t>
            </a:r>
          </a:p>
          <a:p>
            <a:endParaRPr/>
          </a:p>
          <a:p>
            <a:r>
              <a:t>Our test structure is the half MBB beam from the Chapter 9 lecture code. A unit point load at the top-left corner, a symmetry condition on the left edge, and a roller at the bottom-right. Plane stress, bilinear quad elements.</a:t>
            </a:r>
          </a:p>
          <a:p>
            <a:r>
              <a:t>The optimization targets a volume fraction of one half, SIMP penalization three, and a cone filter of radius 24 density cells. Important: these settings are identical for every experiment, so any difference we see is genuinely due to MTOP, not to a change of parameters. That is what makes the comparison a fair one.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Lukas   |   Target ~75 s</a:t>
            </a:r>
          </a:p>
          <a:p>
            <a:endParaRPr/>
          </a:p>
          <a:p>
            <a:r>
              <a:t>This is the heart of MTOP. In the classical approach the analysis mesh and the design mesh are the same, 600 by 200.</a:t>
            </a:r>
          </a:p>
          <a:p>
            <a:r>
              <a:t>In MTOP we keep the 600 by 200 design resolution, but we analyze on a coarse 120 by 40 mesh, with 5 by 5 density cells inside each finite element - that is the zoom on the right. Each element's stiffness is integrated with one midpoint sample per density cell, so 25 small stiffness templates, which are precomputed once per run.</a:t>
            </a:r>
          </a:p>
          <a:p>
            <a:r>
              <a:t>One point worth stressing: the displacement field is still only piecewise-bilinear on the coarse mesh. The fine density mesh refines how we describe the material, not how we resolve the displacements - that is the approximation MTOP makes, and it is exactly why we always re-check the final design on the fine mesh.</a:t>
            </a:r>
          </a:p>
          <a:p>
            <a:r>
              <a:t>The payoff is the number of equations: the free degrees of freedom drop from about 241,000 to about 9,900. That factor is the speedup we are chasing.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Lukas   |   Target ~55 s</a:t>
            </a:r>
          </a:p>
          <a:p>
            <a:endParaRPr/>
          </a:p>
          <a:p>
            <a:r>
              <a:t>Quickly, the optimization problem. The design variables are the cell densities, the objective is to minimize compliance, and the constraint is the volume fraction of one half. SIMP with penalization three, and a cone filter of radius 24, used either as a sensitivity filter or a density filter.</a:t>
            </a:r>
          </a:p>
          <a:p>
            <a:r>
              <a:t>On the optimizer: OC is a simple, fast update tailored to this kind of problem; MMA is a general-purpose gradient optimizer. We need MMA in step 4 because the Heaviside projection makes the problem too non-linear for the OC heuristic.</a:t>
            </a:r>
          </a:p>
          <a:p>
            <a:r>
              <a:t>We ran the seven experiments in the table: optimality criteria for steps 1 to 3, then MMA for step 4 with sensitivity filtering, density filtering, and Heaviside projection at three thresholds. Every MTOP run has a classical counterpart for comparison.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Lukas   |   Target ~45 s</a:t>
            </a:r>
          </a:p>
          <a:p>
            <a:endParaRPr/>
          </a:p>
          <a:p>
            <a:r>
              <a:t>Before trusting any result we verified the sensitivities - the gradients the optimizer relies on. We checked three derivative chains: the classical SIMP gradient, the MTOP per-cell gradient, and the full Heaviside chain, each with three finite-difference strategies.</a:t>
            </a:r>
          </a:p>
          <a:p>
            <a:r>
              <a:t>The strongest is the Taylor remainder test, the right-hand panel: it should decay quadratically with the step size, and the fitted slope is essentially 2.00 for all three chains, with errors down to ten to the minus six. The component-wise check also pins any indexing or chain-rule error to a single variable, which is how we caught bugs during development. So the analytical gradients are correct.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Lukas   |   Target ~50 s</a:t>
            </a:r>
          </a:p>
          <a:p>
            <a:endParaRPr/>
          </a:p>
          <a:p>
            <a:r>
              <a:t>Now the results. Steps 1 and 2: optimality criteria with sensitivity filtering. On the right, the classical design on top, the MTOP design in the middle, and their difference at the bottom.</a:t>
            </a:r>
          </a:p>
          <a:p>
            <a:r>
              <a:t>The two layouts are the same truss. Physically: a top chord in compression near the load, a bottom chord in tension near the support, and a triangulated web carrying the shear toward the support. The difference plot is almost empty, just small boundary shifts, an RMS of three thousandths. Re-evaluated on the same fine mesh the compliances differ by 0.045 percent.</a:t>
            </a:r>
          </a:p>
          <a:p>
            <a:r>
              <a:t>So MTOP does not change the design. I will hand over to Tiebert for how much faster it is.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Tiebert   (takes over from Lukas)   |   Target ~45 s</a:t>
            </a:r>
          </a:p>
          <a:p>
            <a:endParaRPr/>
          </a:p>
          <a:p>
            <a:r>
              <a:t>Thanks. So the designs are identical, but the timing is not. This plot is compliance against wall-clock time - classical in blue, MTOP in orange.</a:t>
            </a:r>
          </a:p>
          <a:p>
            <a:r>
              <a:t>It is worth stressing the iteration counts, 94 and 95: MTOP is not converging differently or cutting corners, it follows the same optimization path. But the classical run takes 263 seconds and the MTOP run takes 12 - a factor of 21. You can see the orange curve squeezed against the time axis.</a:t>
            </a:r>
          </a:p>
          <a:p>
            <a:r>
              <a:t>Same design, same iteration count, each iteration simply cheaper: 21 times faster overall.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Tiebert   |   Target ~50 s</a:t>
            </a:r>
          </a:p>
          <a:p>
            <a:endParaRPr/>
          </a:p>
          <a:p>
            <a:r>
              <a:t>Step 3 repeats the comparison with a density filter instead of a sensitivity filter. The designs are again almost identical, 0.04 percent in compliance.</a:t>
            </a:r>
          </a:p>
          <a:p>
            <a:r>
              <a:t>But the speedup drops from 21 to about 5. The density filter adds a chain-rule convolution and a volume check that still run on the full 600 by 200 density mesh, so they do not shrink with the analysis mesh.</a:t>
            </a:r>
          </a:p>
          <a:p>
            <a:r>
              <a:t>There is also a convergence subtlety. With a density filter the OC update never quite meets the design-change tolerance. The reason: OC rescales each variable on its own, while the filter spreads every change over a neighbourhood, so the two fight at the member boundaries. The compliance settles, but the design keeps oscillating, so we stop on a compliance plateau instead.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Tiebert   |   Target ~65 s</a:t>
            </a:r>
          </a:p>
          <a:p>
            <a:endParaRPr/>
          </a:p>
          <a:p>
            <a:r>
              <a:t>Step 4 swaps the optimality-criteria update for MMA, the method of moving asymptotes. MMA on its own gives a design close to the OC result, and it does not by itself fix the density-filter convergence issue.</a:t>
            </a:r>
          </a:p>
          <a:p>
            <a:r>
              <a:t>The real benefit comes with Heaviside projection, which pushes the gray material towards either solid or void. One implementation detail: we ramp the projection sharpness, beta, gradually - doubling it every fifty iterations from one up to sixteen - so the optimizer is never hit with a sharp threshold all at once. That continuation is what keeps the projected runs stable.</a:t>
            </a:r>
          </a:p>
          <a:p>
            <a:r>
              <a:t>On the right are the three projected designs, for thresholds 0.3, 0.5 and 0.7: all near black-and-white, all the same load path. The projected compliance is about 17 percent below the gray density-filtered design, and the three thresholds differ by less than 0.7 percent, with 0.5 marginally the best.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Tiebert   |   Target ~55 s</a:t>
            </a:r>
          </a:p>
          <a:p>
            <a:endParaRPr/>
          </a:p>
          <a:p>
            <a:r>
              <a:t>So where does the speedup actually come from? This chart breaks each run into algorithmic phases.</a:t>
            </a:r>
          </a:p>
          <a:p>
            <a:r>
              <a:t>For the classical OC run, the green block - the finite element solve - is 82 percent of the time. MTOP shrinks exactly that block. To put numbers on it: the FE solve alone drops from about 215 seconds to about 5, a 40-fold gain, but the total only goes from 263 to 12, a 21-fold gain.</a:t>
            </a:r>
          </a:p>
          <a:p>
            <a:r>
              <a:t>The difference is the rest of the work - filtering, assembly, the optimizer update - which still acts on the full density mesh and does not shrink. For the MMA runs the red optimizer block dominates, so there the equilibrium solve is no longer the bottleneck at all.</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Tiebert   |   Target ~50 s</a:t>
            </a:r>
          </a:p>
          <a:p>
            <a:endParaRPr/>
          </a:p>
          <a:p>
            <a:r>
              <a:t>One honest qualification. We also ran a plain coarse model, 120 by 40 for both the analysis and the design. Re-analyzed on the fine mesh, it lands within 0.6 percent of the full design.</a:t>
            </a:r>
          </a:p>
          <a:p>
            <a:r>
              <a:t>So for this 2D beam, with a fairly large filter, even a crude model already finds the load path. But the comparison is not entirely fair to that coarse model: it is also grayer, with more intermediate material, so part of its apparently low compliance is just material that SIMP has not fully penalized.</a:t>
            </a:r>
          </a:p>
          <a:p>
            <a:r>
              <a:t>MTOP's real value is that it keeps the full 600-by-200 design description, and a genuinely black-and-white one, while only paying for the coarse solve.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Tiebert   |   Target ~50 s</a:t>
            </a:r>
          </a:p>
          <a:p>
            <a:endParaRPr/>
          </a:p>
          <a:p>
            <a:r>
              <a:t>To conclude. MTOP reproduces the classical MBB design to within 0.05 percent compliance. It is 21 times faster with sensitivity filtering and 5 times faster with density filtering.</a:t>
            </a:r>
          </a:p>
          <a:p>
            <a:r>
              <a:t>The speedup comes from the cheaper coarse equilibrium solve, and is capped by the operations that still run on the fine mesh. OC with density filtering converges only in the compliance sense. And Heaviside projection gives the lowest, near-binary compliance, best at threshold 0.5. The chart on the right summarizes all nine runs - cost on the left, compliance on the right.</a:t>
            </a:r>
          </a:p>
          <a:p>
            <a:r>
              <a:t>If we had to compress it to one sentence: MTOP buys the speed of a coarse analysis without giving up the resolution of a fine design.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Tiebert   |   Target ~25 s</a:t>
            </a:r>
          </a:p>
          <a:p>
            <a:endParaRPr/>
          </a:p>
          <a:p>
            <a:r>
              <a:t>A brief word on GenAI. We used ChatGPT as a support tool: to language-edit text we had written ourselves, for post-processing and plotting scripts, and for one supporting theory figure, the MMA sketch.</a:t>
            </a:r>
          </a:p>
          <a:p>
            <a:r>
              <a:t>We did not use it for the method or the results. The MTOP implementation is ours, every sensitivity was verified independently with finite differences, and every number in this talk we reproduced and understand. The full transparency table is in the report.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Tiebert   |   Target ~40 s</a:t>
            </a:r>
          </a:p>
          <a:p>
            <a:endParaRPr/>
          </a:p>
          <a:p>
            <a:r>
              <a:t>To close, a brief outlook. Our headline numbers are for a 2D beam, where a plain coarse model already came within 0.6 percent, so the 2D benefit was modest. MTOP pays off most where the equilibrium solve genuinely dominates the cost: in 3D, with much larger systems, and where the design has fine features a coarse model cannot resolve, so keeping the fine density description is worth it. In 3D in particular the speedup we measured here would only grow, since the solve is an even larger share of the cost.</a:t>
            </a:r>
          </a:p>
          <a:p>
            <a:r>
              <a:t>Three open issues from this study: density filtering needs a better convergence criterion than the design-change tolerance; the filtering, assembly and optimizer steps still scale with the fine mesh and cap the speedup below the 40 times of the solve itself; and with MMA the optimizer subproblem, not the FE solve, becomes the bottleneck.</a:t>
            </a:r>
          </a:p>
          <a:p>
            <a:r>
              <a:t>Thank you - we are happy to take questions.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 Use for questions on the optimization formulation, SIMP penalization, or the two filters.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 Use for questions on the MTOP element, the 25 sub-cell templates, midpoint quadrature, and the per-cell sensitivity.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 Use for questions on how the sensitivities were verified and how accurate they are.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 The full results table for any question on a specific run, its compliance, cost, or stopping criterion.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 Use for questions on why native and fine-mesh compliance differ, and on the coarse-resolution baseline.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 Use for questions on the OC update rule, the Lagrange-multiplier bisection, or how MMA works.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 Use for questions on the Heaviside projection, the threshold eta, and the beta-continuation strategy. The figure shows compliance, volume and beta versus iteration for eta = 0.5.</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dia">
    <p:spTree>
      <p:nvGrpSpPr>
        <p:cNvPr id="1" name=""/>
        <p:cNvGrpSpPr/>
        <p:nvPr/>
      </p:nvGrpSpPr>
      <p:grpSpPr>
        <a:xfrm>
          <a:off x="0" y="0"/>
          <a:ext cx="0" cy="0"/>
          <a:chOff x="0" y="0"/>
          <a:chExt cx="0" cy="0"/>
        </a:xfrm>
      </p:grpSpPr>
      <p:sp>
        <p:nvSpPr>
          <p:cNvPr id="7" name="Rechthoek 6"/>
          <p:cNvSpPr/>
          <p:nvPr userDrawn="1"/>
        </p:nvSpPr>
        <p:spPr>
          <a:xfrm>
            <a:off x="0" y="0"/>
            <a:ext cx="121932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10" name="Rechthoek 9"/>
          <p:cNvSpPr/>
          <p:nvPr userDrawn="1"/>
        </p:nvSpPr>
        <p:spPr>
          <a:xfrm>
            <a:off x="0" y="648000"/>
            <a:ext cx="12193200" cy="6210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8" name="Rechthoek 7"/>
          <p:cNvSpPr/>
          <p:nvPr userDrawn="1"/>
        </p:nvSpPr>
        <p:spPr>
          <a:xfrm>
            <a:off x="0" y="647998"/>
            <a:ext cx="12193200" cy="44568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pic>
        <p:nvPicPr>
          <p:cNvPr id="9" name="Afbeelding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0000" y="360000"/>
            <a:ext cx="2018135" cy="720000"/>
          </a:xfrm>
          <a:prstGeom prst="rect">
            <a:avLst/>
          </a:prstGeom>
        </p:spPr>
      </p:pic>
      <p:sp>
        <p:nvSpPr>
          <p:cNvPr id="2" name="Titel 1"/>
          <p:cNvSpPr>
            <a:spLocks noGrp="1"/>
          </p:cNvSpPr>
          <p:nvPr>
            <p:ph type="ctrTitle"/>
          </p:nvPr>
        </p:nvSpPr>
        <p:spPr>
          <a:xfrm>
            <a:off x="575999" y="1080000"/>
            <a:ext cx="6096524" cy="4024798"/>
          </a:xfrm>
        </p:spPr>
        <p:txBody>
          <a:bodyPr anchor="ctr" anchorCtr="0">
            <a:normAutofit/>
          </a:bodyPr>
          <a:lstStyle>
            <a:lvl1pPr algn="l">
              <a:defRPr sz="4000" baseline="0">
                <a:solidFill>
                  <a:schemeClr val="bg1"/>
                </a:solidFill>
              </a:defRPr>
            </a:lvl1pPr>
          </a:lstStyle>
          <a:p>
            <a:r>
              <a:rPr lang="en-US" dirty="0"/>
              <a:t>Click to edit Master title style</a:t>
            </a:r>
            <a:endParaRPr lang="nl-NL" dirty="0"/>
          </a:p>
        </p:txBody>
      </p:sp>
      <p:sp>
        <p:nvSpPr>
          <p:cNvPr id="3" name="Ondertitel 2"/>
          <p:cNvSpPr>
            <a:spLocks noGrp="1"/>
          </p:cNvSpPr>
          <p:nvPr>
            <p:ph type="subTitle" idx="1"/>
          </p:nvPr>
        </p:nvSpPr>
        <p:spPr>
          <a:xfrm>
            <a:off x="575999" y="5392801"/>
            <a:ext cx="6096524" cy="730188"/>
          </a:xfrm>
        </p:spPr>
        <p:txBody>
          <a:bodyPr lIns="0" tIns="0" rIns="0" bIns="0"/>
          <a:lstStyle>
            <a:lvl1pPr marL="0" indent="0" algn="l">
              <a:buNone/>
              <a:defRPr sz="240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nl-NL" dirty="0"/>
          </a:p>
        </p:txBody>
      </p:sp>
      <p:sp>
        <p:nvSpPr>
          <p:cNvPr id="5" name="Picture Placeholder 4"/>
          <p:cNvSpPr>
            <a:spLocks noGrp="1"/>
          </p:cNvSpPr>
          <p:nvPr>
            <p:ph type="pic" sz="quarter" idx="10"/>
          </p:nvPr>
        </p:nvSpPr>
        <p:spPr>
          <a:xfrm>
            <a:off x="7248525" y="1654175"/>
            <a:ext cx="4368673" cy="4468813"/>
          </a:xfrm>
        </p:spPr>
        <p:txBody>
          <a:bodyPr/>
          <a:lstStyle/>
          <a:p>
            <a:r>
              <a:rPr lang="en-US"/>
              <a:t>Click icon to add picture</a:t>
            </a:r>
            <a:endParaRPr lang="nl-NL"/>
          </a:p>
        </p:txBody>
      </p:sp>
    </p:spTree>
    <p:extLst>
      <p:ext uri="{BB962C8B-B14F-4D97-AF65-F5344CB8AC3E}">
        <p14:creationId xmlns:p14="http://schemas.microsoft.com/office/powerpoint/2010/main" val="1128617704"/>
      </p:ext>
    </p:extLst>
  </p:cSld>
  <p:clrMapOvr>
    <a:masterClrMapping/>
  </p:clrMapOvr>
  <p:extLst>
    <p:ext uri="{DCECCB84-F9BA-43D5-87BE-67443E8EF086}">
      <p15:sldGuideLst xmlns:p15="http://schemas.microsoft.com/office/powerpoint/2012/main">
        <p15:guide id="1" orient="horz" pos="1026">
          <p15:clr>
            <a:srgbClr val="FBAE40"/>
          </p15:clr>
        </p15:guide>
        <p15:guide id="2" pos="4203">
          <p15:clr>
            <a:srgbClr val="FBAE40"/>
          </p15:clr>
        </p15:guide>
        <p15:guide id="3" orient="horz" pos="397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en object">
    <p:spTree>
      <p:nvGrpSpPr>
        <p:cNvPr id="1" name=""/>
        <p:cNvGrpSpPr/>
        <p:nvPr/>
      </p:nvGrpSpPr>
      <p:grpSpPr>
        <a:xfrm>
          <a:off x="0" y="0"/>
          <a:ext cx="0" cy="0"/>
          <a:chOff x="0" y="0"/>
          <a:chExt cx="0" cy="0"/>
        </a:xfrm>
      </p:grpSpPr>
      <p:sp>
        <p:nvSpPr>
          <p:cNvPr id="3" name="Tijdelijke aanduiding voor inhoud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4" name="Tijdelijke aanduiding voor datum 3"/>
          <p:cNvSpPr>
            <a:spLocks noGrp="1"/>
          </p:cNvSpPr>
          <p:nvPr>
            <p:ph type="dt" sz="half" idx="10"/>
          </p:nvPr>
        </p:nvSpPr>
        <p:spPr/>
        <p:txBody>
          <a:bodyPr/>
          <a:lstStyle/>
          <a:p>
            <a:fld id="{AA7DF125-8D2F-407C-A946-0B214A077F46}" type="datetime1">
              <a:rPr lang="nl-BE" smtClean="0"/>
              <a:t>20/05/2026</a:t>
            </a:fld>
            <a:endParaRPr lang="nl-NL"/>
          </a:p>
        </p:txBody>
      </p:sp>
      <p:sp>
        <p:nvSpPr>
          <p:cNvPr id="5" name="Tijdelijke aanduiding voor voettekst 4"/>
          <p:cNvSpPr>
            <a:spLocks noGrp="1"/>
          </p:cNvSpPr>
          <p:nvPr>
            <p:ph type="ftr" sz="quarter" idx="11"/>
          </p:nvPr>
        </p:nvSpPr>
        <p:spPr/>
        <p:txBody>
          <a:bodyPr/>
          <a:lstStyle/>
          <a:p>
            <a:r>
              <a:rPr lang="nl-NL"/>
              <a:t>Faculteit, departement, dienst …</a:t>
            </a:r>
          </a:p>
        </p:txBody>
      </p:sp>
      <p:sp>
        <p:nvSpPr>
          <p:cNvPr id="6" name="Tijdelijke aanduiding voor dianummer 5"/>
          <p:cNvSpPr>
            <a:spLocks noGrp="1"/>
          </p:cNvSpPr>
          <p:nvPr>
            <p:ph type="sldNum" sz="quarter" idx="12"/>
          </p:nvPr>
        </p:nvSpPr>
        <p:spPr/>
        <p:txBody>
          <a:bodyPr/>
          <a:lstStyle/>
          <a:p>
            <a:fld id="{0A297500-7527-634B-90F4-69D0994C32B4}" type="slidenum">
              <a:rPr lang="nl-NL" smtClean="0"/>
              <a:t>‹#›</a:t>
            </a:fld>
            <a:endParaRPr lang="nl-NL"/>
          </a:p>
        </p:txBody>
      </p:sp>
      <p:sp>
        <p:nvSpPr>
          <p:cNvPr id="2" name="Titel 1"/>
          <p:cNvSpPr>
            <a:spLocks noGrp="1"/>
          </p:cNvSpPr>
          <p:nvPr>
            <p:ph type="title"/>
          </p:nvPr>
        </p:nvSpPr>
        <p:spPr/>
        <p:txBody>
          <a:bodyPr/>
          <a:lstStyle/>
          <a:p>
            <a:r>
              <a:rPr lang="nl-NL"/>
              <a:t>Klik om de stijl te bewerken</a:t>
            </a:r>
          </a:p>
        </p:txBody>
      </p:sp>
    </p:spTree>
    <p:extLst>
      <p:ext uri="{BB962C8B-B14F-4D97-AF65-F5344CB8AC3E}">
        <p14:creationId xmlns:p14="http://schemas.microsoft.com/office/powerpoint/2010/main" val="21021808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ekop">
    <p:spTree>
      <p:nvGrpSpPr>
        <p:cNvPr id="1" name=""/>
        <p:cNvGrpSpPr/>
        <p:nvPr/>
      </p:nvGrpSpPr>
      <p:grpSpPr>
        <a:xfrm>
          <a:off x="0" y="0"/>
          <a:ext cx="0" cy="0"/>
          <a:chOff x="0" y="0"/>
          <a:chExt cx="0" cy="0"/>
        </a:xfrm>
      </p:grpSpPr>
      <p:sp>
        <p:nvSpPr>
          <p:cNvPr id="7" name="Rechthoek 6"/>
          <p:cNvSpPr/>
          <p:nvPr userDrawn="1"/>
        </p:nvSpPr>
        <p:spPr>
          <a:xfrm>
            <a:off x="0" y="0"/>
            <a:ext cx="12193200" cy="620756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2" name="Titel 1"/>
          <p:cNvSpPr>
            <a:spLocks noGrp="1"/>
          </p:cNvSpPr>
          <p:nvPr>
            <p:ph type="title"/>
          </p:nvPr>
        </p:nvSpPr>
        <p:spPr>
          <a:xfrm>
            <a:off x="575999" y="1800000"/>
            <a:ext cx="6096524" cy="2386800"/>
          </a:xfrm>
        </p:spPr>
        <p:txBody>
          <a:bodyPr anchor="b"/>
          <a:lstStyle>
            <a:lvl1pPr>
              <a:defRPr sz="4000" baseline="0">
                <a:solidFill>
                  <a:schemeClr val="tx2"/>
                </a:solidFill>
              </a:defRPr>
            </a:lvl1pPr>
          </a:lstStyle>
          <a:p>
            <a:r>
              <a:rPr lang="en-US" dirty="0"/>
              <a:t>Click to edit Master title style</a:t>
            </a:r>
            <a:endParaRPr lang="nl-NL" dirty="0"/>
          </a:p>
        </p:txBody>
      </p:sp>
      <p:sp>
        <p:nvSpPr>
          <p:cNvPr id="3" name="Tijdelijke aanduiding voor tekst 2"/>
          <p:cNvSpPr>
            <a:spLocks noGrp="1"/>
          </p:cNvSpPr>
          <p:nvPr>
            <p:ph type="body" idx="1"/>
          </p:nvPr>
        </p:nvSpPr>
        <p:spPr>
          <a:xfrm>
            <a:off x="575999" y="4359600"/>
            <a:ext cx="6096264" cy="1501200"/>
          </a:xfrm>
        </p:spPr>
        <p:txBody>
          <a:bodyPr lIns="0" tIns="0" rIns="0" bIns="0"/>
          <a:lstStyle>
            <a:lvl1pPr marL="0" indent="0">
              <a:buNone/>
              <a:defRPr sz="2400" baseline="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Tijdelijke aanduiding voor datum 3"/>
          <p:cNvSpPr>
            <a:spLocks noGrp="1"/>
          </p:cNvSpPr>
          <p:nvPr>
            <p:ph type="dt" sz="half" idx="10"/>
          </p:nvPr>
        </p:nvSpPr>
        <p:spPr/>
        <p:txBody>
          <a:bodyPr/>
          <a:lstStyle/>
          <a:p>
            <a:fld id="{FE566779-A426-4C6E-B33F-12BA9B572EC4}" type="datetime1">
              <a:rPr lang="nl-BE" smtClean="0"/>
              <a:t>20/05/2026</a:t>
            </a:fld>
            <a:endParaRPr lang="nl-NL" dirty="0"/>
          </a:p>
        </p:txBody>
      </p:sp>
      <p:sp>
        <p:nvSpPr>
          <p:cNvPr id="5" name="Tijdelijke aanduiding voor voettekst 4"/>
          <p:cNvSpPr>
            <a:spLocks noGrp="1"/>
          </p:cNvSpPr>
          <p:nvPr>
            <p:ph type="ftr" sz="quarter" idx="11"/>
          </p:nvPr>
        </p:nvSpPr>
        <p:spPr/>
        <p:txBody>
          <a:bodyPr/>
          <a:lstStyle/>
          <a:p>
            <a:r>
              <a:rPr lang="nl-NL"/>
              <a:t>Faculteit, departement, dienst …</a:t>
            </a:r>
          </a:p>
        </p:txBody>
      </p:sp>
      <p:sp>
        <p:nvSpPr>
          <p:cNvPr id="6" name="Tijdelijke aanduiding voor dianummer 5"/>
          <p:cNvSpPr>
            <a:spLocks noGrp="1"/>
          </p:cNvSpPr>
          <p:nvPr>
            <p:ph type="sldNum" sz="quarter" idx="12"/>
          </p:nvPr>
        </p:nvSpPr>
        <p:spPr/>
        <p:txBody>
          <a:bodyPr/>
          <a:lstStyle/>
          <a:p>
            <a:fld id="{0A297500-7527-634B-90F4-69D0994C32B4}" type="slidenum">
              <a:rPr lang="nl-NL" smtClean="0"/>
              <a:t>‹#›</a:t>
            </a:fld>
            <a:endParaRPr lang="nl-NL"/>
          </a:p>
        </p:txBody>
      </p:sp>
      <p:sp>
        <p:nvSpPr>
          <p:cNvPr id="8" name="Picture Placeholder 4"/>
          <p:cNvSpPr>
            <a:spLocks noGrp="1"/>
          </p:cNvSpPr>
          <p:nvPr>
            <p:ph type="pic" sz="quarter" idx="13"/>
          </p:nvPr>
        </p:nvSpPr>
        <p:spPr>
          <a:xfrm>
            <a:off x="7248525" y="584201"/>
            <a:ext cx="4368673" cy="2376000"/>
          </a:xfrm>
        </p:spPr>
        <p:txBody>
          <a:bodyPr/>
          <a:lstStyle/>
          <a:p>
            <a:r>
              <a:rPr lang="en-US"/>
              <a:t>Click icon to add picture</a:t>
            </a:r>
            <a:endParaRPr lang="nl-NL"/>
          </a:p>
        </p:txBody>
      </p:sp>
      <p:sp>
        <p:nvSpPr>
          <p:cNvPr id="9" name="Picture Placeholder 4"/>
          <p:cNvSpPr>
            <a:spLocks noGrp="1"/>
          </p:cNvSpPr>
          <p:nvPr>
            <p:ph type="pic" sz="quarter" idx="14"/>
          </p:nvPr>
        </p:nvSpPr>
        <p:spPr>
          <a:xfrm>
            <a:off x="7248262" y="3248513"/>
            <a:ext cx="4368673" cy="2376000"/>
          </a:xfrm>
        </p:spPr>
        <p:txBody>
          <a:bodyPr/>
          <a:lstStyle/>
          <a:p>
            <a:r>
              <a:rPr lang="en-US"/>
              <a:t>Click icon to add picture</a:t>
            </a:r>
            <a:endParaRPr lang="nl-NL"/>
          </a:p>
        </p:txBody>
      </p:sp>
    </p:spTree>
    <p:extLst>
      <p:ext uri="{BB962C8B-B14F-4D97-AF65-F5344CB8AC3E}">
        <p14:creationId xmlns:p14="http://schemas.microsoft.com/office/powerpoint/2010/main" val="952148524"/>
      </p:ext>
    </p:extLst>
  </p:cSld>
  <p:clrMapOvr>
    <a:masterClrMapping/>
  </p:clrMapOvr>
  <p:extLst>
    <p:ext uri="{DCECCB84-F9BA-43D5-87BE-67443E8EF086}">
      <p15:sldGuideLst xmlns:p15="http://schemas.microsoft.com/office/powerpoint/2012/main">
        <p15:guide id="1" orient="horz" pos="3543">
          <p15:clr>
            <a:srgbClr val="FBAE40"/>
          </p15:clr>
        </p15:guide>
        <p15:guide id="2" pos="4203">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ekopWit">
    <p:spTree>
      <p:nvGrpSpPr>
        <p:cNvPr id="1" name=""/>
        <p:cNvGrpSpPr/>
        <p:nvPr/>
      </p:nvGrpSpPr>
      <p:grpSpPr>
        <a:xfrm>
          <a:off x="0" y="0"/>
          <a:ext cx="0" cy="0"/>
          <a:chOff x="0" y="0"/>
          <a:chExt cx="0" cy="0"/>
        </a:xfrm>
      </p:grpSpPr>
      <p:sp>
        <p:nvSpPr>
          <p:cNvPr id="2" name="Titel 1"/>
          <p:cNvSpPr>
            <a:spLocks noGrp="1"/>
          </p:cNvSpPr>
          <p:nvPr>
            <p:ph type="title"/>
          </p:nvPr>
        </p:nvSpPr>
        <p:spPr>
          <a:xfrm>
            <a:off x="575999" y="1800000"/>
            <a:ext cx="6096264" cy="2386800"/>
          </a:xfrm>
        </p:spPr>
        <p:txBody>
          <a:bodyPr anchor="b">
            <a:normAutofit/>
          </a:bodyPr>
          <a:lstStyle>
            <a:lvl1pPr>
              <a:defRPr sz="4000"/>
            </a:lvl1pPr>
          </a:lstStyle>
          <a:p>
            <a:r>
              <a:rPr lang="en-US"/>
              <a:t>Click to edit Master title style</a:t>
            </a:r>
            <a:endParaRPr lang="nl-NL" dirty="0"/>
          </a:p>
        </p:txBody>
      </p:sp>
      <p:sp>
        <p:nvSpPr>
          <p:cNvPr id="3" name="Tijdelijke aanduiding voor tekst 2"/>
          <p:cNvSpPr>
            <a:spLocks noGrp="1"/>
          </p:cNvSpPr>
          <p:nvPr>
            <p:ph type="body" idx="1"/>
          </p:nvPr>
        </p:nvSpPr>
        <p:spPr>
          <a:xfrm>
            <a:off x="575999" y="4359600"/>
            <a:ext cx="6096264" cy="1501200"/>
          </a:xfrm>
        </p:spPr>
        <p:txBody>
          <a:bodyPr lIns="0" tIns="0" rIns="0" bIns="0"/>
          <a:lstStyle>
            <a:lvl1pPr marL="0" indent="0">
              <a:buNone/>
              <a:defRPr sz="2400" baseline="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Tijdelijke aanduiding voor datum 3"/>
          <p:cNvSpPr>
            <a:spLocks noGrp="1"/>
          </p:cNvSpPr>
          <p:nvPr>
            <p:ph type="dt" sz="half" idx="10"/>
          </p:nvPr>
        </p:nvSpPr>
        <p:spPr/>
        <p:txBody>
          <a:bodyPr/>
          <a:lstStyle/>
          <a:p>
            <a:fld id="{E40DF61B-1080-4D20-8EAC-F5AC55182461}" type="datetime1">
              <a:rPr lang="nl-BE" smtClean="0"/>
              <a:t>20/05/2026</a:t>
            </a:fld>
            <a:endParaRPr lang="nl-NL" dirty="0"/>
          </a:p>
        </p:txBody>
      </p:sp>
      <p:sp>
        <p:nvSpPr>
          <p:cNvPr id="5" name="Tijdelijke aanduiding voor voettekst 4"/>
          <p:cNvSpPr>
            <a:spLocks noGrp="1"/>
          </p:cNvSpPr>
          <p:nvPr>
            <p:ph type="ftr" sz="quarter" idx="11"/>
          </p:nvPr>
        </p:nvSpPr>
        <p:spPr/>
        <p:txBody>
          <a:bodyPr/>
          <a:lstStyle/>
          <a:p>
            <a:r>
              <a:rPr lang="nl-NL"/>
              <a:t>Faculteit, departement, dienst …</a:t>
            </a:r>
          </a:p>
        </p:txBody>
      </p:sp>
      <p:sp>
        <p:nvSpPr>
          <p:cNvPr id="6" name="Tijdelijke aanduiding voor dianummer 5"/>
          <p:cNvSpPr>
            <a:spLocks noGrp="1"/>
          </p:cNvSpPr>
          <p:nvPr>
            <p:ph type="sldNum" sz="quarter" idx="12"/>
          </p:nvPr>
        </p:nvSpPr>
        <p:spPr/>
        <p:txBody>
          <a:bodyPr/>
          <a:lstStyle/>
          <a:p>
            <a:fld id="{0A297500-7527-634B-90F4-69D0994C32B4}" type="slidenum">
              <a:rPr lang="nl-NL" smtClean="0"/>
              <a:t>‹#›</a:t>
            </a:fld>
            <a:endParaRPr lang="nl-NL"/>
          </a:p>
        </p:txBody>
      </p:sp>
      <p:sp>
        <p:nvSpPr>
          <p:cNvPr id="7" name="Picture Placeholder 4"/>
          <p:cNvSpPr>
            <a:spLocks noGrp="1"/>
          </p:cNvSpPr>
          <p:nvPr>
            <p:ph type="pic" sz="quarter" idx="13"/>
          </p:nvPr>
        </p:nvSpPr>
        <p:spPr>
          <a:xfrm>
            <a:off x="7248525" y="584201"/>
            <a:ext cx="4368673" cy="5040312"/>
          </a:xfrm>
        </p:spPr>
        <p:txBody>
          <a:bodyPr/>
          <a:lstStyle/>
          <a:p>
            <a:r>
              <a:rPr lang="en-US"/>
              <a:t>Click icon to add picture</a:t>
            </a:r>
            <a:endParaRPr lang="nl-NL"/>
          </a:p>
        </p:txBody>
      </p:sp>
    </p:spTree>
  </p:cSld>
  <p:clrMapOvr>
    <a:masterClrMapping/>
  </p:clrMapOvr>
  <p:extLst>
    <p:ext uri="{DCECCB84-F9BA-43D5-87BE-67443E8EF086}">
      <p15:sldGuideLst xmlns:p15="http://schemas.microsoft.com/office/powerpoint/2012/main">
        <p15:guide id="1" orient="horz" pos="3543" userDrawn="1">
          <p15:clr>
            <a:srgbClr val="FBAE40"/>
          </p15:clr>
        </p15:guide>
        <p15:guide id="2" pos="4203" userDrawn="1">
          <p15:clr>
            <a:srgbClr val="FBAE40"/>
          </p15:clr>
        </p15:guide>
        <p15:guide id="3" orient="horz" pos="368"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ee objecten">
    <p:spTree>
      <p:nvGrpSpPr>
        <p:cNvPr id="1" name=""/>
        <p:cNvGrpSpPr/>
        <p:nvPr/>
      </p:nvGrpSpPr>
      <p:grpSpPr>
        <a:xfrm>
          <a:off x="0" y="0"/>
          <a:ext cx="0" cy="0"/>
          <a:chOff x="0" y="0"/>
          <a:chExt cx="0" cy="0"/>
        </a:xfrm>
      </p:grpSpPr>
      <p:sp>
        <p:nvSpPr>
          <p:cNvPr id="5" name="Tijdelijke aanduiding voor datum 4"/>
          <p:cNvSpPr>
            <a:spLocks noGrp="1"/>
          </p:cNvSpPr>
          <p:nvPr>
            <p:ph type="dt" sz="half" idx="10"/>
          </p:nvPr>
        </p:nvSpPr>
        <p:spPr/>
        <p:txBody>
          <a:bodyPr/>
          <a:lstStyle/>
          <a:p>
            <a:fld id="{94A4F625-24B7-4F40-98BC-AFA043082CE9}" type="datetime1">
              <a:rPr lang="nl-BE" smtClean="0"/>
              <a:t>20/05/2026</a:t>
            </a:fld>
            <a:endParaRPr lang="nl-NL"/>
          </a:p>
        </p:txBody>
      </p:sp>
      <p:sp>
        <p:nvSpPr>
          <p:cNvPr id="6" name="Tijdelijke aanduiding voor voettekst 5"/>
          <p:cNvSpPr>
            <a:spLocks noGrp="1"/>
          </p:cNvSpPr>
          <p:nvPr>
            <p:ph type="ftr" sz="quarter" idx="11"/>
          </p:nvPr>
        </p:nvSpPr>
        <p:spPr/>
        <p:txBody>
          <a:bodyPr/>
          <a:lstStyle/>
          <a:p>
            <a:r>
              <a:rPr lang="nl-NL"/>
              <a:t>Faculteit, departement, dienst …</a:t>
            </a:r>
          </a:p>
        </p:txBody>
      </p:sp>
      <p:sp>
        <p:nvSpPr>
          <p:cNvPr id="7" name="Tijdelijke aanduiding voor dianummer 6"/>
          <p:cNvSpPr>
            <a:spLocks noGrp="1"/>
          </p:cNvSpPr>
          <p:nvPr>
            <p:ph type="sldNum" sz="quarter" idx="12"/>
          </p:nvPr>
        </p:nvSpPr>
        <p:spPr/>
        <p:txBody>
          <a:bodyPr/>
          <a:lstStyle/>
          <a:p>
            <a:fld id="{0A297500-7527-634B-90F4-69D0994C32B4}" type="slidenum">
              <a:rPr lang="nl-NL" smtClean="0"/>
              <a:t>‹#›</a:t>
            </a:fld>
            <a:endParaRPr lang="nl-NL"/>
          </a:p>
        </p:txBody>
      </p:sp>
      <p:sp>
        <p:nvSpPr>
          <p:cNvPr id="9" name="Tijdelijke aanduiding voor tekst 2"/>
          <p:cNvSpPr>
            <a:spLocks noGrp="1"/>
          </p:cNvSpPr>
          <p:nvPr>
            <p:ph idx="1"/>
          </p:nvPr>
        </p:nvSpPr>
        <p:spPr>
          <a:xfrm>
            <a:off x="576000" y="1656000"/>
            <a:ext cx="5400000" cy="4464000"/>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2" name="Content Placeholder 11"/>
          <p:cNvSpPr>
            <a:spLocks noGrp="1"/>
          </p:cNvSpPr>
          <p:nvPr>
            <p:ph sz="quarter" idx="13"/>
          </p:nvPr>
        </p:nvSpPr>
        <p:spPr>
          <a:xfrm>
            <a:off x="6217200" y="1656000"/>
            <a:ext cx="5400000" cy="44640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2" name="Titel 1"/>
          <p:cNvSpPr>
            <a:spLocks noGrp="1"/>
          </p:cNvSpPr>
          <p:nvPr>
            <p:ph type="title"/>
          </p:nvPr>
        </p:nvSpPr>
        <p:spPr/>
        <p:txBody>
          <a:bodyPr/>
          <a:lstStyle/>
          <a:p>
            <a:r>
              <a:rPr lang="en-US"/>
              <a:t>Click to edit Master title style</a:t>
            </a:r>
            <a:endParaRPr lang="nl-BE"/>
          </a:p>
        </p:txBody>
      </p:sp>
    </p:spTree>
    <p:extLst>
      <p:ext uri="{BB962C8B-B14F-4D97-AF65-F5344CB8AC3E}">
        <p14:creationId xmlns:p14="http://schemas.microsoft.com/office/powerpoint/2010/main" val="18595890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ergelijking">
    <p:spTree>
      <p:nvGrpSpPr>
        <p:cNvPr id="1" name=""/>
        <p:cNvGrpSpPr/>
        <p:nvPr/>
      </p:nvGrpSpPr>
      <p:grpSpPr>
        <a:xfrm>
          <a:off x="0" y="0"/>
          <a:ext cx="0" cy="0"/>
          <a:chOff x="0" y="0"/>
          <a:chExt cx="0" cy="0"/>
        </a:xfrm>
      </p:grpSpPr>
      <p:sp>
        <p:nvSpPr>
          <p:cNvPr id="3" name="Tijdelijke aanduiding voor tekst 2"/>
          <p:cNvSpPr>
            <a:spLocks noGrp="1"/>
          </p:cNvSpPr>
          <p:nvPr>
            <p:ph type="body" idx="1"/>
          </p:nvPr>
        </p:nvSpPr>
        <p:spPr>
          <a:xfrm>
            <a:off x="576000" y="1656000"/>
            <a:ext cx="5421575" cy="54000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Tijdelijke aanduiding voor inhoud 3"/>
          <p:cNvSpPr>
            <a:spLocks noGrp="1"/>
          </p:cNvSpPr>
          <p:nvPr>
            <p:ph sz="half" idx="2"/>
          </p:nvPr>
        </p:nvSpPr>
        <p:spPr>
          <a:xfrm>
            <a:off x="576000" y="2276271"/>
            <a:ext cx="5421575" cy="383765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5" name="Tijdelijke aanduiding voor tekst 4"/>
          <p:cNvSpPr>
            <a:spLocks noGrp="1"/>
          </p:cNvSpPr>
          <p:nvPr>
            <p:ph type="body" sz="quarter" idx="3"/>
          </p:nvPr>
        </p:nvSpPr>
        <p:spPr>
          <a:xfrm>
            <a:off x="6172200" y="1656000"/>
            <a:ext cx="5445000" cy="54000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Tijdelijke aanduiding voor inhoud 5"/>
          <p:cNvSpPr>
            <a:spLocks noGrp="1"/>
          </p:cNvSpPr>
          <p:nvPr>
            <p:ph sz="quarter" idx="4"/>
          </p:nvPr>
        </p:nvSpPr>
        <p:spPr>
          <a:xfrm>
            <a:off x="6172200" y="2276271"/>
            <a:ext cx="5445000" cy="383765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7" name="Tijdelijke aanduiding voor datum 6"/>
          <p:cNvSpPr>
            <a:spLocks noGrp="1"/>
          </p:cNvSpPr>
          <p:nvPr>
            <p:ph type="dt" sz="half" idx="10"/>
          </p:nvPr>
        </p:nvSpPr>
        <p:spPr/>
        <p:txBody>
          <a:bodyPr/>
          <a:lstStyle/>
          <a:p>
            <a:fld id="{292342B6-1303-46D4-9581-5E95FC0B22E4}" type="datetime1">
              <a:rPr lang="nl-BE" smtClean="0"/>
              <a:t>20/05/2026</a:t>
            </a:fld>
            <a:endParaRPr lang="nl-NL" dirty="0"/>
          </a:p>
        </p:txBody>
      </p:sp>
      <p:sp>
        <p:nvSpPr>
          <p:cNvPr id="8" name="Tijdelijke aanduiding voor voettekst 7"/>
          <p:cNvSpPr>
            <a:spLocks noGrp="1"/>
          </p:cNvSpPr>
          <p:nvPr>
            <p:ph type="ftr" sz="quarter" idx="11"/>
          </p:nvPr>
        </p:nvSpPr>
        <p:spPr/>
        <p:txBody>
          <a:bodyPr/>
          <a:lstStyle/>
          <a:p>
            <a:r>
              <a:rPr lang="nl-NL"/>
              <a:t>Faculteit, departement, dienst …</a:t>
            </a:r>
          </a:p>
        </p:txBody>
      </p:sp>
      <p:sp>
        <p:nvSpPr>
          <p:cNvPr id="9" name="Tijdelijke aanduiding voor dianummer 8"/>
          <p:cNvSpPr>
            <a:spLocks noGrp="1"/>
          </p:cNvSpPr>
          <p:nvPr>
            <p:ph type="sldNum" sz="quarter" idx="12"/>
          </p:nvPr>
        </p:nvSpPr>
        <p:spPr/>
        <p:txBody>
          <a:bodyPr/>
          <a:lstStyle/>
          <a:p>
            <a:fld id="{0A297500-7527-634B-90F4-69D0994C32B4}" type="slidenum">
              <a:rPr lang="nl-NL" smtClean="0"/>
              <a:t>‹#›</a:t>
            </a:fld>
            <a:endParaRPr lang="nl-NL"/>
          </a:p>
        </p:txBody>
      </p:sp>
      <p:sp>
        <p:nvSpPr>
          <p:cNvPr id="2" name="Titel 1"/>
          <p:cNvSpPr>
            <a:spLocks noGrp="1"/>
          </p:cNvSpPr>
          <p:nvPr>
            <p:ph type="title"/>
          </p:nvPr>
        </p:nvSpPr>
        <p:spPr/>
        <p:txBody>
          <a:bodyPr/>
          <a:lstStyle/>
          <a:p>
            <a:r>
              <a:rPr lang="en-US"/>
              <a:t>Click to edit Master title style</a:t>
            </a:r>
            <a:endParaRPr lang="nl-BE"/>
          </a:p>
        </p:txBody>
      </p:sp>
    </p:spTree>
    <p:extLst>
      <p:ext uri="{BB962C8B-B14F-4D97-AF65-F5344CB8AC3E}">
        <p14:creationId xmlns:p14="http://schemas.microsoft.com/office/powerpoint/2010/main" val="17840015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3" name="Tijdelijke aanduiding voor datum 2"/>
          <p:cNvSpPr>
            <a:spLocks noGrp="1"/>
          </p:cNvSpPr>
          <p:nvPr>
            <p:ph type="dt" sz="half" idx="10"/>
          </p:nvPr>
        </p:nvSpPr>
        <p:spPr/>
        <p:txBody>
          <a:bodyPr/>
          <a:lstStyle/>
          <a:p>
            <a:fld id="{A76F3976-FDFC-4D8C-ACD3-BCE6A597C36A}" type="datetime1">
              <a:rPr lang="nl-BE" smtClean="0"/>
              <a:t>20/05/2026</a:t>
            </a:fld>
            <a:endParaRPr lang="nl-NL"/>
          </a:p>
        </p:txBody>
      </p:sp>
      <p:sp>
        <p:nvSpPr>
          <p:cNvPr id="4" name="Tijdelijke aanduiding voor voettekst 3"/>
          <p:cNvSpPr>
            <a:spLocks noGrp="1"/>
          </p:cNvSpPr>
          <p:nvPr>
            <p:ph type="ftr" sz="quarter" idx="11"/>
          </p:nvPr>
        </p:nvSpPr>
        <p:spPr/>
        <p:txBody>
          <a:bodyPr/>
          <a:lstStyle/>
          <a:p>
            <a:r>
              <a:rPr lang="nl-NL"/>
              <a:t>Faculteit, departement, dienst …</a:t>
            </a:r>
          </a:p>
        </p:txBody>
      </p:sp>
      <p:sp>
        <p:nvSpPr>
          <p:cNvPr id="5" name="Tijdelijke aanduiding voor dianummer 4"/>
          <p:cNvSpPr>
            <a:spLocks noGrp="1"/>
          </p:cNvSpPr>
          <p:nvPr>
            <p:ph type="sldNum" sz="quarter" idx="12"/>
          </p:nvPr>
        </p:nvSpPr>
        <p:spPr/>
        <p:txBody>
          <a:bodyPr/>
          <a:lstStyle/>
          <a:p>
            <a:fld id="{0A297500-7527-634B-90F4-69D0994C32B4}" type="slidenum">
              <a:rPr lang="nl-NL" smtClean="0"/>
              <a:t>‹#›</a:t>
            </a:fld>
            <a:endParaRPr lang="nl-NL"/>
          </a:p>
        </p:txBody>
      </p:sp>
      <p:sp>
        <p:nvSpPr>
          <p:cNvPr id="6" name="Title 5"/>
          <p:cNvSpPr>
            <a:spLocks noGrp="1"/>
          </p:cNvSpPr>
          <p:nvPr>
            <p:ph type="title"/>
          </p:nvPr>
        </p:nvSpPr>
        <p:spPr/>
        <p:txBody>
          <a:bodyPr/>
          <a:lstStyle/>
          <a:p>
            <a:r>
              <a:rPr lang="en-US"/>
              <a:t>Click to edit Master title style</a:t>
            </a:r>
            <a:endParaRPr lang="nl-NL"/>
          </a:p>
        </p:txBody>
      </p:sp>
    </p:spTree>
    <p:extLst>
      <p:ext uri="{BB962C8B-B14F-4D97-AF65-F5344CB8AC3E}">
        <p14:creationId xmlns:p14="http://schemas.microsoft.com/office/powerpoint/2010/main" val="5466319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p:cNvSpPr>
            <a:spLocks noGrp="1"/>
          </p:cNvSpPr>
          <p:nvPr>
            <p:ph type="dt" sz="half" idx="10"/>
          </p:nvPr>
        </p:nvSpPr>
        <p:spPr/>
        <p:txBody>
          <a:bodyPr/>
          <a:lstStyle/>
          <a:p>
            <a:fld id="{5ADFEA79-DE61-4EF0-8C65-B83CEE2687EB}" type="datetime1">
              <a:rPr lang="nl-BE" smtClean="0"/>
              <a:t>20/05/2026</a:t>
            </a:fld>
            <a:endParaRPr lang="nl-NL"/>
          </a:p>
        </p:txBody>
      </p:sp>
      <p:sp>
        <p:nvSpPr>
          <p:cNvPr id="3" name="Tijdelijke aanduiding voor voettekst 2"/>
          <p:cNvSpPr>
            <a:spLocks noGrp="1"/>
          </p:cNvSpPr>
          <p:nvPr>
            <p:ph type="ftr" sz="quarter" idx="11"/>
          </p:nvPr>
        </p:nvSpPr>
        <p:spPr/>
        <p:txBody>
          <a:bodyPr/>
          <a:lstStyle/>
          <a:p>
            <a:r>
              <a:rPr lang="nl-NL"/>
              <a:t>Faculteit, departement, dienst …</a:t>
            </a:r>
          </a:p>
        </p:txBody>
      </p:sp>
      <p:sp>
        <p:nvSpPr>
          <p:cNvPr id="4" name="Tijdelijke aanduiding voor dianummer 3"/>
          <p:cNvSpPr>
            <a:spLocks noGrp="1"/>
          </p:cNvSpPr>
          <p:nvPr>
            <p:ph type="sldNum" sz="quarter" idx="12"/>
          </p:nvPr>
        </p:nvSpPr>
        <p:spPr/>
        <p:txBody>
          <a:bodyPr/>
          <a:lstStyle/>
          <a:p>
            <a:fld id="{0A297500-7527-634B-90F4-69D0994C32B4}" type="slidenum">
              <a:rPr lang="nl-NL" smtClean="0"/>
              <a:t>‹#›</a:t>
            </a:fld>
            <a:endParaRPr lang="nl-NL"/>
          </a:p>
        </p:txBody>
      </p:sp>
    </p:spTree>
    <p:extLst>
      <p:ext uri="{BB962C8B-B14F-4D97-AF65-F5344CB8AC3E}">
        <p14:creationId xmlns:p14="http://schemas.microsoft.com/office/powerpoint/2010/main" val="3077720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ekopSlot">
    <p:spTree>
      <p:nvGrpSpPr>
        <p:cNvPr id="1" name=""/>
        <p:cNvGrpSpPr/>
        <p:nvPr/>
      </p:nvGrpSpPr>
      <p:grpSpPr>
        <a:xfrm>
          <a:off x="0" y="0"/>
          <a:ext cx="0" cy="0"/>
          <a:chOff x="0" y="0"/>
          <a:chExt cx="0" cy="0"/>
        </a:xfrm>
      </p:grpSpPr>
      <p:sp>
        <p:nvSpPr>
          <p:cNvPr id="9" name="Rechthoek 8"/>
          <p:cNvSpPr/>
          <p:nvPr userDrawn="1"/>
        </p:nvSpPr>
        <p:spPr>
          <a:xfrm>
            <a:off x="0" y="0"/>
            <a:ext cx="12193200" cy="62099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2" name="Titel 1"/>
          <p:cNvSpPr>
            <a:spLocks noGrp="1"/>
          </p:cNvSpPr>
          <p:nvPr>
            <p:ph type="title"/>
          </p:nvPr>
        </p:nvSpPr>
        <p:spPr>
          <a:xfrm>
            <a:off x="579120" y="510988"/>
            <a:ext cx="11039793" cy="5184424"/>
          </a:xfrm>
        </p:spPr>
        <p:txBody>
          <a:bodyPr anchor="ctr" anchorCtr="0">
            <a:noAutofit/>
          </a:bodyPr>
          <a:lstStyle>
            <a:lvl1pPr algn="ctr">
              <a:defRPr sz="6000" baseline="0">
                <a:solidFill>
                  <a:schemeClr val="bg1"/>
                </a:solidFill>
              </a:defRPr>
            </a:lvl1pPr>
          </a:lstStyle>
          <a:p>
            <a:r>
              <a:rPr lang="en-US" dirty="0"/>
              <a:t>Click to edit Master title style</a:t>
            </a:r>
            <a:endParaRPr lang="nl-NL" dirty="0"/>
          </a:p>
        </p:txBody>
      </p:sp>
      <p:sp>
        <p:nvSpPr>
          <p:cNvPr id="4" name="Tijdelijke aanduiding voor datum 3"/>
          <p:cNvSpPr>
            <a:spLocks noGrp="1"/>
          </p:cNvSpPr>
          <p:nvPr>
            <p:ph type="dt" sz="half" idx="10"/>
          </p:nvPr>
        </p:nvSpPr>
        <p:spPr/>
        <p:txBody>
          <a:bodyPr/>
          <a:lstStyle/>
          <a:p>
            <a:fld id="{FA2EC5B9-2DE2-43DC-AAE2-5679419BAC4A}" type="datetime1">
              <a:rPr lang="nl-BE" smtClean="0"/>
              <a:t>20/05/2026</a:t>
            </a:fld>
            <a:endParaRPr lang="nl-NL" dirty="0"/>
          </a:p>
        </p:txBody>
      </p:sp>
      <p:sp>
        <p:nvSpPr>
          <p:cNvPr id="5" name="Tijdelijke aanduiding voor voettekst 4"/>
          <p:cNvSpPr>
            <a:spLocks noGrp="1"/>
          </p:cNvSpPr>
          <p:nvPr>
            <p:ph type="ftr" sz="quarter" idx="11"/>
          </p:nvPr>
        </p:nvSpPr>
        <p:spPr/>
        <p:txBody>
          <a:bodyPr/>
          <a:lstStyle/>
          <a:p>
            <a:r>
              <a:rPr lang="nl-NL"/>
              <a:t>Faculteit, departement, dienst …</a:t>
            </a:r>
          </a:p>
        </p:txBody>
      </p:sp>
      <p:sp>
        <p:nvSpPr>
          <p:cNvPr id="6" name="Tijdelijke aanduiding voor dianummer 5"/>
          <p:cNvSpPr>
            <a:spLocks noGrp="1"/>
          </p:cNvSpPr>
          <p:nvPr>
            <p:ph type="sldNum" sz="quarter" idx="12"/>
          </p:nvPr>
        </p:nvSpPr>
        <p:spPr/>
        <p:txBody>
          <a:bodyPr/>
          <a:lstStyle/>
          <a:p>
            <a:fld id="{0A297500-7527-634B-90F4-69D0994C32B4}" type="slidenum">
              <a:rPr lang="nl-NL" smtClean="0"/>
              <a:t>‹#›</a:t>
            </a:fld>
            <a:endParaRPr lang="nl-NL"/>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eldia">
    <p:spTree>
      <p:nvGrpSpPr>
        <p:cNvPr id="1" name=""/>
        <p:cNvGrpSpPr/>
        <p:nvPr/>
      </p:nvGrpSpPr>
      <p:grpSpPr>
        <a:xfrm>
          <a:off x="0" y="0"/>
          <a:ext cx="0" cy="0"/>
          <a:chOff x="0" y="0"/>
          <a:chExt cx="0" cy="0"/>
        </a:xfrm>
      </p:grpSpPr>
      <p:sp>
        <p:nvSpPr>
          <p:cNvPr id="7" name="Rechthoek 6"/>
          <p:cNvSpPr/>
          <p:nvPr/>
        </p:nvSpPr>
        <p:spPr>
          <a:xfrm>
            <a:off x="0" y="0"/>
            <a:ext cx="121932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8" name="Rechthoek 7"/>
          <p:cNvSpPr/>
          <p:nvPr/>
        </p:nvSpPr>
        <p:spPr>
          <a:xfrm>
            <a:off x="0" y="647998"/>
            <a:ext cx="12193200" cy="621000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pic>
        <p:nvPicPr>
          <p:cNvPr id="9" name="Afbeelding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0000" y="360000"/>
            <a:ext cx="2018135" cy="720000"/>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43791" y="1350253"/>
            <a:ext cx="4648209" cy="5507747"/>
          </a:xfrm>
          <a:prstGeom prst="rect">
            <a:avLst/>
          </a:prstGeom>
        </p:spPr>
      </p:pic>
      <p:sp>
        <p:nvSpPr>
          <p:cNvPr id="12" name="Ondertitel 2"/>
          <p:cNvSpPr>
            <a:spLocks noGrp="1"/>
          </p:cNvSpPr>
          <p:nvPr>
            <p:ph type="subTitle" idx="1"/>
          </p:nvPr>
        </p:nvSpPr>
        <p:spPr>
          <a:xfrm>
            <a:off x="576003" y="4359604"/>
            <a:ext cx="8333999" cy="1655999"/>
          </a:xfrm>
        </p:spPr>
        <p:txBody>
          <a:bodyPr lIns="0" tIns="0" rIns="0" bIns="0"/>
          <a:lstStyle>
            <a:lvl1pPr marL="0" indent="0" algn="l">
              <a:buNone/>
              <a:defRPr sz="2400" baseline="0">
                <a:solidFill>
                  <a:schemeClr val="bg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nl-NL"/>
              <a:t>Klik om de ondertitelstijl van het model te bewerken</a:t>
            </a:r>
            <a:endParaRPr lang="nl-NL" dirty="0"/>
          </a:p>
        </p:txBody>
      </p:sp>
      <p:sp>
        <p:nvSpPr>
          <p:cNvPr id="3" name="Title 2"/>
          <p:cNvSpPr>
            <a:spLocks noGrp="1"/>
          </p:cNvSpPr>
          <p:nvPr>
            <p:ph type="title"/>
          </p:nvPr>
        </p:nvSpPr>
        <p:spPr>
          <a:xfrm>
            <a:off x="576000" y="1800000"/>
            <a:ext cx="8334000" cy="2386800"/>
          </a:xfrm>
        </p:spPr>
        <p:txBody>
          <a:bodyPr>
            <a:normAutofit/>
          </a:bodyPr>
          <a:lstStyle>
            <a:lvl1pPr>
              <a:defRPr sz="4000">
                <a:solidFill>
                  <a:schemeClr val="bg1"/>
                </a:solidFill>
              </a:defRPr>
            </a:lvl1pPr>
          </a:lstStyle>
          <a:p>
            <a:r>
              <a:rPr lang="nl-NL" dirty="0"/>
              <a:t>Klik om de stijl te bewerken</a:t>
            </a:r>
          </a:p>
        </p:txBody>
      </p:sp>
    </p:spTree>
    <p:extLst>
      <p:ext uri="{BB962C8B-B14F-4D97-AF65-F5344CB8AC3E}">
        <p14:creationId xmlns:p14="http://schemas.microsoft.com/office/powerpoint/2010/main" val="33203803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ectiekop">
    <p:spTree>
      <p:nvGrpSpPr>
        <p:cNvPr id="1" name=""/>
        <p:cNvGrpSpPr/>
        <p:nvPr/>
      </p:nvGrpSpPr>
      <p:grpSpPr>
        <a:xfrm>
          <a:off x="0" y="0"/>
          <a:ext cx="0" cy="0"/>
          <a:chOff x="0" y="0"/>
          <a:chExt cx="0" cy="0"/>
        </a:xfrm>
      </p:grpSpPr>
      <p:sp>
        <p:nvSpPr>
          <p:cNvPr id="7" name="Rechthoek 6"/>
          <p:cNvSpPr/>
          <p:nvPr/>
        </p:nvSpPr>
        <p:spPr>
          <a:xfrm>
            <a:off x="0" y="0"/>
            <a:ext cx="12193200" cy="620756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sp>
        <p:nvSpPr>
          <p:cNvPr id="4" name="Tijdelijke aanduiding voor datum 3"/>
          <p:cNvSpPr>
            <a:spLocks noGrp="1"/>
          </p:cNvSpPr>
          <p:nvPr>
            <p:ph type="dt" sz="half" idx="10"/>
          </p:nvPr>
        </p:nvSpPr>
        <p:spPr/>
        <p:txBody>
          <a:bodyPr/>
          <a:lstStyle/>
          <a:p>
            <a:fld id="{EA3A7081-D270-4FBF-AE40-A52D674243CC}" type="datetime1">
              <a:rPr lang="nl-BE" smtClean="0"/>
              <a:t>20/05/2026</a:t>
            </a:fld>
            <a:endParaRPr lang="nl-NL"/>
          </a:p>
        </p:txBody>
      </p:sp>
      <p:sp>
        <p:nvSpPr>
          <p:cNvPr id="5" name="Tijdelijke aanduiding voor voettekst 4"/>
          <p:cNvSpPr>
            <a:spLocks noGrp="1"/>
          </p:cNvSpPr>
          <p:nvPr>
            <p:ph type="ftr" sz="quarter" idx="11"/>
          </p:nvPr>
        </p:nvSpPr>
        <p:spPr/>
        <p:txBody>
          <a:bodyPr/>
          <a:lstStyle/>
          <a:p>
            <a:r>
              <a:rPr lang="nl-NL"/>
              <a:t>Faculteit, departement, dienst …</a:t>
            </a:r>
          </a:p>
        </p:txBody>
      </p:sp>
      <p:sp>
        <p:nvSpPr>
          <p:cNvPr id="6" name="Tijdelijke aanduiding voor dianummer 5"/>
          <p:cNvSpPr>
            <a:spLocks noGrp="1"/>
          </p:cNvSpPr>
          <p:nvPr>
            <p:ph type="sldNum" sz="quarter" idx="12"/>
          </p:nvPr>
        </p:nvSpPr>
        <p:spPr/>
        <p:txBody>
          <a:bodyPr/>
          <a:lstStyle/>
          <a:p>
            <a:fld id="{CF179DAE-D0A6-40C3-B8BC-6A97C268D03A}" type="slidenum">
              <a:rPr lang="nl-NL" smtClean="0"/>
              <a:t>‹#›</a:t>
            </a:fld>
            <a:endParaRPr lang="nl-NL"/>
          </a:p>
        </p:txBody>
      </p:sp>
      <p:pic>
        <p:nvPicPr>
          <p:cNvPr id="8" name="Picture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43791" y="675126"/>
            <a:ext cx="4648209" cy="5507747"/>
          </a:xfrm>
          <a:prstGeom prst="rect">
            <a:avLst/>
          </a:prstGeom>
        </p:spPr>
      </p:pic>
      <p:sp>
        <p:nvSpPr>
          <p:cNvPr id="9" name="Titel 1"/>
          <p:cNvSpPr>
            <a:spLocks noGrp="1"/>
          </p:cNvSpPr>
          <p:nvPr>
            <p:ph type="title"/>
          </p:nvPr>
        </p:nvSpPr>
        <p:spPr>
          <a:xfrm>
            <a:off x="576003" y="1800000"/>
            <a:ext cx="8333999" cy="2386800"/>
          </a:xfrm>
        </p:spPr>
        <p:txBody>
          <a:bodyPr anchor="b">
            <a:normAutofit/>
          </a:bodyPr>
          <a:lstStyle>
            <a:lvl1pPr>
              <a:defRPr sz="4000" baseline="0">
                <a:solidFill>
                  <a:srgbClr val="1D8DB0"/>
                </a:solidFill>
              </a:defRPr>
            </a:lvl1pPr>
          </a:lstStyle>
          <a:p>
            <a:r>
              <a:rPr lang="nl-NL"/>
              <a:t>Klik om de stijl te bewerken</a:t>
            </a:r>
            <a:endParaRPr lang="nl-NL" dirty="0"/>
          </a:p>
        </p:txBody>
      </p:sp>
      <p:sp>
        <p:nvSpPr>
          <p:cNvPr id="10" name="Tijdelijke aanduiding voor tekst 2"/>
          <p:cNvSpPr>
            <a:spLocks noGrp="1"/>
          </p:cNvSpPr>
          <p:nvPr>
            <p:ph type="body" idx="1"/>
          </p:nvPr>
        </p:nvSpPr>
        <p:spPr>
          <a:xfrm>
            <a:off x="576003" y="4359600"/>
            <a:ext cx="8333999" cy="1501200"/>
          </a:xfrm>
        </p:spPr>
        <p:txBody>
          <a:bodyPr lIns="0" tIns="0" rIns="0" bIns="0"/>
          <a:lstStyle>
            <a:lvl1pPr marL="0" indent="0">
              <a:buNone/>
              <a:defRPr sz="2400" baseline="0">
                <a:solidFill>
                  <a:srgbClr val="005E77"/>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nl-NL"/>
              <a:t>Tekststijl van het model bewerken</a:t>
            </a:r>
          </a:p>
        </p:txBody>
      </p:sp>
    </p:spTree>
    <p:extLst>
      <p:ext uri="{BB962C8B-B14F-4D97-AF65-F5344CB8AC3E}">
        <p14:creationId xmlns:p14="http://schemas.microsoft.com/office/powerpoint/2010/main" val="33227703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ectiekopWit">
    <p:spTree>
      <p:nvGrpSpPr>
        <p:cNvPr id="1" name=""/>
        <p:cNvGrpSpPr/>
        <p:nvPr/>
      </p:nvGrpSpPr>
      <p:grpSpPr>
        <a:xfrm>
          <a:off x="0" y="0"/>
          <a:ext cx="0" cy="0"/>
          <a:chOff x="0" y="0"/>
          <a:chExt cx="0" cy="0"/>
        </a:xfrm>
      </p:grpSpPr>
      <p:sp>
        <p:nvSpPr>
          <p:cNvPr id="4" name="Tijdelijke aanduiding voor datum 3"/>
          <p:cNvSpPr>
            <a:spLocks noGrp="1"/>
          </p:cNvSpPr>
          <p:nvPr>
            <p:ph type="dt" sz="half" idx="10"/>
          </p:nvPr>
        </p:nvSpPr>
        <p:spPr/>
        <p:txBody>
          <a:bodyPr/>
          <a:lstStyle/>
          <a:p>
            <a:fld id="{5C69415A-EEF6-439C-A913-189A8C067023}" type="datetime1">
              <a:rPr lang="nl-BE" smtClean="0"/>
              <a:t>20/05/2026</a:t>
            </a:fld>
            <a:endParaRPr lang="nl-NL"/>
          </a:p>
        </p:txBody>
      </p:sp>
      <p:sp>
        <p:nvSpPr>
          <p:cNvPr id="5" name="Tijdelijke aanduiding voor voettekst 4"/>
          <p:cNvSpPr>
            <a:spLocks noGrp="1"/>
          </p:cNvSpPr>
          <p:nvPr>
            <p:ph type="ftr" sz="quarter" idx="11"/>
          </p:nvPr>
        </p:nvSpPr>
        <p:spPr/>
        <p:txBody>
          <a:bodyPr/>
          <a:lstStyle/>
          <a:p>
            <a:r>
              <a:rPr lang="nl-NL"/>
              <a:t>Faculteit, departement, dienst …</a:t>
            </a:r>
          </a:p>
        </p:txBody>
      </p:sp>
      <p:sp>
        <p:nvSpPr>
          <p:cNvPr id="6" name="Tijdelijke aanduiding voor dianummer 5"/>
          <p:cNvSpPr>
            <a:spLocks noGrp="1"/>
          </p:cNvSpPr>
          <p:nvPr>
            <p:ph type="sldNum" sz="quarter" idx="12"/>
          </p:nvPr>
        </p:nvSpPr>
        <p:spPr/>
        <p:txBody>
          <a:bodyPr/>
          <a:lstStyle/>
          <a:p>
            <a:fld id="{CF179DAE-D0A6-40C3-B8BC-6A97C268D03A}" type="slidenum">
              <a:rPr lang="nl-NL" smtClean="0"/>
              <a:t>‹#›</a:t>
            </a:fld>
            <a:endParaRPr lang="nl-NL"/>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43791" y="675126"/>
            <a:ext cx="4648209" cy="5507747"/>
          </a:xfrm>
          <a:prstGeom prst="rect">
            <a:avLst/>
          </a:prstGeom>
        </p:spPr>
      </p:pic>
      <p:sp>
        <p:nvSpPr>
          <p:cNvPr id="8" name="Titel 1"/>
          <p:cNvSpPr>
            <a:spLocks noGrp="1"/>
          </p:cNvSpPr>
          <p:nvPr>
            <p:ph type="title"/>
          </p:nvPr>
        </p:nvSpPr>
        <p:spPr>
          <a:xfrm>
            <a:off x="576003" y="1800000"/>
            <a:ext cx="8333999" cy="2386800"/>
          </a:xfrm>
        </p:spPr>
        <p:txBody>
          <a:bodyPr anchor="b">
            <a:normAutofit/>
          </a:bodyPr>
          <a:lstStyle>
            <a:lvl1pPr>
              <a:defRPr sz="4000"/>
            </a:lvl1pPr>
          </a:lstStyle>
          <a:p>
            <a:r>
              <a:rPr lang="nl-NL" dirty="0"/>
              <a:t>Klik om de stijl te bewerken</a:t>
            </a:r>
          </a:p>
        </p:txBody>
      </p:sp>
      <p:sp>
        <p:nvSpPr>
          <p:cNvPr id="9" name="Tijdelijke aanduiding voor tekst 2"/>
          <p:cNvSpPr>
            <a:spLocks noGrp="1"/>
          </p:cNvSpPr>
          <p:nvPr>
            <p:ph type="body" idx="1"/>
          </p:nvPr>
        </p:nvSpPr>
        <p:spPr>
          <a:xfrm>
            <a:off x="576003" y="4359600"/>
            <a:ext cx="8333999" cy="1501200"/>
          </a:xfrm>
        </p:spPr>
        <p:txBody>
          <a:bodyPr lIns="0" tIns="0" rIns="0" bIns="0"/>
          <a:lstStyle>
            <a:lvl1pPr marL="0" indent="0">
              <a:buNone/>
              <a:defRPr sz="2400" baseline="0">
                <a:solidFill>
                  <a:srgbClr val="2F4D5D"/>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nl-NL" dirty="0"/>
              <a:t>Tekststijl van het model bewerken</a:t>
            </a:r>
          </a:p>
        </p:txBody>
      </p:sp>
    </p:spTree>
    <p:extLst>
      <p:ext uri="{BB962C8B-B14F-4D97-AF65-F5344CB8AC3E}">
        <p14:creationId xmlns:p14="http://schemas.microsoft.com/office/powerpoint/2010/main" val="32706911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2.xml"/><Relationship Id="rId2" Type="http://schemas.openxmlformats.org/officeDocument/2006/relationships/slideLayout" Target="../slideLayouts/slideLayout11.xml"/><Relationship Id="rId1" Type="http://schemas.openxmlformats.org/officeDocument/2006/relationships/slideLayout" Target="../slideLayouts/slideLayout10.xml"/><Relationship Id="rId5" Type="http://schemas.openxmlformats.org/officeDocument/2006/relationships/image" Target="../media/image1.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hoek 6"/>
          <p:cNvSpPr/>
          <p:nvPr userDrawn="1"/>
        </p:nvSpPr>
        <p:spPr>
          <a:xfrm>
            <a:off x="0" y="6210000"/>
            <a:ext cx="12192000" cy="64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pic>
        <p:nvPicPr>
          <p:cNvPr id="8" name="Afbeelding 7"/>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11041200" y="6353999"/>
            <a:ext cx="1008305" cy="360000"/>
          </a:xfrm>
          <a:prstGeom prst="rect">
            <a:avLst/>
          </a:prstGeom>
        </p:spPr>
      </p:pic>
      <p:sp>
        <p:nvSpPr>
          <p:cNvPr id="2" name="Tijdelijke aanduiding voor titel 1"/>
          <p:cNvSpPr>
            <a:spLocks noGrp="1"/>
          </p:cNvSpPr>
          <p:nvPr>
            <p:ph type="title"/>
          </p:nvPr>
        </p:nvSpPr>
        <p:spPr>
          <a:xfrm>
            <a:off x="576000" y="207036"/>
            <a:ext cx="11041200" cy="1152000"/>
          </a:xfrm>
          <a:prstGeom prst="rect">
            <a:avLst/>
          </a:prstGeom>
        </p:spPr>
        <p:txBody>
          <a:bodyPr vert="horz" lIns="0" tIns="0" rIns="0" bIns="0" rtlCol="0" anchor="ctr" anchorCtr="0">
            <a:normAutofit/>
          </a:bodyPr>
          <a:lstStyle/>
          <a:p>
            <a:r>
              <a:rPr lang="nl-NL" dirty="0"/>
              <a:t>Titelstijl van model bewerken</a:t>
            </a:r>
          </a:p>
        </p:txBody>
      </p:sp>
      <p:sp>
        <p:nvSpPr>
          <p:cNvPr id="3" name="Tijdelijke aanduiding voor tekst 2"/>
          <p:cNvSpPr>
            <a:spLocks noGrp="1"/>
          </p:cNvSpPr>
          <p:nvPr>
            <p:ph type="body" idx="1"/>
          </p:nvPr>
        </p:nvSpPr>
        <p:spPr>
          <a:xfrm>
            <a:off x="576000" y="1656000"/>
            <a:ext cx="11041200" cy="4464000"/>
          </a:xfrm>
          <a:prstGeom prst="rect">
            <a:avLst/>
          </a:prstGeom>
        </p:spPr>
        <p:txBody>
          <a:bodyPr vert="horz" lIns="91440" tIns="45720" rIns="91440" bIns="45720" rtlCol="0">
            <a:norm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Tijdelijke aanduiding voor datum 3"/>
          <p:cNvSpPr>
            <a:spLocks noGrp="1"/>
          </p:cNvSpPr>
          <p:nvPr>
            <p:ph type="dt" sz="half" idx="2"/>
          </p:nvPr>
        </p:nvSpPr>
        <p:spPr>
          <a:xfrm>
            <a:off x="1440000" y="6210000"/>
            <a:ext cx="720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BB46EC33-4D1A-4426-91DF-270C2E654CCE}" type="datetime1">
              <a:rPr lang="nl-BE" smtClean="0"/>
              <a:t>20/05/2026</a:t>
            </a:fld>
            <a:endParaRPr lang="nl-NL" dirty="0"/>
          </a:p>
        </p:txBody>
      </p:sp>
      <p:sp>
        <p:nvSpPr>
          <p:cNvPr id="5" name="Tijdelijke aanduiding voor voettekst 4"/>
          <p:cNvSpPr>
            <a:spLocks noGrp="1"/>
          </p:cNvSpPr>
          <p:nvPr>
            <p:ph type="ftr" sz="quarter" idx="3"/>
          </p:nvPr>
        </p:nvSpPr>
        <p:spPr>
          <a:xfrm>
            <a:off x="6033600" y="6210000"/>
            <a:ext cx="4993200" cy="648000"/>
          </a:xfrm>
          <a:prstGeom prst="rect">
            <a:avLst/>
          </a:prstGeom>
        </p:spPr>
        <p:txBody>
          <a:bodyPr vert="horz" lIns="0" tIns="0" rIns="180000" bIns="0" rtlCol="0" anchor="ctr"/>
          <a:lstStyle>
            <a:lvl1pPr algn="r">
              <a:defRPr sz="1000" baseline="0">
                <a:solidFill>
                  <a:schemeClr val="bg1"/>
                </a:solidFill>
                <a:latin typeface="Arial" charset="0"/>
              </a:defRPr>
            </a:lvl1pPr>
          </a:lstStyle>
          <a:p>
            <a:r>
              <a:rPr lang="nl-NL"/>
              <a:t>Faculteit, departement, dienst …</a:t>
            </a:r>
            <a:endParaRPr lang="nl-NL" dirty="0"/>
          </a:p>
        </p:txBody>
      </p:sp>
      <p:sp>
        <p:nvSpPr>
          <p:cNvPr id="6" name="Tijdelijke aanduiding voor dianummer 5"/>
          <p:cNvSpPr>
            <a:spLocks noGrp="1"/>
          </p:cNvSpPr>
          <p:nvPr>
            <p:ph type="sldNum" sz="quarter" idx="4"/>
          </p:nvPr>
        </p:nvSpPr>
        <p:spPr>
          <a:xfrm>
            <a:off x="576000" y="6210000"/>
            <a:ext cx="648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0A297500-7527-634B-90F4-69D0994C32B4}" type="slidenum">
              <a:rPr lang="nl-NL" smtClean="0"/>
              <a:pPr/>
              <a:t>‹#›</a:t>
            </a:fld>
            <a:endParaRPr lang="nl-NL" dirty="0"/>
          </a:p>
        </p:txBody>
      </p:sp>
    </p:spTree>
    <p:extLst>
      <p:ext uri="{BB962C8B-B14F-4D97-AF65-F5344CB8AC3E}">
        <p14:creationId xmlns:p14="http://schemas.microsoft.com/office/powerpoint/2010/main" val="463755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60" r:id="rId4"/>
    <p:sldLayoutId id="2147483652" r:id="rId5"/>
    <p:sldLayoutId id="2147483653" r:id="rId6"/>
    <p:sldLayoutId id="2147483654" r:id="rId7"/>
    <p:sldLayoutId id="2147483655" r:id="rId8"/>
    <p:sldLayoutId id="2147483661" r:id="rId9"/>
  </p:sldLayoutIdLst>
  <p:hf hdr="0" dt="0"/>
  <p:txStyles>
    <p:titleStyle>
      <a:lvl1pPr algn="l" defTabSz="914400" rtl="0" eaLnBrk="1" latinLnBrk="0" hangingPunct="1">
        <a:lnSpc>
          <a:spcPct val="100000"/>
        </a:lnSpc>
        <a:spcBef>
          <a:spcPct val="0"/>
        </a:spcBef>
        <a:buNone/>
        <a:defRPr sz="4000" kern="1200" baseline="0">
          <a:solidFill>
            <a:schemeClr val="tx2"/>
          </a:solidFill>
          <a:latin typeface="Arial" charset="0"/>
          <a:ea typeface="+mj-ea"/>
          <a:cs typeface="+mj-cs"/>
        </a:defRPr>
      </a:lvl1pPr>
    </p:titleStyle>
    <p:bodyStyle>
      <a:lvl1pPr marL="228600" indent="-228600" algn="l" defTabSz="914400" rtl="0" eaLnBrk="1" latinLnBrk="0" hangingPunct="1">
        <a:lnSpc>
          <a:spcPct val="100000"/>
        </a:lnSpc>
        <a:spcBef>
          <a:spcPts val="1000"/>
        </a:spcBef>
        <a:buFont typeface="Arial"/>
        <a:buChar char="•"/>
        <a:defRPr sz="2400" kern="1200" baseline="0">
          <a:solidFill>
            <a:schemeClr val="tx1"/>
          </a:solidFill>
          <a:latin typeface="Arial" charset="0"/>
          <a:ea typeface="+mn-ea"/>
          <a:cs typeface="+mn-cs"/>
        </a:defRPr>
      </a:lvl1pPr>
      <a:lvl2pPr marL="685800" indent="-228600" algn="l" defTabSz="914400" rtl="0" eaLnBrk="1" latinLnBrk="0" hangingPunct="1">
        <a:lnSpc>
          <a:spcPct val="100000"/>
        </a:lnSpc>
        <a:spcBef>
          <a:spcPts val="500"/>
        </a:spcBef>
        <a:buFont typeface="Arial"/>
        <a:buChar char="•"/>
        <a:defRPr sz="2400" kern="1200" baseline="0">
          <a:solidFill>
            <a:schemeClr val="tx1"/>
          </a:solidFill>
          <a:latin typeface="Arial" charset="0"/>
          <a:ea typeface="+mn-ea"/>
          <a:cs typeface="+mn-cs"/>
        </a:defRPr>
      </a:lvl2pPr>
      <a:lvl3pPr marL="1143000" indent="-228600" algn="l" defTabSz="914400" rtl="0" eaLnBrk="1" latinLnBrk="0" hangingPunct="1">
        <a:lnSpc>
          <a:spcPct val="100000"/>
        </a:lnSpc>
        <a:spcBef>
          <a:spcPts val="500"/>
        </a:spcBef>
        <a:buFont typeface="Arial"/>
        <a:buChar char="•"/>
        <a:defRPr sz="2000" kern="1200" baseline="0">
          <a:solidFill>
            <a:schemeClr val="tx1"/>
          </a:solidFill>
          <a:latin typeface="Arial" charset="0"/>
          <a:ea typeface="+mn-ea"/>
          <a:cs typeface="+mn-cs"/>
        </a:defRPr>
      </a:lvl3pPr>
      <a:lvl4pPr marL="1600200" indent="-228600" algn="l" defTabSz="914400" rtl="0" eaLnBrk="1" latinLnBrk="0" hangingPunct="1">
        <a:lnSpc>
          <a:spcPct val="100000"/>
        </a:lnSpc>
        <a:spcBef>
          <a:spcPts val="500"/>
        </a:spcBef>
        <a:buFont typeface="Arial"/>
        <a:buChar char="•"/>
        <a:defRPr sz="1800" kern="1200" baseline="0">
          <a:solidFill>
            <a:schemeClr val="tx1"/>
          </a:solidFill>
          <a:latin typeface="Arial" charset="0"/>
          <a:ea typeface="+mn-ea"/>
          <a:cs typeface="+mn-cs"/>
        </a:defRPr>
      </a:lvl4pPr>
      <a:lvl5pPr marL="2057400" indent="-228600" algn="l" defTabSz="914400" rtl="0" eaLnBrk="1" latinLnBrk="0" hangingPunct="1">
        <a:lnSpc>
          <a:spcPct val="100000"/>
        </a:lnSpc>
        <a:spcBef>
          <a:spcPts val="500"/>
        </a:spcBef>
        <a:buFont typeface="Arial"/>
        <a:buChar char="•"/>
        <a:defRPr sz="1800" kern="1200" baseline="0">
          <a:solidFill>
            <a:schemeClr val="tx1"/>
          </a:solidFill>
          <a:latin typeface="Arial"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42" userDrawn="1">
          <p15:clr>
            <a:srgbClr val="F26B43"/>
          </p15:clr>
        </p15:guide>
        <p15:guide id="2" pos="7319" userDrawn="1">
          <p15:clr>
            <a:srgbClr val="F26B43"/>
          </p15:clr>
        </p15:guide>
        <p15:guide id="3" orient="horz" pos="3857" userDrawn="1">
          <p15:clr>
            <a:srgbClr val="F26B43"/>
          </p15:clr>
        </p15:guide>
        <p15:guide id="4" pos="362"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hoek 6"/>
          <p:cNvSpPr/>
          <p:nvPr/>
        </p:nvSpPr>
        <p:spPr>
          <a:xfrm>
            <a:off x="0" y="6210000"/>
            <a:ext cx="12192000" cy="64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a:p>
        </p:txBody>
      </p:sp>
      <p:pic>
        <p:nvPicPr>
          <p:cNvPr id="8" name="Afbeelding 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041200" y="6353999"/>
            <a:ext cx="1008305" cy="360000"/>
          </a:xfrm>
          <a:prstGeom prst="rect">
            <a:avLst/>
          </a:prstGeom>
        </p:spPr>
      </p:pic>
      <p:sp>
        <p:nvSpPr>
          <p:cNvPr id="2" name="Tijdelijke aanduiding voor titel 1"/>
          <p:cNvSpPr>
            <a:spLocks noGrp="1"/>
          </p:cNvSpPr>
          <p:nvPr>
            <p:ph type="title"/>
          </p:nvPr>
        </p:nvSpPr>
        <p:spPr>
          <a:xfrm>
            <a:off x="576000" y="216000"/>
            <a:ext cx="11041200" cy="1152000"/>
          </a:xfrm>
          <a:prstGeom prst="rect">
            <a:avLst/>
          </a:prstGeom>
        </p:spPr>
        <p:txBody>
          <a:bodyPr vert="horz" lIns="0" tIns="0" rIns="0" bIns="0" rtlCol="0" anchor="ctr" anchorCtr="0">
            <a:normAutofit/>
          </a:bodyPr>
          <a:lstStyle/>
          <a:p>
            <a:r>
              <a:rPr lang="nl-NL" dirty="0"/>
              <a:t>Titelstijl van model bewerken</a:t>
            </a:r>
          </a:p>
        </p:txBody>
      </p:sp>
      <p:sp>
        <p:nvSpPr>
          <p:cNvPr id="3" name="Tijdelijke aanduiding voor tekst 2"/>
          <p:cNvSpPr>
            <a:spLocks noGrp="1"/>
          </p:cNvSpPr>
          <p:nvPr>
            <p:ph type="body" idx="1"/>
          </p:nvPr>
        </p:nvSpPr>
        <p:spPr>
          <a:xfrm>
            <a:off x="576000" y="1656000"/>
            <a:ext cx="11041200" cy="4464000"/>
          </a:xfrm>
          <a:prstGeom prst="rect">
            <a:avLst/>
          </a:prstGeom>
        </p:spPr>
        <p:txBody>
          <a:bodyPr vert="horz" lIns="91440" tIns="45720" rIns="91440" bIns="45720" rtlCol="0">
            <a:norm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Tijdelijke aanduiding voor datum 3"/>
          <p:cNvSpPr>
            <a:spLocks noGrp="1"/>
          </p:cNvSpPr>
          <p:nvPr>
            <p:ph type="dt" sz="half" idx="2"/>
          </p:nvPr>
        </p:nvSpPr>
        <p:spPr>
          <a:xfrm>
            <a:off x="1440000" y="6210000"/>
            <a:ext cx="720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48C250A7-EEA6-4BD5-AB95-D7BF57F3506B}" type="datetime1">
              <a:rPr lang="nl-BE" smtClean="0"/>
              <a:t>20/05/2026</a:t>
            </a:fld>
            <a:endParaRPr lang="nl-NL" dirty="0"/>
          </a:p>
        </p:txBody>
      </p:sp>
      <p:sp>
        <p:nvSpPr>
          <p:cNvPr id="5" name="Tijdelijke aanduiding voor voettekst 4"/>
          <p:cNvSpPr>
            <a:spLocks noGrp="1"/>
          </p:cNvSpPr>
          <p:nvPr>
            <p:ph type="ftr" sz="quarter" idx="3"/>
          </p:nvPr>
        </p:nvSpPr>
        <p:spPr>
          <a:xfrm>
            <a:off x="6033600" y="6210000"/>
            <a:ext cx="4993200" cy="648000"/>
          </a:xfrm>
          <a:prstGeom prst="rect">
            <a:avLst/>
          </a:prstGeom>
        </p:spPr>
        <p:txBody>
          <a:bodyPr vert="horz" lIns="0" tIns="0" rIns="180000" bIns="0" rtlCol="0" anchor="ctr"/>
          <a:lstStyle>
            <a:lvl1pPr algn="r">
              <a:defRPr sz="1000" baseline="0">
                <a:solidFill>
                  <a:schemeClr val="bg1"/>
                </a:solidFill>
                <a:latin typeface="Arial" charset="0"/>
              </a:defRPr>
            </a:lvl1pPr>
          </a:lstStyle>
          <a:p>
            <a:r>
              <a:rPr lang="nl-NL"/>
              <a:t>Faculteit, departement, dienst …</a:t>
            </a:r>
            <a:endParaRPr lang="nl-NL" dirty="0"/>
          </a:p>
        </p:txBody>
      </p:sp>
      <p:sp>
        <p:nvSpPr>
          <p:cNvPr id="6" name="Tijdelijke aanduiding voor dianummer 5"/>
          <p:cNvSpPr>
            <a:spLocks noGrp="1"/>
          </p:cNvSpPr>
          <p:nvPr>
            <p:ph type="sldNum" sz="quarter" idx="4"/>
          </p:nvPr>
        </p:nvSpPr>
        <p:spPr>
          <a:xfrm>
            <a:off x="576000" y="6210000"/>
            <a:ext cx="648000" cy="648000"/>
          </a:xfrm>
          <a:prstGeom prst="rect">
            <a:avLst/>
          </a:prstGeom>
        </p:spPr>
        <p:txBody>
          <a:bodyPr vert="horz" lIns="0" tIns="0" rIns="0" bIns="0" rtlCol="0" anchor="ctr"/>
          <a:lstStyle>
            <a:lvl1pPr algn="l">
              <a:defRPr sz="1000" baseline="0">
                <a:solidFill>
                  <a:schemeClr val="bg1"/>
                </a:solidFill>
                <a:latin typeface="Arial" charset="0"/>
              </a:defRPr>
            </a:lvl1pPr>
          </a:lstStyle>
          <a:p>
            <a:fld id="{0A297500-7527-634B-90F4-69D0994C32B4}" type="slidenum">
              <a:rPr lang="nl-NL" smtClean="0"/>
              <a:pPr/>
              <a:t>‹#›</a:t>
            </a:fld>
            <a:endParaRPr lang="nl-NL" dirty="0"/>
          </a:p>
        </p:txBody>
      </p:sp>
    </p:spTree>
    <p:extLst>
      <p:ext uri="{BB962C8B-B14F-4D97-AF65-F5344CB8AC3E}">
        <p14:creationId xmlns:p14="http://schemas.microsoft.com/office/powerpoint/2010/main" val="1732523238"/>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Lst>
  <p:hf hdr="0" dt="0"/>
  <p:txStyles>
    <p:titleStyle>
      <a:lvl1pPr algn="l" defTabSz="914400" rtl="0" eaLnBrk="1" latinLnBrk="0" hangingPunct="1">
        <a:lnSpc>
          <a:spcPct val="100000"/>
        </a:lnSpc>
        <a:spcBef>
          <a:spcPct val="0"/>
        </a:spcBef>
        <a:buNone/>
        <a:defRPr sz="4000" kern="1200" baseline="0">
          <a:solidFill>
            <a:schemeClr val="tx2"/>
          </a:solidFill>
          <a:latin typeface="Arial" charset="0"/>
          <a:ea typeface="+mj-ea"/>
          <a:cs typeface="+mj-cs"/>
        </a:defRPr>
      </a:lvl1pPr>
    </p:titleStyle>
    <p:bodyStyle>
      <a:lvl1pPr marL="228600" indent="-228600" algn="l" defTabSz="914400" rtl="0" eaLnBrk="1" latinLnBrk="0" hangingPunct="1">
        <a:lnSpc>
          <a:spcPct val="100000"/>
        </a:lnSpc>
        <a:spcBef>
          <a:spcPts val="1000"/>
        </a:spcBef>
        <a:buFont typeface="Arial"/>
        <a:buChar char="•"/>
        <a:defRPr sz="2400" kern="1200" baseline="0">
          <a:solidFill>
            <a:schemeClr val="tx1"/>
          </a:solidFill>
          <a:latin typeface="Arial" charset="0"/>
          <a:ea typeface="+mn-ea"/>
          <a:cs typeface="+mn-cs"/>
        </a:defRPr>
      </a:lvl1pPr>
      <a:lvl2pPr marL="685800" indent="-228600" algn="l" defTabSz="914400" rtl="0" eaLnBrk="1" latinLnBrk="0" hangingPunct="1">
        <a:lnSpc>
          <a:spcPct val="100000"/>
        </a:lnSpc>
        <a:spcBef>
          <a:spcPts val="500"/>
        </a:spcBef>
        <a:buFont typeface="Arial"/>
        <a:buChar char="•"/>
        <a:defRPr sz="2400" kern="1200" baseline="0">
          <a:solidFill>
            <a:schemeClr val="tx1"/>
          </a:solidFill>
          <a:latin typeface="Arial" charset="0"/>
          <a:ea typeface="+mn-ea"/>
          <a:cs typeface="+mn-cs"/>
        </a:defRPr>
      </a:lvl2pPr>
      <a:lvl3pPr marL="1143000" indent="-228600" algn="l" defTabSz="914400" rtl="0" eaLnBrk="1" latinLnBrk="0" hangingPunct="1">
        <a:lnSpc>
          <a:spcPct val="100000"/>
        </a:lnSpc>
        <a:spcBef>
          <a:spcPts val="500"/>
        </a:spcBef>
        <a:buFont typeface="Arial"/>
        <a:buChar char="•"/>
        <a:defRPr sz="2000" kern="1200" baseline="0">
          <a:solidFill>
            <a:schemeClr val="tx1"/>
          </a:solidFill>
          <a:latin typeface="Arial" charset="0"/>
          <a:ea typeface="+mn-ea"/>
          <a:cs typeface="+mn-cs"/>
        </a:defRPr>
      </a:lvl3pPr>
      <a:lvl4pPr marL="1600200" indent="-228600" algn="l" defTabSz="914400" rtl="0" eaLnBrk="1" latinLnBrk="0" hangingPunct="1">
        <a:lnSpc>
          <a:spcPct val="100000"/>
        </a:lnSpc>
        <a:spcBef>
          <a:spcPts val="500"/>
        </a:spcBef>
        <a:buFont typeface="Arial"/>
        <a:buChar char="•"/>
        <a:defRPr sz="1800" kern="1200" baseline="0">
          <a:solidFill>
            <a:schemeClr val="tx1"/>
          </a:solidFill>
          <a:latin typeface="Arial" charset="0"/>
          <a:ea typeface="+mn-ea"/>
          <a:cs typeface="+mn-cs"/>
        </a:defRPr>
      </a:lvl4pPr>
      <a:lvl5pPr marL="2057400" indent="-228600" algn="l" defTabSz="914400" rtl="0" eaLnBrk="1" latinLnBrk="0" hangingPunct="1">
        <a:lnSpc>
          <a:spcPct val="100000"/>
        </a:lnSpc>
        <a:spcBef>
          <a:spcPts val="500"/>
        </a:spcBef>
        <a:buFont typeface="Arial"/>
        <a:buChar char="•"/>
        <a:defRPr sz="1800" kern="1200" baseline="0">
          <a:solidFill>
            <a:schemeClr val="tx1"/>
          </a:solidFill>
          <a:latin typeface="Arial"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5.xml"/><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sz="4000" b="1"/>
              <a:t>Multiresolution topology optimization</a:t>
            </a:r>
          </a:p>
          <a:p>
            <a:pPr>
              <a:spcBef>
                <a:spcPts val="1200"/>
              </a:spcBef>
            </a:pPr>
            <a:r>
              <a:rPr sz="2000"/>
              <a:t>Computational-efficiency assessment for the half MBB beam</a:t>
            </a:r>
          </a:p>
        </p:txBody>
      </p:sp>
      <p:sp>
        <p:nvSpPr>
          <p:cNvPr id="3" name="Subtitle 2"/>
          <p:cNvSpPr>
            <a:spLocks noGrp="1"/>
          </p:cNvSpPr>
          <p:nvPr>
            <p:ph type="subTitle" idx="1"/>
          </p:nvPr>
        </p:nvSpPr>
        <p:spPr>
          <a:xfrm>
            <a:off x="576000" y="5230000"/>
            <a:ext cx="6380000" cy="1250000"/>
          </a:xfrm>
        </p:spPr>
        <p:txBody>
          <a:bodyPr wrap="square"/>
          <a:lstStyle/>
          <a:p>
            <a:pPr>
              <a:spcAft>
                <a:spcPts val="400"/>
              </a:spcAft>
            </a:pPr>
            <a:r>
              <a:rPr sz="1600" b="1"/>
              <a:t>Lukas Campaert  ·  Tiebert Lefebure</a:t>
            </a:r>
          </a:p>
          <a:p>
            <a:pPr>
              <a:spcAft>
                <a:spcPts val="400"/>
              </a:spcAft>
            </a:pPr>
            <a:r>
              <a:rPr sz="1300" b="0"/>
              <a:t>Structural Optimization  ·  B-KUL-H0T88A  ·  Prof. M. Schevenels</a:t>
            </a:r>
          </a:p>
          <a:p>
            <a:pPr>
              <a:spcAft>
                <a:spcPts val="400"/>
              </a:spcAft>
            </a:pPr>
            <a:r>
              <a:rPr sz="1300" b="0"/>
              <a:t>Faculty of Engineering Science  ·  Academic Year 2025-2026</a:t>
            </a:r>
          </a:p>
        </p:txBody>
      </p:sp>
      <p:pic>
        <p:nvPicPr>
          <p:cNvPr id="4" name="Picture 3" descr="mtop_oc_sensitivity_design.png"/>
          <p:cNvPicPr>
            <a:picLocks noChangeAspect="1"/>
          </p:cNvPicPr>
          <p:nvPr/>
        </p:nvPicPr>
        <p:blipFill>
          <a:blip r:embed="rId3"/>
          <a:stretch>
            <a:fillRect/>
          </a:stretch>
        </p:blipFill>
        <p:spPr>
          <a:xfrm>
            <a:off x="7248525" y="3146099"/>
            <a:ext cx="4368673" cy="148496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Minimum-compliance topology optimization of the half MBB beam</a:t>
            </a:r>
          </a:p>
          <a:p>
            <a:pPr>
              <a:spcBef>
                <a:spcPts val="200"/>
              </a:spcBef>
              <a:spcAft>
                <a:spcPts val="800"/>
              </a:spcAft>
            </a:pPr>
            <a:r>
              <a:rPr sz="1900" b="0">
                <a:solidFill>
                  <a:srgbClr val="2F4D5D"/>
                </a:solidFill>
              </a:rPr>
              <a:t>MTOP (Nguyen et al., 2010): describe the design on a fine density mesh, solve the equilibrium on a coarser mesh</a:t>
            </a:r>
          </a:p>
          <a:p>
            <a:pPr>
              <a:spcBef>
                <a:spcPts val="200"/>
              </a:spcBef>
              <a:spcAft>
                <a:spcPts val="800"/>
              </a:spcAft>
            </a:pPr>
            <a:r>
              <a:rPr sz="1900" b="0">
                <a:solidFill>
                  <a:srgbClr val="2F4D5D"/>
                </a:solidFill>
              </a:rPr>
              <a:t>A smaller system K u = f should lower the computation time</a:t>
            </a:r>
          </a:p>
          <a:p>
            <a:pPr>
              <a:spcBef>
                <a:spcPts val="200"/>
              </a:spcBef>
              <a:spcAft>
                <a:spcPts val="800"/>
              </a:spcAft>
            </a:pPr>
            <a:r>
              <a:rPr sz="1900" b="0">
                <a:solidFill>
                  <a:srgbClr val="2F4D5D"/>
                </a:solidFill>
              </a:rPr>
              <a:t>The original paper reports no computation times or speedup factors</a:t>
            </a:r>
          </a:p>
          <a:p>
            <a:pPr>
              <a:spcBef>
                <a:spcPts val="200"/>
              </a:spcBef>
              <a:spcAft>
                <a:spcPts val="800"/>
              </a:spcAft>
            </a:pPr>
            <a:r>
              <a:rPr sz="1900" b="1">
                <a:solidFill>
                  <a:srgbClr val="2F4D5D"/>
                </a:solidFill>
              </a:rPr>
              <a:t>Research question: how large is the speedup, and is the optimized design preserved?</a:t>
            </a:r>
          </a:p>
        </p:txBody>
      </p:sp>
      <p:sp>
        <p:nvSpPr>
          <p:cNvPr id="4" name="Title 3"/>
          <p:cNvSpPr>
            <a:spLocks noGrp="1"/>
          </p:cNvSpPr>
          <p:nvPr>
            <p:ph type="title"/>
          </p:nvPr>
        </p:nvSpPr>
        <p:spPr/>
        <p:txBody>
          <a:bodyPr/>
          <a:lstStyle/>
          <a:p>
            <a:r>
              <a:rPr sz="3200"/>
              <a:t>Problem statement and research question</a:t>
            </a:r>
          </a:p>
        </p:txBody>
      </p:sp>
      <p:pic>
        <p:nvPicPr>
          <p:cNvPr id="5" name="Picture 4" descr="gen_idea.png"/>
          <p:cNvPicPr>
            <a:picLocks noChangeAspect="1"/>
          </p:cNvPicPr>
          <p:nvPr/>
        </p:nvPicPr>
        <p:blipFill>
          <a:blip r:embed="rId3"/>
          <a:stretch>
            <a:fillRect/>
          </a:stretch>
        </p:blipFill>
        <p:spPr>
          <a:xfrm>
            <a:off x="5815464" y="1410000"/>
            <a:ext cx="5671071" cy="4740000"/>
          </a:xfrm>
          <a:prstGeom prst="rect">
            <a:avLst/>
          </a:prstGeom>
        </p:spPr>
      </p:pic>
      <p:sp>
        <p:nvSpPr>
          <p:cNvPr id="6" name="TextBox 5"/>
          <p:cNvSpPr txBox="1"/>
          <p:nvPr/>
        </p:nvSpPr>
        <p:spPr>
          <a:xfrm>
            <a:off x="6033600" y="6210000"/>
            <a:ext cx="4993200" cy="648000"/>
          </a:xfrm>
          <a:prstGeom prst="rect">
            <a:avLst/>
          </a:prstGeom>
          <a:noFill/>
        </p:spPr>
        <p:txBody>
          <a:bodyPr wrap="square" lIns="36000" tIns="18000" rIns="36000" bIns="18000" anchor="ctr">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lIns="36000" tIns="18000" rIns="36000" bIns="18000" anchor="ctr">
            <a:spAutoFit/>
          </a:bodyPr>
          <a:lstStyle/>
          <a:p>
            <a:pPr algn="l"/>
            <a:r>
              <a:rPr sz="1000" b="0">
                <a:solidFill>
                  <a:srgbClr val="FFFFFF"/>
                </a:solidFil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Half MBB beam, plane stress, bilinear Q4 elements</a:t>
            </a:r>
          </a:p>
          <a:p>
            <a:pPr>
              <a:spcBef>
                <a:spcPts val="200"/>
              </a:spcBef>
              <a:spcAft>
                <a:spcPts val="800"/>
              </a:spcAft>
            </a:pPr>
            <a:r>
              <a:rPr sz="1900" b="0">
                <a:solidFill>
                  <a:srgbClr val="2F4D5D"/>
                </a:solidFill>
              </a:rPr>
              <a:t>Unit point load at the upper-left corner</a:t>
            </a:r>
          </a:p>
          <a:p>
            <a:pPr>
              <a:spcBef>
                <a:spcPts val="200"/>
              </a:spcBef>
              <a:spcAft>
                <a:spcPts val="800"/>
              </a:spcAft>
            </a:pPr>
            <a:r>
              <a:rPr sz="1900" b="0">
                <a:solidFill>
                  <a:srgbClr val="2F4D5D"/>
                </a:solidFill>
              </a:rPr>
              <a:t>Symmetry support on the left edge, roller at the lower-right corner</a:t>
            </a:r>
          </a:p>
          <a:p>
            <a:pPr>
              <a:spcBef>
                <a:spcPts val="200"/>
              </a:spcBef>
              <a:spcAft>
                <a:spcPts val="800"/>
              </a:spcAft>
            </a:pPr>
            <a:r>
              <a:rPr sz="1900" b="0">
                <a:solidFill>
                  <a:srgbClr val="2F4D5D"/>
                </a:solidFill>
              </a:rPr>
              <a:t>Volume fraction 0.5, SIMP penalization power 3</a:t>
            </a:r>
          </a:p>
          <a:p>
            <a:pPr>
              <a:spcBef>
                <a:spcPts val="200"/>
              </a:spcBef>
              <a:spcAft>
                <a:spcPts val="800"/>
              </a:spcAft>
            </a:pPr>
            <a:r>
              <a:rPr sz="1900" b="0">
                <a:solidFill>
                  <a:srgbClr val="2F4D5D"/>
                </a:solidFill>
              </a:rPr>
              <a:t>Cone filter radius of 24 density cells</a:t>
            </a:r>
          </a:p>
          <a:p>
            <a:pPr>
              <a:spcBef>
                <a:spcPts val="200"/>
              </a:spcBef>
              <a:spcAft>
                <a:spcPts val="800"/>
              </a:spcAft>
            </a:pPr>
            <a:r>
              <a:rPr sz="1900" b="1">
                <a:solidFill>
                  <a:srgbClr val="2F4D5D"/>
                </a:solidFill>
              </a:rPr>
              <a:t>These settings are fixed for every experiment</a:t>
            </a:r>
          </a:p>
        </p:txBody>
      </p:sp>
      <p:sp>
        <p:nvSpPr>
          <p:cNvPr id="4" name="Title 3"/>
          <p:cNvSpPr>
            <a:spLocks noGrp="1"/>
          </p:cNvSpPr>
          <p:nvPr>
            <p:ph type="title"/>
          </p:nvPr>
        </p:nvSpPr>
        <p:spPr/>
        <p:txBody>
          <a:bodyPr/>
          <a:lstStyle/>
          <a:p>
            <a:r>
              <a:rPr sz="3200"/>
              <a:t>The structural model: half MBB beam</a:t>
            </a:r>
          </a:p>
        </p:txBody>
      </p:sp>
      <p:pic>
        <p:nvPicPr>
          <p:cNvPr id="5" name="Picture 4" descr="geometry.png"/>
          <p:cNvPicPr>
            <a:picLocks noChangeAspect="1"/>
          </p:cNvPicPr>
          <p:nvPr/>
        </p:nvPicPr>
        <p:blipFill>
          <a:blip r:embed="rId3"/>
          <a:stretch>
            <a:fillRect/>
          </a:stretch>
        </p:blipFill>
        <p:spPr>
          <a:xfrm>
            <a:off x="5686000" y="1851201"/>
            <a:ext cx="5930000" cy="3857597"/>
          </a:xfrm>
          <a:prstGeom prst="rect">
            <a:avLst/>
          </a:prstGeom>
        </p:spPr>
      </p:pic>
      <p:sp>
        <p:nvSpPr>
          <p:cNvPr id="6" name="TextBox 5"/>
          <p:cNvSpPr txBox="1"/>
          <p:nvPr/>
        </p:nvSpPr>
        <p:spPr>
          <a:xfrm>
            <a:off x="6033600" y="6210000"/>
            <a:ext cx="4993200" cy="648000"/>
          </a:xfrm>
          <a:prstGeom prst="rect">
            <a:avLst/>
          </a:prstGeom>
          <a:noFill/>
        </p:spPr>
        <p:txBody>
          <a:bodyPr wrap="square" lIns="36000" tIns="18000" rIns="36000" bIns="18000" anchor="ctr">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lIns="36000" tIns="18000" rIns="36000" bIns="18000" anchor="ctr">
            <a:spAutoFit/>
          </a:bodyPr>
          <a:lstStyle/>
          <a:p>
            <a:pPr algn="l"/>
            <a:r>
              <a:rPr sz="1000" b="0">
                <a:solidFill>
                  <a:srgbClr val="FFFFFF"/>
                </a:solidFil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Classical: analysis mesh = density mesh (600 × 200)</a:t>
            </a:r>
          </a:p>
          <a:p>
            <a:pPr>
              <a:spcBef>
                <a:spcPts val="200"/>
              </a:spcBef>
              <a:spcAft>
                <a:spcPts val="800"/>
              </a:spcAft>
            </a:pPr>
            <a:r>
              <a:rPr sz="1900" b="0">
                <a:solidFill>
                  <a:srgbClr val="2F4D5D"/>
                </a:solidFill>
              </a:rPr>
              <a:t>MTOP: coarse 120 × 40 analysis mesh, 5 × 5 density cells per element</a:t>
            </a:r>
          </a:p>
          <a:p>
            <a:pPr>
              <a:spcBef>
                <a:spcPts val="200"/>
              </a:spcBef>
              <a:spcAft>
                <a:spcPts val="800"/>
              </a:spcAft>
            </a:pPr>
            <a:r>
              <a:rPr sz="1900" b="0">
                <a:solidFill>
                  <a:srgbClr val="2F4D5D"/>
                </a:solidFill>
              </a:rPr>
              <a:t>Same 600 × 200 design resolution, far fewer equations</a:t>
            </a:r>
          </a:p>
          <a:p>
            <a:pPr>
              <a:spcBef>
                <a:spcPts val="200"/>
              </a:spcBef>
              <a:spcAft>
                <a:spcPts val="800"/>
              </a:spcAft>
            </a:pPr>
            <a:r>
              <a:rPr sz="1900" b="0">
                <a:solidFill>
                  <a:srgbClr val="2F4D5D"/>
                </a:solidFill>
              </a:rPr>
              <a:t>Element stiffness by midpoint quadrature; 25 sub-cell templates precomputed once per run</a:t>
            </a:r>
          </a:p>
          <a:p>
            <a:pPr>
              <a:spcBef>
                <a:spcPts val="200"/>
              </a:spcBef>
              <a:spcAft>
                <a:spcPts val="800"/>
              </a:spcAft>
            </a:pPr>
            <a:r>
              <a:rPr sz="1900" b="1">
                <a:solidFill>
                  <a:srgbClr val="2F4D5D"/>
                </a:solidFill>
              </a:rPr>
              <a:t>Free degrees of freedom: 241,000 → 9,900</a:t>
            </a:r>
          </a:p>
        </p:txBody>
      </p:sp>
      <p:sp>
        <p:nvSpPr>
          <p:cNvPr id="4" name="Title 3"/>
          <p:cNvSpPr>
            <a:spLocks noGrp="1"/>
          </p:cNvSpPr>
          <p:nvPr>
            <p:ph type="title"/>
          </p:nvPr>
        </p:nvSpPr>
        <p:spPr/>
        <p:txBody>
          <a:bodyPr/>
          <a:lstStyle/>
          <a:p>
            <a:r>
              <a:rPr sz="3200"/>
              <a:t>The MTOP idea: decouple analysis from design</a:t>
            </a:r>
          </a:p>
        </p:txBody>
      </p:sp>
      <p:pic>
        <p:nvPicPr>
          <p:cNvPr id="5" name="Picture 4" descr="gen_concept_meshes.png"/>
          <p:cNvPicPr>
            <a:picLocks noChangeAspect="1"/>
          </p:cNvPicPr>
          <p:nvPr/>
        </p:nvPicPr>
        <p:blipFill>
          <a:blip r:embed="rId3"/>
          <a:stretch>
            <a:fillRect/>
          </a:stretch>
        </p:blipFill>
        <p:spPr>
          <a:xfrm>
            <a:off x="5436000" y="2325169"/>
            <a:ext cx="6180000" cy="2909661"/>
          </a:xfrm>
          <a:prstGeom prst="rect">
            <a:avLst/>
          </a:prstGeom>
        </p:spPr>
      </p:pic>
      <p:sp>
        <p:nvSpPr>
          <p:cNvPr id="6" name="TextBox 5"/>
          <p:cNvSpPr txBox="1"/>
          <p:nvPr/>
        </p:nvSpPr>
        <p:spPr>
          <a:xfrm>
            <a:off x="6033600" y="6210000"/>
            <a:ext cx="4993200" cy="648000"/>
          </a:xfrm>
          <a:prstGeom prst="rect">
            <a:avLst/>
          </a:prstGeom>
          <a:noFill/>
        </p:spPr>
        <p:txBody>
          <a:bodyPr wrap="square" lIns="36000" tIns="18000" rIns="36000" bIns="18000" anchor="ctr">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lIns="36000" tIns="18000" rIns="36000" bIns="18000" anchor="ctr">
            <a:spAutoFit/>
          </a:bodyPr>
          <a:lstStyle/>
          <a:p>
            <a:pPr algn="l"/>
            <a:r>
              <a:rPr sz="1000" b="0">
                <a:solidFill>
                  <a:srgbClr val="FFFFFF"/>
                </a:solidFil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Design variables: the density of each density cell</a:t>
            </a:r>
          </a:p>
          <a:p>
            <a:pPr>
              <a:spcBef>
                <a:spcPts val="200"/>
              </a:spcBef>
              <a:spcAft>
                <a:spcPts val="800"/>
              </a:spcAft>
            </a:pPr>
            <a:r>
              <a:rPr sz="1900" b="0">
                <a:solidFill>
                  <a:srgbClr val="2F4D5D"/>
                </a:solidFill>
              </a:rPr>
              <a:t>Objective: minimize compliance (maximize stiffness)</a:t>
            </a:r>
          </a:p>
          <a:p>
            <a:pPr>
              <a:spcBef>
                <a:spcPts val="200"/>
              </a:spcBef>
              <a:spcAft>
                <a:spcPts val="800"/>
              </a:spcAft>
            </a:pPr>
            <a:r>
              <a:rPr sz="1900" b="0">
                <a:solidFill>
                  <a:srgbClr val="2F4D5D"/>
                </a:solidFill>
              </a:rPr>
              <a:t>Constraint: material volume fraction at most 0.5</a:t>
            </a:r>
          </a:p>
          <a:p>
            <a:pPr>
              <a:spcBef>
                <a:spcPts val="200"/>
              </a:spcBef>
              <a:spcAft>
                <a:spcPts val="800"/>
              </a:spcAft>
            </a:pPr>
            <a:r>
              <a:rPr sz="1900" b="0">
                <a:solidFill>
                  <a:srgbClr val="2F4D5D"/>
                </a:solidFill>
              </a:rPr>
              <a:t>SIMP material interpolation, penalization power 3</a:t>
            </a:r>
          </a:p>
          <a:p>
            <a:pPr>
              <a:spcBef>
                <a:spcPts val="200"/>
              </a:spcBef>
              <a:spcAft>
                <a:spcPts val="800"/>
              </a:spcAft>
            </a:pPr>
            <a:r>
              <a:rPr sz="1900" b="0">
                <a:solidFill>
                  <a:srgbClr val="2F4D5D"/>
                </a:solidFill>
              </a:rPr>
              <a:t>Cone filter, radius 24 cells (sensitivity or density)</a:t>
            </a:r>
          </a:p>
          <a:p>
            <a:pPr>
              <a:spcBef>
                <a:spcPts val="200"/>
              </a:spcBef>
              <a:spcAft>
                <a:spcPts val="800"/>
              </a:spcAft>
            </a:pPr>
            <a:r>
              <a:rPr sz="1900" b="1">
                <a:solidFill>
                  <a:srgbClr val="2F4D5D"/>
                </a:solidFill>
              </a:rPr>
              <a:t>Seven experiments: OC versus MMA, three filter / projection choices</a:t>
            </a:r>
          </a:p>
        </p:txBody>
      </p:sp>
      <p:sp>
        <p:nvSpPr>
          <p:cNvPr id="4" name="Title 3"/>
          <p:cNvSpPr>
            <a:spLocks noGrp="1"/>
          </p:cNvSpPr>
          <p:nvPr>
            <p:ph type="title"/>
          </p:nvPr>
        </p:nvSpPr>
        <p:spPr/>
        <p:txBody>
          <a:bodyPr/>
          <a:lstStyle/>
          <a:p>
            <a:r>
              <a:rPr sz="3200"/>
              <a:t>Optimization problem and experiment matrix</a:t>
            </a:r>
          </a:p>
        </p:txBody>
      </p:sp>
      <p:graphicFrame>
        <p:nvGraphicFramePr>
          <p:cNvPr id="5" name="Table 4"/>
          <p:cNvGraphicFramePr>
            <a:graphicFrameLocks noGrp="1"/>
          </p:cNvGraphicFramePr>
          <p:nvPr/>
        </p:nvGraphicFramePr>
        <p:xfrm>
          <a:off x="5686000" y="2030000"/>
          <a:ext cx="5930000" cy="3500000"/>
        </p:xfrm>
        <a:graphic>
          <a:graphicData uri="http://schemas.openxmlformats.org/drawingml/2006/table">
            <a:tbl>
              <a:tblPr>
                <a:tableStyleId>{5C22544A-7EE6-4342-B048-85BDC9FD1C3A}</a:tableStyleId>
              </a:tblPr>
              <a:tblGrid>
                <a:gridCol w="720000">
                  <a:extLst>
                    <a:ext uri="{9D8B030D-6E8A-4147-A177-3AD203B41FA5}">
                      <a16:colId xmlns:a16="http://schemas.microsoft.com/office/drawing/2014/main" val="20000"/>
                    </a:ext>
                  </a:extLst>
                </a:gridCol>
                <a:gridCol w="1500000">
                  <a:extLst>
                    <a:ext uri="{9D8B030D-6E8A-4147-A177-3AD203B41FA5}">
                      <a16:colId xmlns:a16="http://schemas.microsoft.com/office/drawing/2014/main" val="20001"/>
                    </a:ext>
                  </a:extLst>
                </a:gridCol>
                <a:gridCol w="1180000">
                  <a:extLst>
                    <a:ext uri="{9D8B030D-6E8A-4147-A177-3AD203B41FA5}">
                      <a16:colId xmlns:a16="http://schemas.microsoft.com/office/drawing/2014/main" val="20002"/>
                    </a:ext>
                  </a:extLst>
                </a:gridCol>
                <a:gridCol w="2530000">
                  <a:extLst>
                    <a:ext uri="{9D8B030D-6E8A-4147-A177-3AD203B41FA5}">
                      <a16:colId xmlns:a16="http://schemas.microsoft.com/office/drawing/2014/main" val="20003"/>
                    </a:ext>
                  </a:extLst>
                </a:gridCol>
              </a:tblGrid>
              <a:tr h="437500">
                <a:tc>
                  <a:txBody>
                    <a:bodyPr/>
                    <a:lstStyle/>
                    <a:p>
                      <a:pPr algn="ctr"/>
                      <a:r>
                        <a:rPr sz="1250" b="1">
                          <a:solidFill>
                            <a:srgbClr val="FFFFFF"/>
                          </a:solidFill>
                        </a:rPr>
                        <a:t>Case</a:t>
                      </a:r>
                    </a:p>
                  </a:txBody>
                  <a:tcPr marL="90000" marR="60000" marT="20000" marB="20000" anchor="ctr">
                    <a:solidFill>
                      <a:srgbClr val="1D8DB0"/>
                    </a:solidFill>
                  </a:tcPr>
                </a:tc>
                <a:tc>
                  <a:txBody>
                    <a:bodyPr/>
                    <a:lstStyle/>
                    <a:p>
                      <a:pPr algn="ctr"/>
                      <a:r>
                        <a:rPr sz="1250" b="1">
                          <a:solidFill>
                            <a:srgbClr val="FFFFFF"/>
                          </a:solidFill>
                        </a:rPr>
                        <a:t>Approach</a:t>
                      </a:r>
                    </a:p>
                  </a:txBody>
                  <a:tcPr marL="90000" marR="60000" marT="20000" marB="20000" anchor="ctr">
                    <a:solidFill>
                      <a:srgbClr val="1D8DB0"/>
                    </a:solidFill>
                  </a:tcPr>
                </a:tc>
                <a:tc>
                  <a:txBody>
                    <a:bodyPr/>
                    <a:lstStyle/>
                    <a:p>
                      <a:pPr algn="ctr"/>
                      <a:r>
                        <a:rPr sz="1250" b="1">
                          <a:solidFill>
                            <a:srgbClr val="FFFFFF"/>
                          </a:solidFill>
                        </a:rPr>
                        <a:t>Optimizer</a:t>
                      </a:r>
                    </a:p>
                  </a:txBody>
                  <a:tcPr marL="90000" marR="60000" marT="20000" marB="20000" anchor="ctr">
                    <a:solidFill>
                      <a:srgbClr val="1D8DB0"/>
                    </a:solidFill>
                  </a:tcPr>
                </a:tc>
                <a:tc>
                  <a:txBody>
                    <a:bodyPr/>
                    <a:lstStyle/>
                    <a:p>
                      <a:pPr algn="l"/>
                      <a:r>
                        <a:rPr sz="1250" b="1">
                          <a:solidFill>
                            <a:srgbClr val="FFFFFF"/>
                          </a:solidFill>
                        </a:rPr>
                        <a:t>Filter / projection</a:t>
                      </a:r>
                    </a:p>
                  </a:txBody>
                  <a:tcPr marL="90000" marR="60000" marT="20000" marB="20000" anchor="ctr">
                    <a:solidFill>
                      <a:srgbClr val="1D8DB0"/>
                    </a:solidFill>
                  </a:tcPr>
                </a:tc>
                <a:extLst>
                  <a:ext uri="{0D108BD9-81ED-4DB2-BD59-A6C34878D82A}">
                    <a16:rowId xmlns:a16="http://schemas.microsoft.com/office/drawing/2014/main" val="10000"/>
                  </a:ext>
                </a:extLst>
              </a:tr>
              <a:tr h="437500">
                <a:tc>
                  <a:txBody>
                    <a:bodyPr/>
                    <a:lstStyle/>
                    <a:p>
                      <a:pPr algn="ctr"/>
                      <a:r>
                        <a:rPr sz="1200" b="0">
                          <a:solidFill>
                            <a:srgbClr val="2F4D5D"/>
                          </a:solidFill>
                        </a:rPr>
                        <a:t>1</a:t>
                      </a:r>
                    </a:p>
                  </a:txBody>
                  <a:tcPr marL="90000" marR="60000" marT="20000" marB="20000" anchor="ctr">
                    <a:solidFill>
                      <a:srgbClr val="FFFFFF"/>
                    </a:solidFill>
                  </a:tcPr>
                </a:tc>
                <a:tc>
                  <a:txBody>
                    <a:bodyPr/>
                    <a:lstStyle/>
                    <a:p>
                      <a:pPr algn="ctr"/>
                      <a:r>
                        <a:rPr sz="1200" b="0">
                          <a:solidFill>
                            <a:srgbClr val="2F4D5D"/>
                          </a:solidFill>
                        </a:rPr>
                        <a:t>Classical</a:t>
                      </a:r>
                    </a:p>
                  </a:txBody>
                  <a:tcPr marL="90000" marR="60000" marT="20000" marB="20000" anchor="ctr">
                    <a:solidFill>
                      <a:srgbClr val="FFFFFF"/>
                    </a:solidFill>
                  </a:tcPr>
                </a:tc>
                <a:tc>
                  <a:txBody>
                    <a:bodyPr/>
                    <a:lstStyle/>
                    <a:p>
                      <a:pPr algn="ctr"/>
                      <a:r>
                        <a:rPr sz="1200" b="0">
                          <a:solidFill>
                            <a:srgbClr val="2F4D5D"/>
                          </a:solidFill>
                        </a:rPr>
                        <a:t>OC</a:t>
                      </a:r>
                    </a:p>
                  </a:txBody>
                  <a:tcPr marL="90000" marR="60000" marT="20000" marB="20000" anchor="ctr">
                    <a:solidFill>
                      <a:srgbClr val="FFFFFF"/>
                    </a:solidFill>
                  </a:tcPr>
                </a:tc>
                <a:tc>
                  <a:txBody>
                    <a:bodyPr/>
                    <a:lstStyle/>
                    <a:p>
                      <a:pPr algn="l"/>
                      <a:r>
                        <a:rPr sz="1200" b="0">
                          <a:solidFill>
                            <a:srgbClr val="2F4D5D"/>
                          </a:solidFill>
                        </a:rPr>
                        <a:t>Sensitivity filter</a:t>
                      </a:r>
                    </a:p>
                  </a:txBody>
                  <a:tcPr marL="90000" marR="60000" marT="20000" marB="20000" anchor="ctr">
                    <a:solidFill>
                      <a:srgbClr val="FFFFFF"/>
                    </a:solidFill>
                  </a:tcPr>
                </a:tc>
                <a:extLst>
                  <a:ext uri="{0D108BD9-81ED-4DB2-BD59-A6C34878D82A}">
                    <a16:rowId xmlns:a16="http://schemas.microsoft.com/office/drawing/2014/main" val="10001"/>
                  </a:ext>
                </a:extLst>
              </a:tr>
              <a:tr h="437500">
                <a:tc>
                  <a:txBody>
                    <a:bodyPr/>
                    <a:lstStyle/>
                    <a:p>
                      <a:pPr algn="ctr"/>
                      <a:r>
                        <a:rPr sz="1200" b="0">
                          <a:solidFill>
                            <a:srgbClr val="2F4D5D"/>
                          </a:solidFill>
                        </a:rPr>
                        <a:t>2</a:t>
                      </a:r>
                    </a:p>
                  </a:txBody>
                  <a:tcPr marL="90000" marR="60000" marT="20000" marB="20000" anchor="ctr">
                    <a:solidFill>
                      <a:srgbClr val="FFFFFF"/>
                    </a:solidFill>
                  </a:tcPr>
                </a:tc>
                <a:tc>
                  <a:txBody>
                    <a:bodyPr/>
                    <a:lstStyle/>
                    <a:p>
                      <a:pPr algn="ctr"/>
                      <a:r>
                        <a:rPr sz="1200" b="0">
                          <a:solidFill>
                            <a:srgbClr val="2F4D5D"/>
                          </a:solidFill>
                        </a:rPr>
                        <a:t>MTOP</a:t>
                      </a:r>
                    </a:p>
                  </a:txBody>
                  <a:tcPr marL="90000" marR="60000" marT="20000" marB="20000" anchor="ctr">
                    <a:solidFill>
                      <a:srgbClr val="FFFFFF"/>
                    </a:solidFill>
                  </a:tcPr>
                </a:tc>
                <a:tc>
                  <a:txBody>
                    <a:bodyPr/>
                    <a:lstStyle/>
                    <a:p>
                      <a:pPr algn="ctr"/>
                      <a:r>
                        <a:rPr sz="1200" b="0">
                          <a:solidFill>
                            <a:srgbClr val="2F4D5D"/>
                          </a:solidFill>
                        </a:rPr>
                        <a:t>OC</a:t>
                      </a:r>
                    </a:p>
                  </a:txBody>
                  <a:tcPr marL="90000" marR="60000" marT="20000" marB="20000" anchor="ctr">
                    <a:solidFill>
                      <a:srgbClr val="FFFFFF"/>
                    </a:solidFill>
                  </a:tcPr>
                </a:tc>
                <a:tc>
                  <a:txBody>
                    <a:bodyPr/>
                    <a:lstStyle/>
                    <a:p>
                      <a:pPr algn="l"/>
                      <a:r>
                        <a:rPr sz="1200" b="0">
                          <a:solidFill>
                            <a:srgbClr val="2F4D5D"/>
                          </a:solidFill>
                        </a:rPr>
                        <a:t>Sensitivity filter</a:t>
                      </a:r>
                    </a:p>
                  </a:txBody>
                  <a:tcPr marL="90000" marR="60000" marT="20000" marB="20000" anchor="ctr">
                    <a:solidFill>
                      <a:srgbClr val="FFFFFF"/>
                    </a:solidFill>
                  </a:tcPr>
                </a:tc>
                <a:extLst>
                  <a:ext uri="{0D108BD9-81ED-4DB2-BD59-A6C34878D82A}">
                    <a16:rowId xmlns:a16="http://schemas.microsoft.com/office/drawing/2014/main" val="10002"/>
                  </a:ext>
                </a:extLst>
              </a:tr>
              <a:tr h="437500">
                <a:tc>
                  <a:txBody>
                    <a:bodyPr/>
                    <a:lstStyle/>
                    <a:p>
                      <a:pPr algn="ctr"/>
                      <a:r>
                        <a:rPr sz="1200" b="0">
                          <a:solidFill>
                            <a:srgbClr val="2F4D5D"/>
                          </a:solidFill>
                        </a:rPr>
                        <a:t>3</a:t>
                      </a:r>
                    </a:p>
                  </a:txBody>
                  <a:tcPr marL="90000" marR="60000" marT="20000" marB="20000" anchor="ctr">
                    <a:solidFill>
                      <a:srgbClr val="FFFFFF"/>
                    </a:solidFill>
                  </a:tcPr>
                </a:tc>
                <a:tc>
                  <a:txBody>
                    <a:bodyPr/>
                    <a:lstStyle/>
                    <a:p>
                      <a:pPr algn="ctr"/>
                      <a:r>
                        <a:rPr sz="1200" b="0">
                          <a:solidFill>
                            <a:srgbClr val="2F4D5D"/>
                          </a:solidFill>
                        </a:rPr>
                        <a:t>Classical</a:t>
                      </a:r>
                    </a:p>
                  </a:txBody>
                  <a:tcPr marL="90000" marR="60000" marT="20000" marB="20000" anchor="ctr">
                    <a:solidFill>
                      <a:srgbClr val="FFFFFF"/>
                    </a:solidFill>
                  </a:tcPr>
                </a:tc>
                <a:tc>
                  <a:txBody>
                    <a:bodyPr/>
                    <a:lstStyle/>
                    <a:p>
                      <a:pPr algn="ctr"/>
                      <a:r>
                        <a:rPr sz="1200" b="0">
                          <a:solidFill>
                            <a:srgbClr val="2F4D5D"/>
                          </a:solidFill>
                        </a:rPr>
                        <a:t>OC</a:t>
                      </a:r>
                    </a:p>
                  </a:txBody>
                  <a:tcPr marL="90000" marR="60000" marT="20000" marB="20000" anchor="ctr">
                    <a:solidFill>
                      <a:srgbClr val="FFFFFF"/>
                    </a:solidFill>
                  </a:tcPr>
                </a:tc>
                <a:tc>
                  <a:txBody>
                    <a:bodyPr/>
                    <a:lstStyle/>
                    <a:p>
                      <a:pPr algn="l"/>
                      <a:r>
                        <a:rPr sz="1200" b="0">
                          <a:solidFill>
                            <a:srgbClr val="2F4D5D"/>
                          </a:solidFill>
                        </a:rPr>
                        <a:t>Density filter</a:t>
                      </a:r>
                    </a:p>
                  </a:txBody>
                  <a:tcPr marL="90000" marR="60000" marT="20000" marB="20000" anchor="ctr">
                    <a:solidFill>
                      <a:srgbClr val="FFFFFF"/>
                    </a:solidFill>
                  </a:tcPr>
                </a:tc>
                <a:extLst>
                  <a:ext uri="{0D108BD9-81ED-4DB2-BD59-A6C34878D82A}">
                    <a16:rowId xmlns:a16="http://schemas.microsoft.com/office/drawing/2014/main" val="10003"/>
                  </a:ext>
                </a:extLst>
              </a:tr>
              <a:tr h="437500">
                <a:tc>
                  <a:txBody>
                    <a:bodyPr/>
                    <a:lstStyle/>
                    <a:p>
                      <a:pPr algn="ctr"/>
                      <a:r>
                        <a:rPr sz="1200" b="0">
                          <a:solidFill>
                            <a:srgbClr val="2F4D5D"/>
                          </a:solidFill>
                        </a:rPr>
                        <a:t>4</a:t>
                      </a:r>
                    </a:p>
                  </a:txBody>
                  <a:tcPr marL="90000" marR="60000" marT="20000" marB="20000" anchor="ctr">
                    <a:solidFill>
                      <a:srgbClr val="FFFFFF"/>
                    </a:solidFill>
                  </a:tcPr>
                </a:tc>
                <a:tc>
                  <a:txBody>
                    <a:bodyPr/>
                    <a:lstStyle/>
                    <a:p>
                      <a:pPr algn="ctr"/>
                      <a:r>
                        <a:rPr sz="1200" b="0">
                          <a:solidFill>
                            <a:srgbClr val="2F4D5D"/>
                          </a:solidFill>
                        </a:rPr>
                        <a:t>MTOP</a:t>
                      </a:r>
                    </a:p>
                  </a:txBody>
                  <a:tcPr marL="90000" marR="60000" marT="20000" marB="20000" anchor="ctr">
                    <a:solidFill>
                      <a:srgbClr val="FFFFFF"/>
                    </a:solidFill>
                  </a:tcPr>
                </a:tc>
                <a:tc>
                  <a:txBody>
                    <a:bodyPr/>
                    <a:lstStyle/>
                    <a:p>
                      <a:pPr algn="ctr"/>
                      <a:r>
                        <a:rPr sz="1200" b="0">
                          <a:solidFill>
                            <a:srgbClr val="2F4D5D"/>
                          </a:solidFill>
                        </a:rPr>
                        <a:t>OC</a:t>
                      </a:r>
                    </a:p>
                  </a:txBody>
                  <a:tcPr marL="90000" marR="60000" marT="20000" marB="20000" anchor="ctr">
                    <a:solidFill>
                      <a:srgbClr val="FFFFFF"/>
                    </a:solidFill>
                  </a:tcPr>
                </a:tc>
                <a:tc>
                  <a:txBody>
                    <a:bodyPr/>
                    <a:lstStyle/>
                    <a:p>
                      <a:pPr algn="l"/>
                      <a:r>
                        <a:rPr sz="1200" b="0">
                          <a:solidFill>
                            <a:srgbClr val="2F4D5D"/>
                          </a:solidFill>
                        </a:rPr>
                        <a:t>Density filter</a:t>
                      </a:r>
                    </a:p>
                  </a:txBody>
                  <a:tcPr marL="90000" marR="60000" marT="20000" marB="20000" anchor="ctr">
                    <a:solidFill>
                      <a:srgbClr val="FFFFFF"/>
                    </a:solidFill>
                  </a:tcPr>
                </a:tc>
                <a:extLst>
                  <a:ext uri="{0D108BD9-81ED-4DB2-BD59-A6C34878D82A}">
                    <a16:rowId xmlns:a16="http://schemas.microsoft.com/office/drawing/2014/main" val="10004"/>
                  </a:ext>
                </a:extLst>
              </a:tr>
              <a:tr h="437500">
                <a:tc>
                  <a:txBody>
                    <a:bodyPr/>
                    <a:lstStyle/>
                    <a:p>
                      <a:pPr algn="ctr"/>
                      <a:r>
                        <a:rPr sz="1200" b="0">
                          <a:solidFill>
                            <a:srgbClr val="2F4D5D"/>
                          </a:solidFill>
                        </a:rPr>
                        <a:t>5</a:t>
                      </a:r>
                    </a:p>
                  </a:txBody>
                  <a:tcPr marL="90000" marR="60000" marT="20000" marB="20000" anchor="ctr">
                    <a:solidFill>
                      <a:srgbClr val="FFFFFF"/>
                    </a:solidFill>
                  </a:tcPr>
                </a:tc>
                <a:tc>
                  <a:txBody>
                    <a:bodyPr/>
                    <a:lstStyle/>
                    <a:p>
                      <a:pPr algn="ctr"/>
                      <a:r>
                        <a:rPr sz="1200" b="0">
                          <a:solidFill>
                            <a:srgbClr val="2F4D5D"/>
                          </a:solidFill>
                        </a:rPr>
                        <a:t>MTOP</a:t>
                      </a:r>
                    </a:p>
                  </a:txBody>
                  <a:tcPr marL="90000" marR="60000" marT="20000" marB="20000" anchor="ctr">
                    <a:solidFill>
                      <a:srgbClr val="FFFFFF"/>
                    </a:solidFill>
                  </a:tcPr>
                </a:tc>
                <a:tc>
                  <a:txBody>
                    <a:bodyPr/>
                    <a:lstStyle/>
                    <a:p>
                      <a:pPr algn="ctr"/>
                      <a:r>
                        <a:rPr sz="1200" b="0">
                          <a:solidFill>
                            <a:srgbClr val="2F4D5D"/>
                          </a:solidFill>
                        </a:rPr>
                        <a:t>MMA</a:t>
                      </a:r>
                    </a:p>
                  </a:txBody>
                  <a:tcPr marL="90000" marR="60000" marT="20000" marB="20000" anchor="ctr">
                    <a:solidFill>
                      <a:srgbClr val="FFFFFF"/>
                    </a:solidFill>
                  </a:tcPr>
                </a:tc>
                <a:tc>
                  <a:txBody>
                    <a:bodyPr/>
                    <a:lstStyle/>
                    <a:p>
                      <a:pPr algn="l"/>
                      <a:r>
                        <a:rPr sz="1200" b="0">
                          <a:solidFill>
                            <a:srgbClr val="2F4D5D"/>
                          </a:solidFill>
                        </a:rPr>
                        <a:t>Sensitivity filter</a:t>
                      </a:r>
                    </a:p>
                  </a:txBody>
                  <a:tcPr marL="90000" marR="60000" marT="20000" marB="20000" anchor="ctr">
                    <a:solidFill>
                      <a:srgbClr val="FFFFFF"/>
                    </a:solidFill>
                  </a:tcPr>
                </a:tc>
                <a:extLst>
                  <a:ext uri="{0D108BD9-81ED-4DB2-BD59-A6C34878D82A}">
                    <a16:rowId xmlns:a16="http://schemas.microsoft.com/office/drawing/2014/main" val="10005"/>
                  </a:ext>
                </a:extLst>
              </a:tr>
              <a:tr h="437500">
                <a:tc>
                  <a:txBody>
                    <a:bodyPr/>
                    <a:lstStyle/>
                    <a:p>
                      <a:pPr algn="ctr"/>
                      <a:r>
                        <a:rPr sz="1200" b="0">
                          <a:solidFill>
                            <a:srgbClr val="2F4D5D"/>
                          </a:solidFill>
                        </a:rPr>
                        <a:t>6</a:t>
                      </a:r>
                    </a:p>
                  </a:txBody>
                  <a:tcPr marL="90000" marR="60000" marT="20000" marB="20000" anchor="ctr">
                    <a:solidFill>
                      <a:srgbClr val="FFFFFF"/>
                    </a:solidFill>
                  </a:tcPr>
                </a:tc>
                <a:tc>
                  <a:txBody>
                    <a:bodyPr/>
                    <a:lstStyle/>
                    <a:p>
                      <a:pPr algn="ctr"/>
                      <a:r>
                        <a:rPr sz="1200" b="0">
                          <a:solidFill>
                            <a:srgbClr val="2F4D5D"/>
                          </a:solidFill>
                        </a:rPr>
                        <a:t>MTOP</a:t>
                      </a:r>
                    </a:p>
                  </a:txBody>
                  <a:tcPr marL="90000" marR="60000" marT="20000" marB="20000" anchor="ctr">
                    <a:solidFill>
                      <a:srgbClr val="FFFFFF"/>
                    </a:solidFill>
                  </a:tcPr>
                </a:tc>
                <a:tc>
                  <a:txBody>
                    <a:bodyPr/>
                    <a:lstStyle/>
                    <a:p>
                      <a:pPr algn="ctr"/>
                      <a:r>
                        <a:rPr sz="1200" b="0">
                          <a:solidFill>
                            <a:srgbClr val="2F4D5D"/>
                          </a:solidFill>
                        </a:rPr>
                        <a:t>MMA</a:t>
                      </a:r>
                    </a:p>
                  </a:txBody>
                  <a:tcPr marL="90000" marR="60000" marT="20000" marB="20000" anchor="ctr">
                    <a:solidFill>
                      <a:srgbClr val="FFFFFF"/>
                    </a:solidFill>
                  </a:tcPr>
                </a:tc>
                <a:tc>
                  <a:txBody>
                    <a:bodyPr/>
                    <a:lstStyle/>
                    <a:p>
                      <a:pPr algn="l"/>
                      <a:r>
                        <a:rPr sz="1200" b="0">
                          <a:solidFill>
                            <a:srgbClr val="2F4D5D"/>
                          </a:solidFill>
                        </a:rPr>
                        <a:t>Density filter</a:t>
                      </a:r>
                    </a:p>
                  </a:txBody>
                  <a:tcPr marL="90000" marR="60000" marT="20000" marB="20000" anchor="ctr">
                    <a:solidFill>
                      <a:srgbClr val="FFFFFF"/>
                    </a:solidFill>
                  </a:tcPr>
                </a:tc>
                <a:extLst>
                  <a:ext uri="{0D108BD9-81ED-4DB2-BD59-A6C34878D82A}">
                    <a16:rowId xmlns:a16="http://schemas.microsoft.com/office/drawing/2014/main" val="10006"/>
                  </a:ext>
                </a:extLst>
              </a:tr>
              <a:tr h="437500">
                <a:tc>
                  <a:txBody>
                    <a:bodyPr/>
                    <a:lstStyle/>
                    <a:p>
                      <a:pPr algn="ctr"/>
                      <a:r>
                        <a:rPr sz="1200" b="0">
                          <a:solidFill>
                            <a:srgbClr val="2F4D5D"/>
                          </a:solidFill>
                        </a:rPr>
                        <a:t>7</a:t>
                      </a:r>
                    </a:p>
                  </a:txBody>
                  <a:tcPr marL="90000" marR="60000" marT="20000" marB="20000" anchor="ctr">
                    <a:solidFill>
                      <a:srgbClr val="FFFFFF"/>
                    </a:solidFill>
                  </a:tcPr>
                </a:tc>
                <a:tc>
                  <a:txBody>
                    <a:bodyPr/>
                    <a:lstStyle/>
                    <a:p>
                      <a:pPr algn="ctr"/>
                      <a:r>
                        <a:rPr sz="1200" b="0">
                          <a:solidFill>
                            <a:srgbClr val="2F4D5D"/>
                          </a:solidFill>
                        </a:rPr>
                        <a:t>MTOP</a:t>
                      </a:r>
                    </a:p>
                  </a:txBody>
                  <a:tcPr marL="90000" marR="60000" marT="20000" marB="20000" anchor="ctr">
                    <a:solidFill>
                      <a:srgbClr val="FFFFFF"/>
                    </a:solidFill>
                  </a:tcPr>
                </a:tc>
                <a:tc>
                  <a:txBody>
                    <a:bodyPr/>
                    <a:lstStyle/>
                    <a:p>
                      <a:pPr algn="ctr"/>
                      <a:r>
                        <a:rPr sz="1200" b="0">
                          <a:solidFill>
                            <a:srgbClr val="2F4D5D"/>
                          </a:solidFill>
                        </a:rPr>
                        <a:t>MMA</a:t>
                      </a:r>
                    </a:p>
                  </a:txBody>
                  <a:tcPr marL="90000" marR="60000" marT="20000" marB="20000" anchor="ctr">
                    <a:solidFill>
                      <a:srgbClr val="FFFFFF"/>
                    </a:solidFill>
                  </a:tcPr>
                </a:tc>
                <a:tc>
                  <a:txBody>
                    <a:bodyPr/>
                    <a:lstStyle/>
                    <a:p>
                      <a:pPr algn="l"/>
                      <a:r>
                        <a:rPr sz="1200" b="0">
                          <a:solidFill>
                            <a:srgbClr val="2F4D5D"/>
                          </a:solidFill>
                        </a:rPr>
                        <a:t>Heaviside η = 0.3 / 0.5 / 0.7</a:t>
                      </a:r>
                    </a:p>
                  </a:txBody>
                  <a:tcPr marL="90000" marR="60000" marT="20000" marB="20000" anchor="ctr">
                    <a:solidFill>
                      <a:srgbClr val="FFFFFF"/>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6033600" y="6210000"/>
            <a:ext cx="4993200" cy="648000"/>
          </a:xfrm>
          <a:prstGeom prst="rect">
            <a:avLst/>
          </a:prstGeom>
          <a:noFill/>
        </p:spPr>
        <p:txBody>
          <a:bodyPr wrap="square" lIns="36000" tIns="18000" rIns="36000" bIns="18000" anchor="ctr">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lIns="36000" tIns="18000" rIns="36000" bIns="18000" anchor="ctr">
            <a:spAutoFit/>
          </a:bodyPr>
          <a:lstStyle/>
          <a:p>
            <a:pPr algn="l"/>
            <a:r>
              <a:rPr sz="1000" b="0">
                <a:solidFill>
                  <a:srgbClr val="FFFFFF"/>
                </a:solidFill>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76000" y="5510000"/>
            <a:ext cx="11040000" cy="640000"/>
          </a:xfrm>
        </p:spPr>
        <p:txBody>
          <a:bodyPr wrap="square" anchor="ctr"/>
          <a:lstStyle/>
          <a:p>
            <a:pPr>
              <a:spcBef>
                <a:spcPts val="200"/>
              </a:spcBef>
              <a:spcAft>
                <a:spcPts val="800"/>
              </a:spcAft>
            </a:pPr>
            <a:r>
              <a:rPr sz="1700" b="0">
                <a:solidFill>
                  <a:srgbClr val="2F4D5D"/>
                </a:solidFill>
              </a:rPr>
              <a:t>Verified three derivative chains with three finite-difference strategies</a:t>
            </a:r>
          </a:p>
          <a:p>
            <a:pPr>
              <a:spcBef>
                <a:spcPts val="200"/>
              </a:spcBef>
              <a:spcAft>
                <a:spcPts val="800"/>
              </a:spcAft>
            </a:pPr>
            <a:r>
              <a:rPr sz="1700" b="0">
                <a:solidFill>
                  <a:srgbClr val="2F4D5D"/>
                </a:solidFill>
              </a:rPr>
              <a:t>Taylor remainder slope ≈ 2.00 confirms the analytical sensitivities</a:t>
            </a:r>
          </a:p>
        </p:txBody>
      </p:sp>
      <p:sp>
        <p:nvSpPr>
          <p:cNvPr id="3" name="Title 2"/>
          <p:cNvSpPr>
            <a:spLocks noGrp="1"/>
          </p:cNvSpPr>
          <p:nvPr>
            <p:ph type="title"/>
          </p:nvPr>
        </p:nvSpPr>
        <p:spPr/>
        <p:txBody>
          <a:bodyPr/>
          <a:lstStyle/>
          <a:p>
            <a:r>
              <a:rPr sz="3200"/>
              <a:t>Verifying the implementation</a:t>
            </a:r>
          </a:p>
        </p:txBody>
      </p:sp>
      <p:pic>
        <p:nvPicPr>
          <p:cNvPr id="4" name="Picture 3" descr="sensitivity_verification_fd_strategies.png"/>
          <p:cNvPicPr>
            <a:picLocks noChangeAspect="1"/>
          </p:cNvPicPr>
          <p:nvPr/>
        </p:nvPicPr>
        <p:blipFill>
          <a:blip r:embed="rId3"/>
          <a:stretch>
            <a:fillRect/>
          </a:stretch>
        </p:blipFill>
        <p:spPr>
          <a:xfrm>
            <a:off x="1315994" y="1410000"/>
            <a:ext cx="9560011" cy="3950000"/>
          </a:xfrm>
          <a:prstGeom prst="rect">
            <a:avLst/>
          </a:prstGeom>
        </p:spPr>
      </p:pic>
      <p:sp>
        <p:nvSpPr>
          <p:cNvPr id="5" name="TextBox 4"/>
          <p:cNvSpPr txBox="1"/>
          <p:nvPr/>
        </p:nvSpPr>
        <p:spPr>
          <a:xfrm>
            <a:off x="6033600" y="6210000"/>
            <a:ext cx="4993200" cy="648000"/>
          </a:xfrm>
          <a:prstGeom prst="rect">
            <a:avLst/>
          </a:prstGeom>
          <a:noFill/>
        </p:spPr>
        <p:txBody>
          <a:bodyPr wrap="square" lIns="36000" tIns="18000" rIns="36000" bIns="18000" anchor="ctr">
            <a:spAutoFit/>
          </a:bodyPr>
          <a:lstStyle/>
          <a:p>
            <a:pPr algn="r"/>
            <a:r>
              <a:rPr sz="1000" b="0">
                <a:solidFill>
                  <a:srgbClr val="FFFFFF"/>
                </a:solidFill>
              </a:rPr>
              <a:t>Structural Optimization (B-KUL-H0T88A)</a:t>
            </a:r>
          </a:p>
        </p:txBody>
      </p:sp>
      <p:sp>
        <p:nvSpPr>
          <p:cNvPr id="6" name="TextBox 5"/>
          <p:cNvSpPr txBox="1"/>
          <p:nvPr/>
        </p:nvSpPr>
        <p:spPr>
          <a:xfrm>
            <a:off x="576000" y="6210000"/>
            <a:ext cx="648000" cy="648000"/>
          </a:xfrm>
          <a:prstGeom prst="rect">
            <a:avLst/>
          </a:prstGeom>
          <a:noFill/>
        </p:spPr>
        <p:txBody>
          <a:bodyPr wrap="square" lIns="36000" tIns="18000" rIns="36000" bIns="18000" anchor="ctr">
            <a:spAutoFit/>
          </a:bodyPr>
          <a:lstStyle/>
          <a:p>
            <a:pPr algn="l"/>
            <a:r>
              <a:rPr sz="1000" b="0">
                <a:solidFill>
                  <a:srgbClr val="FFFFFF"/>
                </a:solidFil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Optimality criteria with sensitivity filtering</a:t>
            </a:r>
          </a:p>
          <a:p>
            <a:pPr>
              <a:spcBef>
                <a:spcPts val="200"/>
              </a:spcBef>
              <a:spcAft>
                <a:spcPts val="800"/>
              </a:spcAft>
            </a:pPr>
            <a:r>
              <a:rPr sz="1900" b="0">
                <a:solidFill>
                  <a:srgbClr val="2F4D5D"/>
                </a:solidFill>
              </a:rPr>
              <a:t>Same truss load path: top chord, bottom chord, triangulated web</a:t>
            </a:r>
          </a:p>
          <a:p>
            <a:pPr>
              <a:spcBef>
                <a:spcPts val="200"/>
              </a:spcBef>
              <a:spcAft>
                <a:spcPts val="800"/>
              </a:spcAft>
            </a:pPr>
            <a:r>
              <a:rPr sz="1900" b="0">
                <a:solidFill>
                  <a:srgbClr val="2F4D5D"/>
                </a:solidFill>
              </a:rPr>
              <a:t>Fine-mesh compliance: classical 224.6, MTOP 224.7 (+0.045 %)</a:t>
            </a:r>
          </a:p>
          <a:p>
            <a:pPr>
              <a:spcBef>
                <a:spcPts val="200"/>
              </a:spcBef>
              <a:spcAft>
                <a:spcPts val="800"/>
              </a:spcAft>
            </a:pPr>
            <a:r>
              <a:rPr sz="1900" b="0">
                <a:solidFill>
                  <a:srgbClr val="2F4D5D"/>
                </a:solidFill>
              </a:rPr>
              <a:t>Difference is a tiny boundary-level redistribution (RMS 0.003)</a:t>
            </a:r>
          </a:p>
          <a:p>
            <a:pPr>
              <a:spcBef>
                <a:spcPts val="200"/>
              </a:spcBef>
              <a:spcAft>
                <a:spcPts val="800"/>
              </a:spcAft>
            </a:pPr>
            <a:r>
              <a:rPr sz="1900" b="1">
                <a:solidFill>
                  <a:srgbClr val="2F4D5D"/>
                </a:solidFill>
              </a:rPr>
              <a:t>MTOP does not change the optimized design</a:t>
            </a:r>
          </a:p>
        </p:txBody>
      </p:sp>
      <p:sp>
        <p:nvSpPr>
          <p:cNvPr id="4" name="Title 3"/>
          <p:cNvSpPr>
            <a:spLocks noGrp="1"/>
          </p:cNvSpPr>
          <p:nvPr>
            <p:ph type="title"/>
          </p:nvPr>
        </p:nvSpPr>
        <p:spPr/>
        <p:txBody>
          <a:bodyPr/>
          <a:lstStyle/>
          <a:p>
            <a:r>
              <a:rPr sz="3200"/>
              <a:t>Steps 1 and 2: MTOP reproduces the classical design</a:t>
            </a:r>
          </a:p>
        </p:txBody>
      </p:sp>
      <p:pic>
        <p:nvPicPr>
          <p:cNvPr id="5" name="Picture 4" descr="mtop_oc_sensitivity_design_difference.png"/>
          <p:cNvPicPr>
            <a:picLocks noChangeAspect="1"/>
          </p:cNvPicPr>
          <p:nvPr/>
        </p:nvPicPr>
        <p:blipFill>
          <a:blip r:embed="rId3"/>
          <a:stretch>
            <a:fillRect/>
          </a:stretch>
        </p:blipFill>
        <p:spPr>
          <a:xfrm>
            <a:off x="6392665" y="1410000"/>
            <a:ext cx="4516669" cy="4740000"/>
          </a:xfrm>
          <a:prstGeom prst="rect">
            <a:avLst/>
          </a:prstGeom>
        </p:spPr>
      </p:pic>
      <p:sp>
        <p:nvSpPr>
          <p:cNvPr id="6" name="TextBox 5"/>
          <p:cNvSpPr txBox="1"/>
          <p:nvPr/>
        </p:nvSpPr>
        <p:spPr>
          <a:xfrm>
            <a:off x="6033600" y="6210000"/>
            <a:ext cx="4993200" cy="648000"/>
          </a:xfrm>
          <a:prstGeom prst="rect">
            <a:avLst/>
          </a:prstGeom>
          <a:noFill/>
        </p:spPr>
        <p:txBody>
          <a:bodyPr wrap="square" lIns="36000" tIns="18000" rIns="36000" bIns="18000" anchor="ctr">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lIns="36000" tIns="18000" rIns="36000" bIns="18000" anchor="ctr">
            <a:spAutoFit/>
          </a:bodyPr>
          <a:lstStyle/>
          <a:p>
            <a:pPr algn="l"/>
            <a:r>
              <a:rPr sz="1000" b="0">
                <a:solidFill>
                  <a:srgbClr val="FFFFFF"/>
                </a:solidFill>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Same convergence path: 94 versus 95 iterations</a:t>
            </a:r>
          </a:p>
          <a:p>
            <a:pPr>
              <a:spcBef>
                <a:spcPts val="200"/>
              </a:spcBef>
              <a:spcAft>
                <a:spcPts val="800"/>
              </a:spcAft>
            </a:pPr>
            <a:r>
              <a:rPr sz="1900" b="0">
                <a:solidFill>
                  <a:srgbClr val="2F4D5D"/>
                </a:solidFill>
              </a:rPr>
              <a:t>Wall-clock time: 263 s → 12 s</a:t>
            </a:r>
          </a:p>
          <a:p>
            <a:pPr>
              <a:spcBef>
                <a:spcPts val="200"/>
              </a:spcBef>
              <a:spcAft>
                <a:spcPts val="800"/>
              </a:spcAft>
            </a:pPr>
            <a:r>
              <a:rPr sz="1900" b="0">
                <a:solidFill>
                  <a:srgbClr val="2F4D5D"/>
                </a:solidFill>
              </a:rPr>
              <a:t>Speedup factor of 21 at matched compliance</a:t>
            </a:r>
          </a:p>
          <a:p>
            <a:pPr>
              <a:spcBef>
                <a:spcPts val="200"/>
              </a:spcBef>
              <a:spcAft>
                <a:spcPts val="800"/>
              </a:spcAft>
            </a:pPr>
            <a:r>
              <a:rPr sz="1900" b="0">
                <a:solidFill>
                  <a:srgbClr val="2F4D5D"/>
                </a:solidFill>
              </a:rPr>
              <a:t>The MTOP curve collapses against the time axis</a:t>
            </a:r>
          </a:p>
          <a:p>
            <a:pPr>
              <a:spcBef>
                <a:spcPts val="200"/>
              </a:spcBef>
              <a:spcAft>
                <a:spcPts val="800"/>
              </a:spcAft>
            </a:pPr>
            <a:r>
              <a:rPr sz="1900" b="1">
                <a:solidFill>
                  <a:srgbClr val="2F4D5D"/>
                </a:solidFill>
              </a:rPr>
              <a:t>Same design, same iterations, far less time</a:t>
            </a:r>
          </a:p>
        </p:txBody>
      </p:sp>
      <p:sp>
        <p:nvSpPr>
          <p:cNvPr id="4" name="Title 3"/>
          <p:cNvSpPr>
            <a:spLocks noGrp="1"/>
          </p:cNvSpPr>
          <p:nvPr>
            <p:ph type="title"/>
          </p:nvPr>
        </p:nvSpPr>
        <p:spPr/>
        <p:txBody>
          <a:bodyPr/>
          <a:lstStyle/>
          <a:p>
            <a:r>
              <a:rPr sz="3200"/>
              <a:t>Steps 1 and 2: MTOP is 21× faster</a:t>
            </a:r>
          </a:p>
        </p:txBody>
      </p:sp>
      <p:pic>
        <p:nvPicPr>
          <p:cNvPr id="5" name="Picture 4" descr="mtop_oc_sensitivity_convergence_time_compare.png"/>
          <p:cNvPicPr>
            <a:picLocks noChangeAspect="1"/>
          </p:cNvPicPr>
          <p:nvPr/>
        </p:nvPicPr>
        <p:blipFill>
          <a:blip r:embed="rId3"/>
          <a:stretch>
            <a:fillRect/>
          </a:stretch>
        </p:blipFill>
        <p:spPr>
          <a:xfrm>
            <a:off x="5686000" y="1536836"/>
            <a:ext cx="5930000" cy="4486327"/>
          </a:xfrm>
          <a:prstGeom prst="rect">
            <a:avLst/>
          </a:prstGeom>
        </p:spPr>
      </p:pic>
      <p:sp>
        <p:nvSpPr>
          <p:cNvPr id="6" name="TextBox 5"/>
          <p:cNvSpPr txBox="1"/>
          <p:nvPr/>
        </p:nvSpPr>
        <p:spPr>
          <a:xfrm>
            <a:off x="6033600" y="6210000"/>
            <a:ext cx="4993200" cy="648000"/>
          </a:xfrm>
          <a:prstGeom prst="rect">
            <a:avLst/>
          </a:prstGeom>
          <a:noFill/>
        </p:spPr>
        <p:txBody>
          <a:bodyPr wrap="square" lIns="36000" tIns="18000" rIns="36000" bIns="18000" anchor="ctr">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lIns="36000" tIns="18000" rIns="36000" bIns="18000" anchor="ctr">
            <a:spAutoFit/>
          </a:bodyPr>
          <a:lstStyle/>
          <a:p>
            <a:pPr algn="l"/>
            <a:r>
              <a:rPr sz="1000" b="0">
                <a:solidFill>
                  <a:srgbClr val="FFFFFF"/>
                </a:solidFill>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Same comparison with a density filter instead of a sensitivity filter</a:t>
            </a:r>
          </a:p>
          <a:p>
            <a:pPr>
              <a:spcBef>
                <a:spcPts val="200"/>
              </a:spcBef>
              <a:spcAft>
                <a:spcPts val="800"/>
              </a:spcAft>
            </a:pPr>
            <a:r>
              <a:rPr sz="1900" b="0">
                <a:solidFill>
                  <a:srgbClr val="2F4D5D"/>
                </a:solidFill>
              </a:rPr>
              <a:t>Designs again almost identical: 0.04 % compliance difference</a:t>
            </a:r>
          </a:p>
          <a:p>
            <a:pPr>
              <a:spcBef>
                <a:spcPts val="200"/>
              </a:spcBef>
              <a:spcAft>
                <a:spcPts val="800"/>
              </a:spcAft>
            </a:pPr>
            <a:r>
              <a:rPr sz="1900" b="0">
                <a:solidFill>
                  <a:srgbClr val="2F4D5D"/>
                </a:solidFill>
              </a:rPr>
              <a:t>Speedup drops to 5×: density-filter work still runs on the fine mesh</a:t>
            </a:r>
          </a:p>
          <a:p>
            <a:pPr>
              <a:spcBef>
                <a:spcPts val="200"/>
              </a:spcBef>
              <a:spcAft>
                <a:spcPts val="800"/>
              </a:spcAft>
            </a:pPr>
            <a:r>
              <a:rPr sz="1900" b="0">
                <a:solidFill>
                  <a:srgbClr val="2F4D5D"/>
                </a:solidFill>
              </a:rPr>
              <a:t>OC plus density filter never meets the design-change tolerance</a:t>
            </a:r>
          </a:p>
          <a:p>
            <a:pPr>
              <a:spcBef>
                <a:spcPts val="200"/>
              </a:spcBef>
              <a:spcAft>
                <a:spcPts val="800"/>
              </a:spcAft>
            </a:pPr>
            <a:r>
              <a:rPr sz="1900" b="1">
                <a:solidFill>
                  <a:srgbClr val="2F4D5D"/>
                </a:solidFill>
              </a:rPr>
              <a:t>Stopped instead on a compliance plateau</a:t>
            </a:r>
          </a:p>
        </p:txBody>
      </p:sp>
      <p:sp>
        <p:nvSpPr>
          <p:cNvPr id="4" name="Title 3"/>
          <p:cNvSpPr>
            <a:spLocks noGrp="1"/>
          </p:cNvSpPr>
          <p:nvPr>
            <p:ph type="title"/>
          </p:nvPr>
        </p:nvSpPr>
        <p:spPr/>
        <p:txBody>
          <a:bodyPr/>
          <a:lstStyle/>
          <a:p>
            <a:r>
              <a:rPr sz="3200"/>
              <a:t>Step 3: density filtering</a:t>
            </a:r>
          </a:p>
        </p:txBody>
      </p:sp>
      <p:pic>
        <p:nvPicPr>
          <p:cNvPr id="5" name="Picture 4" descr="mtop_oc_density_design_difference.png"/>
          <p:cNvPicPr>
            <a:picLocks noChangeAspect="1"/>
          </p:cNvPicPr>
          <p:nvPr/>
        </p:nvPicPr>
        <p:blipFill>
          <a:blip r:embed="rId3"/>
          <a:stretch>
            <a:fillRect/>
          </a:stretch>
        </p:blipFill>
        <p:spPr>
          <a:xfrm>
            <a:off x="6392665" y="1410000"/>
            <a:ext cx="4516669" cy="4740000"/>
          </a:xfrm>
          <a:prstGeom prst="rect">
            <a:avLst/>
          </a:prstGeom>
        </p:spPr>
      </p:pic>
      <p:sp>
        <p:nvSpPr>
          <p:cNvPr id="6" name="TextBox 5"/>
          <p:cNvSpPr txBox="1"/>
          <p:nvPr/>
        </p:nvSpPr>
        <p:spPr>
          <a:xfrm>
            <a:off x="6033600" y="6210000"/>
            <a:ext cx="4993200" cy="648000"/>
          </a:xfrm>
          <a:prstGeom prst="rect">
            <a:avLst/>
          </a:prstGeom>
          <a:noFill/>
        </p:spPr>
        <p:txBody>
          <a:bodyPr wrap="square" lIns="36000" tIns="18000" rIns="36000" bIns="18000" anchor="ctr">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lIns="36000" tIns="18000" rIns="36000" bIns="18000" anchor="ctr">
            <a:spAutoFit/>
          </a:bodyPr>
          <a:lstStyle/>
          <a:p>
            <a:pPr algn="l"/>
            <a:r>
              <a:rPr sz="1000" b="0">
                <a:solidFill>
                  <a:srgbClr val="FFFFFF"/>
                </a:solidFil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OC update replaced by the method of moving asymptotes (MMA)</a:t>
            </a:r>
          </a:p>
          <a:p>
            <a:pPr>
              <a:spcBef>
                <a:spcPts val="200"/>
              </a:spcBef>
              <a:spcAft>
                <a:spcPts val="800"/>
              </a:spcAft>
            </a:pPr>
            <a:r>
              <a:rPr sz="1900" b="0">
                <a:solidFill>
                  <a:srgbClr val="2F4D5D"/>
                </a:solidFill>
              </a:rPr>
              <a:t>MMA alone: design close to OC; density-filter convergence issue remains</a:t>
            </a:r>
          </a:p>
          <a:p>
            <a:pPr>
              <a:spcBef>
                <a:spcPts val="200"/>
              </a:spcBef>
              <a:spcAft>
                <a:spcPts val="800"/>
              </a:spcAft>
            </a:pPr>
            <a:r>
              <a:rPr sz="1900" b="0">
                <a:solidFill>
                  <a:srgbClr val="2F4D5D"/>
                </a:solidFill>
              </a:rPr>
              <a:t>Heaviside projection pushes the design towards black-and-white</a:t>
            </a:r>
          </a:p>
          <a:p>
            <a:pPr>
              <a:spcBef>
                <a:spcPts val="200"/>
              </a:spcBef>
              <a:spcAft>
                <a:spcPts val="800"/>
              </a:spcAft>
            </a:pPr>
            <a:r>
              <a:rPr sz="1900" b="0">
                <a:solidFill>
                  <a:srgbClr val="2F4D5D"/>
                </a:solidFill>
              </a:rPr>
              <a:t>Near-binary layout: ~17 % lower compliance than the gray design</a:t>
            </a:r>
          </a:p>
          <a:p>
            <a:pPr>
              <a:spcBef>
                <a:spcPts val="200"/>
              </a:spcBef>
              <a:spcAft>
                <a:spcPts val="800"/>
              </a:spcAft>
            </a:pPr>
            <a:r>
              <a:rPr sz="1900" b="1">
                <a:solidFill>
                  <a:srgbClr val="2F4D5D"/>
                </a:solidFill>
              </a:rPr>
              <a:t>All three thresholds agree within 0.7 %; 0.5 is best</a:t>
            </a:r>
          </a:p>
        </p:txBody>
      </p:sp>
      <p:sp>
        <p:nvSpPr>
          <p:cNvPr id="4" name="Title 3"/>
          <p:cNvSpPr>
            <a:spLocks noGrp="1"/>
          </p:cNvSpPr>
          <p:nvPr>
            <p:ph type="title"/>
          </p:nvPr>
        </p:nvSpPr>
        <p:spPr/>
        <p:txBody>
          <a:bodyPr/>
          <a:lstStyle/>
          <a:p>
            <a:r>
              <a:rPr sz="3200"/>
              <a:t>Step 4: MMA and Heaviside projection</a:t>
            </a:r>
          </a:p>
        </p:txBody>
      </p:sp>
      <p:sp>
        <p:nvSpPr>
          <p:cNvPr id="5" name="TextBox 4"/>
          <p:cNvSpPr txBox="1"/>
          <p:nvPr/>
        </p:nvSpPr>
        <p:spPr>
          <a:xfrm>
            <a:off x="5686000" y="1410000"/>
            <a:ext cx="5930000" cy="300000"/>
          </a:xfrm>
          <a:prstGeom prst="rect">
            <a:avLst/>
          </a:prstGeom>
          <a:noFill/>
        </p:spPr>
        <p:txBody>
          <a:bodyPr wrap="square" lIns="36000" tIns="18000" rIns="36000" bIns="18000" anchor="t">
            <a:spAutoFit/>
          </a:bodyPr>
          <a:lstStyle/>
          <a:p>
            <a:pPr algn="ctr"/>
            <a:r>
              <a:rPr sz="1300" b="1">
                <a:solidFill>
                  <a:srgbClr val="1D8DB0"/>
                </a:solidFill>
              </a:rPr>
              <a:t>η = 0.3</a:t>
            </a:r>
          </a:p>
        </p:txBody>
      </p:sp>
      <p:pic>
        <p:nvPicPr>
          <p:cNvPr id="6" name="Picture 5" descr="mtop_mma_heaviside_eta_030_design.png"/>
          <p:cNvPicPr>
            <a:picLocks noChangeAspect="1"/>
          </p:cNvPicPr>
          <p:nvPr/>
        </p:nvPicPr>
        <p:blipFill>
          <a:blip r:embed="rId3"/>
          <a:stretch>
            <a:fillRect/>
          </a:stretch>
        </p:blipFill>
        <p:spPr>
          <a:xfrm>
            <a:off x="6856419" y="1710000"/>
            <a:ext cx="3589161" cy="1220000"/>
          </a:xfrm>
          <a:prstGeom prst="rect">
            <a:avLst/>
          </a:prstGeom>
        </p:spPr>
      </p:pic>
      <p:sp>
        <p:nvSpPr>
          <p:cNvPr id="7" name="TextBox 6"/>
          <p:cNvSpPr txBox="1"/>
          <p:nvPr/>
        </p:nvSpPr>
        <p:spPr>
          <a:xfrm>
            <a:off x="5686000" y="2990000"/>
            <a:ext cx="5930000" cy="300000"/>
          </a:xfrm>
          <a:prstGeom prst="rect">
            <a:avLst/>
          </a:prstGeom>
          <a:noFill/>
        </p:spPr>
        <p:txBody>
          <a:bodyPr wrap="square" lIns="36000" tIns="18000" rIns="36000" bIns="18000" anchor="t">
            <a:spAutoFit/>
          </a:bodyPr>
          <a:lstStyle/>
          <a:p>
            <a:pPr algn="ctr"/>
            <a:r>
              <a:rPr sz="1300" b="1">
                <a:solidFill>
                  <a:srgbClr val="1D8DB0"/>
                </a:solidFill>
              </a:rPr>
              <a:t>η = 0.5   (best)</a:t>
            </a:r>
          </a:p>
        </p:txBody>
      </p:sp>
      <p:pic>
        <p:nvPicPr>
          <p:cNvPr id="8" name="Picture 7" descr="mtop_mma_heaviside_eta_050_design.png"/>
          <p:cNvPicPr>
            <a:picLocks noChangeAspect="1"/>
          </p:cNvPicPr>
          <p:nvPr/>
        </p:nvPicPr>
        <p:blipFill>
          <a:blip r:embed="rId4"/>
          <a:stretch>
            <a:fillRect/>
          </a:stretch>
        </p:blipFill>
        <p:spPr>
          <a:xfrm>
            <a:off x="6856419" y="3290000"/>
            <a:ext cx="3589161" cy="1220000"/>
          </a:xfrm>
          <a:prstGeom prst="rect">
            <a:avLst/>
          </a:prstGeom>
        </p:spPr>
      </p:pic>
      <p:sp>
        <p:nvSpPr>
          <p:cNvPr id="9" name="TextBox 8"/>
          <p:cNvSpPr txBox="1"/>
          <p:nvPr/>
        </p:nvSpPr>
        <p:spPr>
          <a:xfrm>
            <a:off x="5686000" y="4570000"/>
            <a:ext cx="5930000" cy="300000"/>
          </a:xfrm>
          <a:prstGeom prst="rect">
            <a:avLst/>
          </a:prstGeom>
          <a:noFill/>
        </p:spPr>
        <p:txBody>
          <a:bodyPr wrap="square" lIns="36000" tIns="18000" rIns="36000" bIns="18000" anchor="t">
            <a:spAutoFit/>
          </a:bodyPr>
          <a:lstStyle/>
          <a:p>
            <a:pPr algn="ctr"/>
            <a:r>
              <a:rPr sz="1300" b="1">
                <a:solidFill>
                  <a:srgbClr val="1D8DB0"/>
                </a:solidFill>
              </a:rPr>
              <a:t>η = 0.7</a:t>
            </a:r>
          </a:p>
        </p:txBody>
      </p:sp>
      <p:pic>
        <p:nvPicPr>
          <p:cNvPr id="10" name="Picture 9" descr="mtop_mma_heaviside_eta_070_design.png"/>
          <p:cNvPicPr>
            <a:picLocks noChangeAspect="1"/>
          </p:cNvPicPr>
          <p:nvPr/>
        </p:nvPicPr>
        <p:blipFill>
          <a:blip r:embed="rId5"/>
          <a:stretch>
            <a:fillRect/>
          </a:stretch>
        </p:blipFill>
        <p:spPr>
          <a:xfrm>
            <a:off x="6856419" y="4870000"/>
            <a:ext cx="3589161" cy="1220000"/>
          </a:xfrm>
          <a:prstGeom prst="rect">
            <a:avLst/>
          </a:prstGeom>
        </p:spPr>
      </p:pic>
      <p:sp>
        <p:nvSpPr>
          <p:cNvPr id="11" name="TextBox 10"/>
          <p:cNvSpPr txBox="1"/>
          <p:nvPr/>
        </p:nvSpPr>
        <p:spPr>
          <a:xfrm>
            <a:off x="6033600" y="6210000"/>
            <a:ext cx="4993200" cy="648000"/>
          </a:xfrm>
          <a:prstGeom prst="rect">
            <a:avLst/>
          </a:prstGeom>
          <a:noFill/>
        </p:spPr>
        <p:txBody>
          <a:bodyPr wrap="square" lIns="36000" tIns="18000" rIns="36000" bIns="18000" anchor="ctr">
            <a:spAutoFit/>
          </a:bodyPr>
          <a:lstStyle/>
          <a:p>
            <a:pPr algn="r"/>
            <a:r>
              <a:rPr sz="1000" b="0">
                <a:solidFill>
                  <a:srgbClr val="FFFFFF"/>
                </a:solidFill>
              </a:rPr>
              <a:t>Structural Optimization (B-KUL-H0T88A)</a:t>
            </a:r>
          </a:p>
        </p:txBody>
      </p:sp>
      <p:sp>
        <p:nvSpPr>
          <p:cNvPr id="12" name="TextBox 11"/>
          <p:cNvSpPr txBox="1"/>
          <p:nvPr/>
        </p:nvSpPr>
        <p:spPr>
          <a:xfrm>
            <a:off x="576000" y="6210000"/>
            <a:ext cx="648000" cy="648000"/>
          </a:xfrm>
          <a:prstGeom prst="rect">
            <a:avLst/>
          </a:prstGeom>
          <a:noFill/>
        </p:spPr>
        <p:txBody>
          <a:bodyPr wrap="square" lIns="36000" tIns="18000" rIns="36000" bIns="18000" anchor="ctr">
            <a:spAutoFit/>
          </a:bodyPr>
          <a:lstStyle/>
          <a:p>
            <a:pPr algn="l"/>
            <a:r>
              <a:rPr sz="1000" b="0">
                <a:solidFill>
                  <a:srgbClr val="FFFFFF"/>
                </a:solidFill>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7556000" y="1410000"/>
            <a:ext cx="4060000" cy="4740000"/>
          </a:xfrm>
        </p:spPr>
        <p:txBody>
          <a:bodyPr wrap="square" anchor="ctr"/>
          <a:lstStyle/>
          <a:p>
            <a:pPr>
              <a:spcBef>
                <a:spcPts val="200"/>
              </a:spcBef>
              <a:spcAft>
                <a:spcPts val="800"/>
              </a:spcAft>
            </a:pPr>
            <a:r>
              <a:rPr sz="1700" b="0">
                <a:solidFill>
                  <a:srgbClr val="2F4D5D"/>
                </a:solidFill>
              </a:rPr>
              <a:t>Classical OC: 82 % of the time is the finite element solve</a:t>
            </a:r>
          </a:p>
          <a:p>
            <a:pPr>
              <a:spcBef>
                <a:spcPts val="200"/>
              </a:spcBef>
              <a:spcAft>
                <a:spcPts val="800"/>
              </a:spcAft>
            </a:pPr>
            <a:r>
              <a:rPr sz="1700" b="0">
                <a:solidFill>
                  <a:srgbClr val="2F4D5D"/>
                </a:solidFill>
              </a:rPr>
              <a:t>MTOP shrinks that solve by about 40×</a:t>
            </a:r>
          </a:p>
          <a:p>
            <a:pPr>
              <a:spcBef>
                <a:spcPts val="200"/>
              </a:spcBef>
              <a:spcAft>
                <a:spcPts val="800"/>
              </a:spcAft>
            </a:pPr>
            <a:r>
              <a:rPr sz="1700" b="0">
                <a:solidFill>
                  <a:srgbClr val="2F4D5D"/>
                </a:solidFill>
              </a:rPr>
              <a:t>Filtering, assembly and the optimizer still act on the full density mesh, so they cap the speedup</a:t>
            </a:r>
          </a:p>
          <a:p>
            <a:pPr>
              <a:spcBef>
                <a:spcPts val="200"/>
              </a:spcBef>
              <a:spcAft>
                <a:spcPts val="800"/>
              </a:spcAft>
            </a:pPr>
            <a:r>
              <a:rPr sz="1700" b="0">
                <a:solidFill>
                  <a:srgbClr val="2F4D5D"/>
                </a:solidFill>
              </a:rPr>
              <a:t>MMA runs become dominated by the optimizer subproblem</a:t>
            </a:r>
          </a:p>
        </p:txBody>
      </p:sp>
      <p:sp>
        <p:nvSpPr>
          <p:cNvPr id="4" name="Title 3"/>
          <p:cNvSpPr>
            <a:spLocks noGrp="1"/>
          </p:cNvSpPr>
          <p:nvPr>
            <p:ph type="title"/>
          </p:nvPr>
        </p:nvSpPr>
        <p:spPr/>
        <p:txBody>
          <a:bodyPr/>
          <a:lstStyle/>
          <a:p>
            <a:r>
              <a:rPr sz="3200"/>
              <a:t>Where does the speedup come from?</a:t>
            </a:r>
          </a:p>
        </p:txBody>
      </p:sp>
      <p:pic>
        <p:nvPicPr>
          <p:cNvPr id="5" name="Picture 4" descr="phase_breakdown_chart.png"/>
          <p:cNvPicPr>
            <a:picLocks noChangeAspect="1"/>
          </p:cNvPicPr>
          <p:nvPr/>
        </p:nvPicPr>
        <p:blipFill>
          <a:blip r:embed="rId3"/>
          <a:stretch>
            <a:fillRect/>
          </a:stretch>
        </p:blipFill>
        <p:spPr>
          <a:xfrm>
            <a:off x="576000" y="1410000"/>
            <a:ext cx="6580160" cy="4740000"/>
          </a:xfrm>
          <a:prstGeom prst="rect">
            <a:avLst/>
          </a:prstGeom>
        </p:spPr>
      </p:pic>
      <p:sp>
        <p:nvSpPr>
          <p:cNvPr id="6" name="TextBox 5"/>
          <p:cNvSpPr txBox="1"/>
          <p:nvPr/>
        </p:nvSpPr>
        <p:spPr>
          <a:xfrm>
            <a:off x="6033600" y="6210000"/>
            <a:ext cx="4993200" cy="648000"/>
          </a:xfrm>
          <a:prstGeom prst="rect">
            <a:avLst/>
          </a:prstGeom>
          <a:noFill/>
        </p:spPr>
        <p:txBody>
          <a:bodyPr wrap="square" lIns="36000" tIns="18000" rIns="36000" bIns="18000" anchor="ctr">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lIns="36000" tIns="18000" rIns="36000" bIns="18000" anchor="ctr">
            <a:spAutoFit/>
          </a:bodyPr>
          <a:lstStyle/>
          <a:p>
            <a:pPr algn="l"/>
            <a:r>
              <a:rPr sz="1000" b="0">
                <a:solidFill>
                  <a:srgbClr val="FFFFFF"/>
                </a:solidFil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A plain coarse model reaches within 0.6 % of the fine design</a:t>
            </a:r>
          </a:p>
          <a:p>
            <a:pPr>
              <a:spcBef>
                <a:spcPts val="200"/>
              </a:spcBef>
              <a:spcAft>
                <a:spcPts val="800"/>
              </a:spcAft>
            </a:pPr>
            <a:r>
              <a:rPr sz="1900" b="0">
                <a:solidFill>
                  <a:srgbClr val="2F4D5D"/>
                </a:solidFill>
              </a:rPr>
              <a:t>For this 2D case with a large filter, a coarse model already captures the load path</a:t>
            </a:r>
          </a:p>
          <a:p>
            <a:pPr>
              <a:spcBef>
                <a:spcPts val="200"/>
              </a:spcBef>
              <a:spcAft>
                <a:spcPts val="800"/>
              </a:spcAft>
            </a:pPr>
            <a:r>
              <a:rPr sz="1900" b="0">
                <a:solidFill>
                  <a:srgbClr val="2F4D5D"/>
                </a:solidFill>
              </a:rPr>
              <a:t>But that coarse design is grayer and fixed at the coarse resolution</a:t>
            </a:r>
          </a:p>
          <a:p>
            <a:pPr>
              <a:spcBef>
                <a:spcPts val="200"/>
              </a:spcBef>
              <a:spcAft>
                <a:spcPts val="800"/>
              </a:spcAft>
            </a:pPr>
            <a:r>
              <a:rPr sz="1900" b="1">
                <a:solidFill>
                  <a:srgbClr val="2F4D5D"/>
                </a:solidFill>
              </a:rPr>
              <a:t>MTOP keeps the full 600 × 200 design while paying only the coarse solve</a:t>
            </a:r>
          </a:p>
        </p:txBody>
      </p:sp>
      <p:sp>
        <p:nvSpPr>
          <p:cNvPr id="4" name="Title 3"/>
          <p:cNvSpPr>
            <a:spLocks noGrp="1"/>
          </p:cNvSpPr>
          <p:nvPr>
            <p:ph type="title"/>
          </p:nvPr>
        </p:nvSpPr>
        <p:spPr/>
        <p:txBody>
          <a:bodyPr/>
          <a:lstStyle/>
          <a:p>
            <a:r>
              <a:rPr sz="3200"/>
              <a:t>What MTOP really buys you</a:t>
            </a:r>
          </a:p>
        </p:txBody>
      </p:sp>
      <p:pic>
        <p:nvPicPr>
          <p:cNvPr id="5" name="Picture 4" descr="classical_oc_coarse_sensitivity_design.png"/>
          <p:cNvPicPr>
            <a:picLocks noChangeAspect="1"/>
          </p:cNvPicPr>
          <p:nvPr/>
        </p:nvPicPr>
        <p:blipFill>
          <a:blip r:embed="rId3"/>
          <a:stretch>
            <a:fillRect/>
          </a:stretch>
        </p:blipFill>
        <p:spPr>
          <a:xfrm>
            <a:off x="5686000" y="2622160"/>
            <a:ext cx="5930000" cy="2015679"/>
          </a:xfrm>
          <a:prstGeom prst="rect">
            <a:avLst/>
          </a:prstGeom>
        </p:spPr>
      </p:pic>
      <p:sp>
        <p:nvSpPr>
          <p:cNvPr id="6" name="TextBox 5"/>
          <p:cNvSpPr txBox="1"/>
          <p:nvPr/>
        </p:nvSpPr>
        <p:spPr>
          <a:xfrm>
            <a:off x="5686000" y="5850000"/>
            <a:ext cx="5930000" cy="300000"/>
          </a:xfrm>
          <a:prstGeom prst="rect">
            <a:avLst/>
          </a:prstGeom>
          <a:noFill/>
        </p:spPr>
        <p:txBody>
          <a:bodyPr wrap="square" lIns="36000" tIns="18000" rIns="36000" bIns="18000" anchor="t">
            <a:spAutoFit/>
          </a:bodyPr>
          <a:lstStyle/>
          <a:p>
            <a:pPr algn="ctr"/>
            <a:r>
              <a:rPr sz="1200" b="0">
                <a:solidFill>
                  <a:srgbClr val="5C6E7A"/>
                </a:solidFill>
              </a:rPr>
              <a:t>Coarse-resolution baseline: 120 × 40 analysis = density mesh</a:t>
            </a:r>
          </a:p>
        </p:txBody>
      </p:sp>
      <p:sp>
        <p:nvSpPr>
          <p:cNvPr id="7" name="TextBox 6"/>
          <p:cNvSpPr txBox="1"/>
          <p:nvPr/>
        </p:nvSpPr>
        <p:spPr>
          <a:xfrm>
            <a:off x="6033600" y="6210000"/>
            <a:ext cx="4993200" cy="648000"/>
          </a:xfrm>
          <a:prstGeom prst="rect">
            <a:avLst/>
          </a:prstGeom>
          <a:noFill/>
        </p:spPr>
        <p:txBody>
          <a:bodyPr wrap="square" lIns="36000" tIns="18000" rIns="36000" bIns="18000" anchor="ctr">
            <a:spAutoFit/>
          </a:bodyPr>
          <a:lstStyle/>
          <a:p>
            <a:pPr algn="r"/>
            <a:r>
              <a:rPr sz="1000" b="0">
                <a:solidFill>
                  <a:srgbClr val="FFFFFF"/>
                </a:solidFill>
              </a:rPr>
              <a:t>Structural Optimization (B-KUL-H0T88A)</a:t>
            </a:r>
          </a:p>
        </p:txBody>
      </p:sp>
      <p:sp>
        <p:nvSpPr>
          <p:cNvPr id="8" name="TextBox 7"/>
          <p:cNvSpPr txBox="1"/>
          <p:nvPr/>
        </p:nvSpPr>
        <p:spPr>
          <a:xfrm>
            <a:off x="576000" y="6210000"/>
            <a:ext cx="648000" cy="648000"/>
          </a:xfrm>
          <a:prstGeom prst="rect">
            <a:avLst/>
          </a:prstGeom>
          <a:noFill/>
        </p:spPr>
        <p:txBody>
          <a:bodyPr wrap="square" lIns="36000" tIns="18000" rIns="36000" bIns="18000" anchor="ctr">
            <a:spAutoFit/>
          </a:bodyPr>
          <a:lstStyle/>
          <a:p>
            <a:pPr algn="l"/>
            <a:r>
              <a:rPr sz="1000" b="0">
                <a:solidFill>
                  <a:srgbClr val="FFFFFF"/>
                </a:solidFil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76000" y="1410000"/>
            <a:ext cx="4790000" cy="4740000"/>
          </a:xfrm>
        </p:spPr>
        <p:txBody>
          <a:bodyPr wrap="square" anchor="ctr"/>
          <a:lstStyle/>
          <a:p>
            <a:pPr>
              <a:spcBef>
                <a:spcPts val="200"/>
              </a:spcBef>
              <a:spcAft>
                <a:spcPts val="800"/>
              </a:spcAft>
            </a:pPr>
            <a:r>
              <a:rPr sz="1900" b="0">
                <a:solidFill>
                  <a:srgbClr val="2F4D5D"/>
                </a:solidFill>
              </a:rPr>
              <a:t>MTOP reproduces the classical MBB design to within 0.05 % compliance</a:t>
            </a:r>
          </a:p>
          <a:p>
            <a:pPr>
              <a:spcBef>
                <a:spcPts val="200"/>
              </a:spcBef>
              <a:spcAft>
                <a:spcPts val="800"/>
              </a:spcAft>
            </a:pPr>
            <a:r>
              <a:rPr sz="1900" b="0">
                <a:solidFill>
                  <a:srgbClr val="2F4D5D"/>
                </a:solidFill>
              </a:rPr>
              <a:t>Sensitivity filtering: 21× faster; density filtering: 5× faster</a:t>
            </a:r>
          </a:p>
          <a:p>
            <a:pPr>
              <a:spcBef>
                <a:spcPts val="200"/>
              </a:spcBef>
              <a:spcAft>
                <a:spcPts val="800"/>
              </a:spcAft>
            </a:pPr>
            <a:r>
              <a:rPr sz="1900" b="0">
                <a:solidFill>
                  <a:srgbClr val="2F4D5D"/>
                </a:solidFill>
              </a:rPr>
              <a:t>The speedup comes from the cheaper coarse equilibrium solve</a:t>
            </a:r>
          </a:p>
          <a:p>
            <a:pPr>
              <a:spcBef>
                <a:spcPts val="200"/>
              </a:spcBef>
              <a:spcAft>
                <a:spcPts val="800"/>
              </a:spcAft>
            </a:pPr>
            <a:r>
              <a:rPr sz="1900" b="0">
                <a:solidFill>
                  <a:srgbClr val="2F4D5D"/>
                </a:solidFill>
              </a:rPr>
              <a:t>OC plus density filtering converges only in the compliance sense</a:t>
            </a:r>
          </a:p>
          <a:p>
            <a:pPr>
              <a:spcBef>
                <a:spcPts val="200"/>
              </a:spcBef>
              <a:spcAft>
                <a:spcPts val="800"/>
              </a:spcAft>
            </a:pPr>
            <a:r>
              <a:rPr sz="1900" b="0">
                <a:solidFill>
                  <a:srgbClr val="2F4D5D"/>
                </a:solidFill>
              </a:rPr>
              <a:t>Heaviside projection gives the lowest, near-binary compliance (threshold 0.5)</a:t>
            </a:r>
          </a:p>
        </p:txBody>
      </p:sp>
      <p:sp>
        <p:nvSpPr>
          <p:cNvPr id="4" name="Title 3"/>
          <p:cNvSpPr>
            <a:spLocks noGrp="1"/>
          </p:cNvSpPr>
          <p:nvPr>
            <p:ph type="title"/>
          </p:nvPr>
        </p:nvSpPr>
        <p:spPr/>
        <p:txBody>
          <a:bodyPr/>
          <a:lstStyle/>
          <a:p>
            <a:r>
              <a:rPr sz="3200"/>
              <a:t>Conclusions</a:t>
            </a:r>
          </a:p>
        </p:txBody>
      </p:sp>
      <p:pic>
        <p:nvPicPr>
          <p:cNvPr id="5" name="Picture 4" descr="runtime_summary_chart.png"/>
          <p:cNvPicPr>
            <a:picLocks noChangeAspect="1"/>
          </p:cNvPicPr>
          <p:nvPr/>
        </p:nvPicPr>
        <p:blipFill>
          <a:blip r:embed="rId3"/>
          <a:stretch>
            <a:fillRect/>
          </a:stretch>
        </p:blipFill>
        <p:spPr>
          <a:xfrm>
            <a:off x="5686000" y="1640785"/>
            <a:ext cx="5930000" cy="4278430"/>
          </a:xfrm>
          <a:prstGeom prst="rect">
            <a:avLst/>
          </a:prstGeom>
        </p:spPr>
      </p:pic>
      <p:sp>
        <p:nvSpPr>
          <p:cNvPr id="6" name="TextBox 5"/>
          <p:cNvSpPr txBox="1"/>
          <p:nvPr/>
        </p:nvSpPr>
        <p:spPr>
          <a:xfrm>
            <a:off x="6033600" y="6210000"/>
            <a:ext cx="4993200" cy="648000"/>
          </a:xfrm>
          <a:prstGeom prst="rect">
            <a:avLst/>
          </a:prstGeom>
          <a:noFill/>
        </p:spPr>
        <p:txBody>
          <a:bodyPr wrap="square" lIns="36000" tIns="18000" rIns="36000" bIns="18000" anchor="ctr">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lIns="36000" tIns="18000" rIns="36000" bIns="18000" anchor="ctr">
            <a:spAutoFit/>
          </a:bodyPr>
          <a:lstStyle/>
          <a:p>
            <a:pPr algn="l"/>
            <a:r>
              <a:rPr sz="1000" b="0">
                <a:solidFill>
                  <a:srgbClr val="FFFFFF"/>
                </a:solidFill>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76000" y="1410000"/>
            <a:ext cx="5360000" cy="4740000"/>
          </a:xfrm>
        </p:spPr>
        <p:txBody>
          <a:bodyPr wrap="square" anchor="t"/>
          <a:lstStyle/>
          <a:p>
            <a:pPr>
              <a:spcBef>
                <a:spcPts val="200"/>
              </a:spcBef>
              <a:spcAft>
                <a:spcPts val="800"/>
              </a:spcAft>
            </a:pPr>
            <a:r>
              <a:rPr sz="2200" b="1">
                <a:solidFill>
                  <a:srgbClr val="2F4D5D"/>
                </a:solidFill>
              </a:rPr>
              <a:t>We used ChatGPT for</a:t>
            </a:r>
          </a:p>
          <a:p>
            <a:pPr lvl="1">
              <a:spcBef>
                <a:spcPts val="200"/>
              </a:spcBef>
              <a:spcAft>
                <a:spcPts val="800"/>
              </a:spcAft>
            </a:pPr>
            <a:r>
              <a:rPr sz="1900" b="0">
                <a:solidFill>
                  <a:srgbClr val="2F4D5D"/>
                </a:solidFill>
              </a:rPr>
              <a:t>Language editing of text we wrote ourselves</a:t>
            </a:r>
          </a:p>
          <a:p>
            <a:pPr lvl="1">
              <a:spcBef>
                <a:spcPts val="200"/>
              </a:spcBef>
              <a:spcAft>
                <a:spcPts val="800"/>
              </a:spcAft>
            </a:pPr>
            <a:r>
              <a:rPr sz="1900" b="0">
                <a:solidFill>
                  <a:srgbClr val="2F4D5D"/>
                </a:solidFill>
              </a:rPr>
              <a:t>Post-processing and plotting scripts</a:t>
            </a:r>
          </a:p>
          <a:p>
            <a:pPr lvl="1">
              <a:spcBef>
                <a:spcPts val="200"/>
              </a:spcBef>
              <a:spcAft>
                <a:spcPts val="800"/>
              </a:spcAft>
            </a:pPr>
            <a:r>
              <a:rPr sz="1900" b="0">
                <a:solidFill>
                  <a:srgbClr val="2F4D5D"/>
                </a:solidFill>
              </a:rPr>
              <a:t>One supporting theory figure (the MMA sketch)</a:t>
            </a:r>
          </a:p>
        </p:txBody>
      </p:sp>
      <p:sp>
        <p:nvSpPr>
          <p:cNvPr id="3" name="Content Placeholder 2"/>
          <p:cNvSpPr>
            <a:spLocks noGrp="1"/>
          </p:cNvSpPr>
          <p:nvPr>
            <p:ph sz="quarter" idx="13"/>
          </p:nvPr>
        </p:nvSpPr>
        <p:spPr>
          <a:xfrm>
            <a:off x="6256000" y="1410000"/>
            <a:ext cx="5360000" cy="4740000"/>
          </a:xfrm>
        </p:spPr>
        <p:txBody>
          <a:bodyPr wrap="square" anchor="t"/>
          <a:lstStyle/>
          <a:p>
            <a:pPr>
              <a:spcBef>
                <a:spcPts val="200"/>
              </a:spcBef>
              <a:spcAft>
                <a:spcPts val="800"/>
              </a:spcAft>
            </a:pPr>
            <a:r>
              <a:rPr sz="2200" b="1">
                <a:solidFill>
                  <a:srgbClr val="2F4D5D"/>
                </a:solidFill>
              </a:rPr>
              <a:t>We kept the work in our control</a:t>
            </a:r>
          </a:p>
          <a:p>
            <a:pPr lvl="1">
              <a:spcBef>
                <a:spcPts val="200"/>
              </a:spcBef>
              <a:spcAft>
                <a:spcPts val="800"/>
              </a:spcAft>
            </a:pPr>
            <a:r>
              <a:rPr sz="1900" b="0">
                <a:solidFill>
                  <a:srgbClr val="2F4D5D"/>
                </a:solidFill>
              </a:rPr>
              <a:t>MTOP method and MATLAB solver implemented by us</a:t>
            </a:r>
          </a:p>
          <a:p>
            <a:pPr lvl="1">
              <a:spcBef>
                <a:spcPts val="200"/>
              </a:spcBef>
              <a:spcAft>
                <a:spcPts val="800"/>
              </a:spcAft>
            </a:pPr>
            <a:r>
              <a:rPr sz="1900" b="0">
                <a:solidFill>
                  <a:srgbClr val="2F4D5D"/>
                </a:solidFill>
              </a:rPr>
              <a:t>All sensitivities verified with finite differences</a:t>
            </a:r>
          </a:p>
          <a:p>
            <a:pPr lvl="1">
              <a:spcBef>
                <a:spcPts val="200"/>
              </a:spcBef>
              <a:spcAft>
                <a:spcPts val="800"/>
              </a:spcAft>
            </a:pPr>
            <a:r>
              <a:rPr sz="1900" b="0">
                <a:solidFill>
                  <a:srgbClr val="2F4D5D"/>
                </a:solidFill>
              </a:rPr>
              <a:t>Every result reproduced and understood ourselves</a:t>
            </a:r>
          </a:p>
        </p:txBody>
      </p:sp>
      <p:sp>
        <p:nvSpPr>
          <p:cNvPr id="4" name="Title 3"/>
          <p:cNvSpPr>
            <a:spLocks noGrp="1"/>
          </p:cNvSpPr>
          <p:nvPr>
            <p:ph type="title"/>
          </p:nvPr>
        </p:nvSpPr>
        <p:spPr/>
        <p:txBody>
          <a:bodyPr/>
          <a:lstStyle/>
          <a:p>
            <a:r>
              <a:rPr sz="3200"/>
              <a:t>Use of GenAI</a:t>
            </a:r>
          </a:p>
        </p:txBody>
      </p:sp>
      <p:sp>
        <p:nvSpPr>
          <p:cNvPr id="5" name="TextBox 4"/>
          <p:cNvSpPr txBox="1"/>
          <p:nvPr/>
        </p:nvSpPr>
        <p:spPr>
          <a:xfrm>
            <a:off x="6033600" y="6210000"/>
            <a:ext cx="4993200" cy="648000"/>
          </a:xfrm>
          <a:prstGeom prst="rect">
            <a:avLst/>
          </a:prstGeom>
          <a:noFill/>
        </p:spPr>
        <p:txBody>
          <a:bodyPr wrap="square" lIns="36000" tIns="18000" rIns="36000" bIns="18000" anchor="ctr">
            <a:spAutoFit/>
          </a:bodyPr>
          <a:lstStyle/>
          <a:p>
            <a:pPr algn="r"/>
            <a:r>
              <a:rPr sz="1000" b="0">
                <a:solidFill>
                  <a:srgbClr val="FFFFFF"/>
                </a:solidFill>
              </a:rPr>
              <a:t>Structural Optimization (B-KUL-H0T88A)</a:t>
            </a:r>
          </a:p>
        </p:txBody>
      </p:sp>
      <p:sp>
        <p:nvSpPr>
          <p:cNvPr id="6" name="TextBox 5"/>
          <p:cNvSpPr txBox="1"/>
          <p:nvPr/>
        </p:nvSpPr>
        <p:spPr>
          <a:xfrm>
            <a:off x="576000" y="6210000"/>
            <a:ext cx="648000" cy="648000"/>
          </a:xfrm>
          <a:prstGeom prst="rect">
            <a:avLst/>
          </a:prstGeom>
          <a:noFill/>
        </p:spPr>
        <p:txBody>
          <a:bodyPr wrap="square" lIns="36000" tIns="18000" rIns="36000" bIns="18000" anchor="ctr">
            <a:spAutoFit/>
          </a:bodyPr>
          <a:lstStyle/>
          <a:p>
            <a:pPr algn="l"/>
            <a:r>
              <a:rPr sz="1000" b="0">
                <a:solidFill>
                  <a:srgbClr val="FFFFFF"/>
                </a:solidFill>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76000" y="1410000"/>
            <a:ext cx="5360000" cy="3500000"/>
          </a:xfrm>
        </p:spPr>
        <p:txBody>
          <a:bodyPr wrap="square" anchor="t"/>
          <a:lstStyle/>
          <a:p>
            <a:pPr>
              <a:spcBef>
                <a:spcPts val="200"/>
              </a:spcBef>
              <a:spcAft>
                <a:spcPts val="800"/>
              </a:spcAft>
            </a:pPr>
            <a:r>
              <a:rPr sz="2000" b="1">
                <a:solidFill>
                  <a:srgbClr val="2F4D5D"/>
                </a:solidFill>
              </a:rPr>
              <a:t>Where MTOP pays off most</a:t>
            </a:r>
          </a:p>
          <a:p>
            <a:pPr lvl="1">
              <a:spcBef>
                <a:spcPts val="200"/>
              </a:spcBef>
              <a:spcAft>
                <a:spcPts val="800"/>
              </a:spcAft>
            </a:pPr>
            <a:r>
              <a:rPr sz="1700" b="0">
                <a:solidFill>
                  <a:srgbClr val="2F4D5D"/>
                </a:solidFill>
              </a:rPr>
              <a:t>3D problems: the equilibrium solve dominates far more, so the speedup is larger</a:t>
            </a:r>
          </a:p>
          <a:p>
            <a:pPr lvl="1">
              <a:spcBef>
                <a:spcPts val="200"/>
              </a:spcBef>
              <a:spcAft>
                <a:spcPts val="800"/>
              </a:spcAft>
            </a:pPr>
            <a:r>
              <a:rPr sz="1700" b="0">
                <a:solidFill>
                  <a:srgbClr val="2F4D5D"/>
                </a:solidFill>
              </a:rPr>
              <a:t>Smaller filter radii and finer features, which a plain coarse model cannot resolve</a:t>
            </a:r>
          </a:p>
          <a:p>
            <a:pPr lvl="1">
              <a:spcBef>
                <a:spcPts val="200"/>
              </a:spcBef>
              <a:spcAft>
                <a:spcPts val="800"/>
              </a:spcAft>
            </a:pPr>
            <a:r>
              <a:rPr sz="1700" b="0">
                <a:solidFill>
                  <a:srgbClr val="2F4D5D"/>
                </a:solidFill>
              </a:rPr>
              <a:t>Cases that need the fine design description, not only the overall load path</a:t>
            </a:r>
          </a:p>
        </p:txBody>
      </p:sp>
      <p:sp>
        <p:nvSpPr>
          <p:cNvPr id="3" name="Content Placeholder 2"/>
          <p:cNvSpPr>
            <a:spLocks noGrp="1"/>
          </p:cNvSpPr>
          <p:nvPr>
            <p:ph sz="quarter" idx="13"/>
          </p:nvPr>
        </p:nvSpPr>
        <p:spPr>
          <a:xfrm>
            <a:off x="6256000" y="1410000"/>
            <a:ext cx="5360000" cy="3500000"/>
          </a:xfrm>
        </p:spPr>
        <p:txBody>
          <a:bodyPr wrap="square" anchor="t"/>
          <a:lstStyle/>
          <a:p>
            <a:pPr>
              <a:spcBef>
                <a:spcPts val="200"/>
              </a:spcBef>
              <a:spcAft>
                <a:spcPts val="800"/>
              </a:spcAft>
            </a:pPr>
            <a:r>
              <a:rPr sz="2000" b="1">
                <a:solidFill>
                  <a:srgbClr val="2F4D5D"/>
                </a:solidFill>
              </a:rPr>
              <a:t>Open issues and limitations</a:t>
            </a:r>
          </a:p>
          <a:p>
            <a:pPr lvl="1">
              <a:spcBef>
                <a:spcPts val="200"/>
              </a:spcBef>
              <a:spcAft>
                <a:spcPts val="800"/>
              </a:spcAft>
            </a:pPr>
            <a:r>
              <a:rPr sz="1700" b="0">
                <a:solidFill>
                  <a:srgbClr val="2F4D5D"/>
                </a:solidFill>
              </a:rPr>
              <a:t>Density filtering needs a convergence criterion beyond the design-change tolerance</a:t>
            </a:r>
          </a:p>
          <a:p>
            <a:pPr lvl="1">
              <a:spcBef>
                <a:spcPts val="200"/>
              </a:spcBef>
              <a:spcAft>
                <a:spcPts val="800"/>
              </a:spcAft>
            </a:pPr>
            <a:r>
              <a:rPr sz="1700" b="0">
                <a:solidFill>
                  <a:srgbClr val="2F4D5D"/>
                </a:solidFill>
              </a:rPr>
              <a:t>Filtering, assembly and the optimizer still scale with the fine mesh and cap the speedup</a:t>
            </a:r>
          </a:p>
          <a:p>
            <a:pPr lvl="1">
              <a:spcBef>
                <a:spcPts val="200"/>
              </a:spcBef>
              <a:spcAft>
                <a:spcPts val="800"/>
              </a:spcAft>
            </a:pPr>
            <a:r>
              <a:rPr sz="1700" b="0">
                <a:solidFill>
                  <a:srgbClr val="2F4D5D"/>
                </a:solidFill>
              </a:rPr>
              <a:t>With MMA the optimizer subproblem, not the FE solve, is the bottleneck</a:t>
            </a:r>
          </a:p>
        </p:txBody>
      </p:sp>
      <p:sp>
        <p:nvSpPr>
          <p:cNvPr id="4" name="Title 3"/>
          <p:cNvSpPr>
            <a:spLocks noGrp="1"/>
          </p:cNvSpPr>
          <p:nvPr>
            <p:ph type="title"/>
          </p:nvPr>
        </p:nvSpPr>
        <p:spPr/>
        <p:txBody>
          <a:bodyPr/>
          <a:lstStyle/>
          <a:p>
            <a:r>
              <a:rPr sz="3200"/>
              <a:t>Future work and outlook</a:t>
            </a:r>
          </a:p>
        </p:txBody>
      </p:sp>
      <p:sp>
        <p:nvSpPr>
          <p:cNvPr id="5" name="TextBox 4"/>
          <p:cNvSpPr txBox="1"/>
          <p:nvPr/>
        </p:nvSpPr>
        <p:spPr>
          <a:xfrm>
            <a:off x="576000" y="5110000"/>
            <a:ext cx="11040000" cy="680000"/>
          </a:xfrm>
          <a:prstGeom prst="rect">
            <a:avLst/>
          </a:prstGeom>
          <a:noFill/>
        </p:spPr>
        <p:txBody>
          <a:bodyPr wrap="square" lIns="36000" tIns="18000" rIns="36000" bIns="18000" anchor="ctr">
            <a:spAutoFit/>
          </a:bodyPr>
          <a:lstStyle/>
          <a:p>
            <a:pPr algn="ctr"/>
            <a:r>
              <a:rPr sz="2600" b="1">
                <a:solidFill>
                  <a:srgbClr val="1D8DB0"/>
                </a:solidFill>
              </a:rPr>
              <a:t>Thank you for your attention. Questions?</a:t>
            </a:r>
          </a:p>
        </p:txBody>
      </p:sp>
      <p:sp>
        <p:nvSpPr>
          <p:cNvPr id="6" name="TextBox 5"/>
          <p:cNvSpPr txBox="1"/>
          <p:nvPr/>
        </p:nvSpPr>
        <p:spPr>
          <a:xfrm>
            <a:off x="6033600" y="6210000"/>
            <a:ext cx="4993200" cy="648000"/>
          </a:xfrm>
          <a:prstGeom prst="rect">
            <a:avLst/>
          </a:prstGeom>
          <a:noFill/>
        </p:spPr>
        <p:txBody>
          <a:bodyPr wrap="square" lIns="36000" tIns="18000" rIns="36000" bIns="18000" anchor="ctr">
            <a:spAutoFit/>
          </a:bodyPr>
          <a:lstStyle/>
          <a:p>
            <a:pPr algn="r"/>
            <a:r>
              <a:rPr sz="1000" b="0">
                <a:solidFill>
                  <a:srgbClr val="FFFFFF"/>
                </a:solidFill>
              </a:rPr>
              <a:t>Structural Optimization (B-KUL-H0T88A)</a:t>
            </a:r>
          </a:p>
        </p:txBody>
      </p:sp>
      <p:sp>
        <p:nvSpPr>
          <p:cNvPr id="7" name="TextBox 6"/>
          <p:cNvSpPr txBox="1"/>
          <p:nvPr/>
        </p:nvSpPr>
        <p:spPr>
          <a:xfrm>
            <a:off x="576000" y="6210000"/>
            <a:ext cx="648000" cy="648000"/>
          </a:xfrm>
          <a:prstGeom prst="rect">
            <a:avLst/>
          </a:prstGeom>
          <a:noFill/>
        </p:spPr>
        <p:txBody>
          <a:bodyPr wrap="square" lIns="36000" tIns="18000" rIns="36000" bIns="18000" anchor="ctr">
            <a:spAutoFit/>
          </a:bodyPr>
          <a:lstStyle/>
          <a:p>
            <a:pPr algn="l"/>
            <a:r>
              <a:rPr sz="1000" b="0">
                <a:solidFill>
                  <a:srgbClr val="FFFFFF"/>
                </a:solidFill>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a:t>
            </a:r>
          </a:p>
        </p:txBody>
      </p:sp>
      <p:sp>
        <p:nvSpPr>
          <p:cNvPr id="3" name="TextBox 2"/>
          <p:cNvSpPr txBox="1"/>
          <p:nvPr/>
        </p:nvSpPr>
        <p:spPr>
          <a:xfrm>
            <a:off x="576000" y="4050000"/>
            <a:ext cx="11040000" cy="520000"/>
          </a:xfrm>
          <a:prstGeom prst="rect">
            <a:avLst/>
          </a:prstGeom>
          <a:noFill/>
        </p:spPr>
        <p:txBody>
          <a:bodyPr wrap="square" lIns="36000" tIns="18000" rIns="36000" bIns="18000" anchor="ctr">
            <a:spAutoFit/>
          </a:bodyPr>
          <a:lstStyle/>
          <a:p>
            <a:pPr algn="ctr"/>
            <a:r>
              <a:rPr sz="2000" b="0">
                <a:solidFill>
                  <a:srgbClr val="FFFFFF"/>
                </a:solidFill>
              </a:rPr>
              <a:t>Backup slides for the discussion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sz="3200"/>
              <a:t>Appendix: problem formulation and SIMP</a:t>
            </a:r>
          </a:p>
        </p:txBody>
      </p:sp>
      <p:sp>
        <p:nvSpPr>
          <p:cNvPr id="5" name="TextBox 4"/>
          <p:cNvSpPr txBox="1"/>
          <p:nvPr/>
        </p:nvSpPr>
        <p:spPr>
          <a:xfrm>
            <a:off x="576000" y="1410000"/>
            <a:ext cx="5500000" cy="4740000"/>
          </a:xfrm>
          <a:prstGeom prst="rect">
            <a:avLst/>
          </a:prstGeom>
          <a:noFill/>
        </p:spPr>
        <p:txBody>
          <a:bodyPr wrap="square" lIns="36000" rIns="36000" anchor="t">
            <a:spAutoFit/>
          </a:bodyPr>
          <a:lstStyle/>
          <a:p>
            <a:pPr>
              <a:spcAft>
                <a:spcPts val="400"/>
              </a:spcAft>
            </a:pPr>
            <a:r>
              <a:rPr sz="1800" b="1">
                <a:solidFill>
                  <a:srgbClr val="1D8DB0"/>
                </a:solidFill>
              </a:rPr>
              <a:t>Minimum-compliance problem</a:t>
            </a:r>
          </a:p>
          <a:p>
            <a:pPr>
              <a:spcAft>
                <a:spcPts val="400"/>
              </a:spcAft>
            </a:pPr>
            <a:r>
              <a:rPr sz="1500" b="0">
                <a:solidFill>
                  <a:srgbClr val="2F4D5D"/>
                </a:solidFill>
              </a:rPr>
              <a:t>minimize   C(x) = f^T u(ρ)</a:t>
            </a:r>
          </a:p>
          <a:p>
            <a:pPr>
              <a:spcAft>
                <a:spcPts val="400"/>
              </a:spcAft>
            </a:pPr>
            <a:r>
              <a:rPr sz="1500" b="0">
                <a:solidFill>
                  <a:srgbClr val="2F4D5D"/>
                </a:solidFill>
              </a:rPr>
              <a:t>subject to   K(ρ) u = f</a:t>
            </a:r>
          </a:p>
          <a:p>
            <a:pPr>
              <a:spcAft>
                <a:spcPts val="400"/>
              </a:spcAft>
            </a:pPr>
            <a:r>
              <a:rPr sz="1500" b="0">
                <a:solidFill>
                  <a:srgbClr val="2F4D5D"/>
                </a:solidFill>
              </a:rPr>
              <a:t>and   mean density ≤ V* = 0.5</a:t>
            </a:r>
          </a:p>
          <a:p>
            <a:pPr>
              <a:spcAft>
                <a:spcPts val="400"/>
              </a:spcAft>
            </a:pPr>
            <a:r>
              <a:rPr sz="1300" b="0">
                <a:solidFill>
                  <a:srgbClr val="2F4D5D"/>
                </a:solidFill>
              </a:rPr>
              <a:t>design variable x in [0,1] per density cell</a:t>
            </a:r>
          </a:p>
          <a:p>
            <a:pPr>
              <a:spcBef>
                <a:spcPts val="1200"/>
              </a:spcBef>
              <a:spcAft>
                <a:spcPts val="400"/>
              </a:spcAft>
            </a:pPr>
            <a:r>
              <a:rPr sz="1800" b="1">
                <a:solidFill>
                  <a:srgbClr val="1D8DB0"/>
                </a:solidFill>
              </a:rPr>
              <a:t>SIMP material law</a:t>
            </a:r>
          </a:p>
          <a:p>
            <a:pPr>
              <a:spcAft>
                <a:spcPts val="400"/>
              </a:spcAft>
            </a:pPr>
            <a:r>
              <a:rPr sz="1500" b="0">
                <a:solidFill>
                  <a:srgbClr val="2F4D5D"/>
                </a:solidFill>
              </a:rPr>
              <a:t>E(ρ) = E_min + ρ^p (E0 - E_min),   p = 3</a:t>
            </a:r>
          </a:p>
          <a:p>
            <a:pPr>
              <a:spcAft>
                <a:spcPts val="400"/>
              </a:spcAft>
            </a:pPr>
            <a:r>
              <a:rPr sz="1300" b="0">
                <a:solidFill>
                  <a:srgbClr val="2F4D5D"/>
                </a:solidFill>
              </a:rPr>
              <a:t>at ρ = 0.5 this gives E / E0 = 0.125</a:t>
            </a:r>
          </a:p>
          <a:p>
            <a:pPr>
              <a:spcBef>
                <a:spcPts val="1200"/>
              </a:spcBef>
              <a:spcAft>
                <a:spcPts val="400"/>
              </a:spcAft>
            </a:pPr>
            <a:r>
              <a:rPr sz="1800" b="1">
                <a:solidFill>
                  <a:srgbClr val="1D8DB0"/>
                </a:solidFill>
              </a:rPr>
              <a:t>Cone filter, radius r = 24 density cells</a:t>
            </a:r>
          </a:p>
          <a:p>
            <a:pPr>
              <a:spcAft>
                <a:spcPts val="400"/>
              </a:spcAft>
            </a:pPr>
            <a:r>
              <a:rPr sz="1500" b="0">
                <a:solidFill>
                  <a:srgbClr val="2F4D5D"/>
                </a:solidFill>
              </a:rPr>
              <a:t>density filter:  ρ_i = Σ H_ij x_j  /  Σ H_ij</a:t>
            </a:r>
          </a:p>
          <a:p>
            <a:pPr>
              <a:spcAft>
                <a:spcPts val="400"/>
              </a:spcAft>
            </a:pPr>
            <a:r>
              <a:rPr sz="1400" b="0">
                <a:solidFill>
                  <a:srgbClr val="2F4D5D"/>
                </a:solidFill>
              </a:rPr>
              <a:t>sensitivity filter: smooths ∂C/∂x_i (a heuristic)</a:t>
            </a:r>
          </a:p>
        </p:txBody>
      </p:sp>
      <p:pic>
        <p:nvPicPr>
          <p:cNvPr id="6" name="Picture 5" descr="simp_interpolation.png"/>
          <p:cNvPicPr>
            <a:picLocks noChangeAspect="1"/>
          </p:cNvPicPr>
          <p:nvPr/>
        </p:nvPicPr>
        <p:blipFill>
          <a:blip r:embed="rId3"/>
          <a:stretch>
            <a:fillRect/>
          </a:stretch>
        </p:blipFill>
        <p:spPr>
          <a:xfrm>
            <a:off x="6300000" y="1955783"/>
            <a:ext cx="5316000" cy="3648433"/>
          </a:xfrm>
          <a:prstGeom prst="rect">
            <a:avLst/>
          </a:prstGeom>
        </p:spPr>
      </p:pic>
      <p:sp>
        <p:nvSpPr>
          <p:cNvPr id="7" name="TextBox 6"/>
          <p:cNvSpPr txBox="1"/>
          <p:nvPr/>
        </p:nvSpPr>
        <p:spPr>
          <a:xfrm>
            <a:off x="6033600" y="6210000"/>
            <a:ext cx="4993200" cy="648000"/>
          </a:xfrm>
          <a:prstGeom prst="rect">
            <a:avLst/>
          </a:prstGeom>
          <a:noFill/>
        </p:spPr>
        <p:txBody>
          <a:bodyPr wrap="square" lIns="36000" tIns="18000" rIns="36000" bIns="18000" anchor="ctr">
            <a:spAutoFit/>
          </a:bodyPr>
          <a:lstStyle/>
          <a:p>
            <a:pPr algn="r"/>
            <a:r>
              <a:rPr sz="1000" b="0">
                <a:solidFill>
                  <a:srgbClr val="FFFFFF"/>
                </a:solidFill>
              </a:rPr>
              <a:t>Structural Optimization (B-KUL-H0T88A)</a:t>
            </a:r>
          </a:p>
        </p:txBody>
      </p:sp>
      <p:sp>
        <p:nvSpPr>
          <p:cNvPr id="8" name="TextBox 7"/>
          <p:cNvSpPr txBox="1"/>
          <p:nvPr/>
        </p:nvSpPr>
        <p:spPr>
          <a:xfrm>
            <a:off x="576000" y="6210000"/>
            <a:ext cx="648000" cy="648000"/>
          </a:xfrm>
          <a:prstGeom prst="rect">
            <a:avLst/>
          </a:prstGeom>
          <a:noFill/>
        </p:spPr>
        <p:txBody>
          <a:bodyPr wrap="square" lIns="36000" tIns="18000" rIns="36000" bIns="18000" anchor="ctr">
            <a:spAutoFit/>
          </a:bodyPr>
          <a:lstStyle/>
          <a:p>
            <a:pPr algn="l"/>
            <a:r>
              <a:rPr sz="1000" b="0">
                <a:solidFill>
                  <a:srgbClr val="FFFFFF"/>
                </a:solidFil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sz="3200"/>
              <a:t>Appendix: MTOP element and sensitivities</a:t>
            </a:r>
          </a:p>
        </p:txBody>
      </p:sp>
      <p:sp>
        <p:nvSpPr>
          <p:cNvPr id="5" name="TextBox 4"/>
          <p:cNvSpPr txBox="1"/>
          <p:nvPr/>
        </p:nvSpPr>
        <p:spPr>
          <a:xfrm>
            <a:off x="576000" y="1410000"/>
            <a:ext cx="5650000" cy="4740000"/>
          </a:xfrm>
          <a:prstGeom prst="rect">
            <a:avLst/>
          </a:prstGeom>
          <a:noFill/>
        </p:spPr>
        <p:txBody>
          <a:bodyPr wrap="square" lIns="36000" rIns="36000" anchor="t">
            <a:spAutoFit/>
          </a:bodyPr>
          <a:lstStyle/>
          <a:p>
            <a:pPr>
              <a:spcAft>
                <a:spcPts val="400"/>
              </a:spcAft>
            </a:pPr>
            <a:r>
              <a:rPr sz="1700" b="1">
                <a:solidFill>
                  <a:srgbClr val="1D8DB0"/>
                </a:solidFill>
              </a:rPr>
              <a:t>Element stiffness, midpoint quadrature</a:t>
            </a:r>
          </a:p>
          <a:p>
            <a:pPr>
              <a:spcAft>
                <a:spcPts val="400"/>
              </a:spcAft>
            </a:pPr>
            <a:r>
              <a:rPr sz="1400" b="0">
                <a:solidFill>
                  <a:srgbClr val="2F4D5D"/>
                </a:solidFill>
              </a:rPr>
              <a:t>K_e = Σ_k [ E_min + ρ_ek^p (E0 - E_min) ] I_k</a:t>
            </a:r>
          </a:p>
          <a:p>
            <a:pPr>
              <a:spcAft>
                <a:spcPts val="400"/>
              </a:spcAft>
            </a:pPr>
            <a:r>
              <a:rPr sz="1400" b="0">
                <a:solidFill>
                  <a:srgbClr val="2F4D5D"/>
                </a:solidFill>
              </a:rPr>
              <a:t>I_k = A_k · B^T(ξ_k) D0 B(ξ_k),   A_k = 1/25</a:t>
            </a:r>
          </a:p>
          <a:p>
            <a:pPr>
              <a:spcAft>
                <a:spcPts val="400"/>
              </a:spcAft>
            </a:pPr>
            <a:r>
              <a:rPr sz="1300" b="0">
                <a:solidFill>
                  <a:srgbClr val="2F4D5D"/>
                </a:solidFill>
              </a:rPr>
              <a:t>the 25 templates I_k depend on geometry only</a:t>
            </a:r>
          </a:p>
          <a:p>
            <a:pPr>
              <a:spcAft>
                <a:spcPts val="400"/>
              </a:spcAft>
            </a:pPr>
            <a:r>
              <a:rPr sz="1300" b="0">
                <a:solidFill>
                  <a:srgbClr val="2F4D5D"/>
                </a:solidFill>
              </a:rPr>
              <a:t>and are precomputed once per run</a:t>
            </a:r>
          </a:p>
          <a:p>
            <a:pPr>
              <a:spcBef>
                <a:spcPts val="1200"/>
              </a:spcBef>
              <a:spcAft>
                <a:spcPts val="400"/>
              </a:spcAft>
            </a:pPr>
            <a:r>
              <a:rPr sz="1700" b="1">
                <a:solidFill>
                  <a:srgbClr val="1D8DB0"/>
                </a:solidFill>
              </a:rPr>
              <a:t>Compliance sensitivity (self-adjoint)</a:t>
            </a:r>
          </a:p>
          <a:p>
            <a:pPr>
              <a:spcAft>
                <a:spcPts val="400"/>
              </a:spcAft>
            </a:pPr>
            <a:r>
              <a:rPr sz="1400" b="0">
                <a:solidFill>
                  <a:srgbClr val="2F4D5D"/>
                </a:solidFill>
              </a:rPr>
              <a:t>∂C/∂ρ = - u^T (∂K/∂ρ) u   (no extra solve)</a:t>
            </a:r>
          </a:p>
          <a:p>
            <a:pPr>
              <a:spcAft>
                <a:spcPts val="400"/>
              </a:spcAft>
            </a:pPr>
            <a:r>
              <a:rPr sz="1200" b="0">
                <a:solidFill>
                  <a:srgbClr val="2F4D5D"/>
                </a:solidFill>
              </a:rPr>
              <a:t>classical:  ∂C/∂ρ_e = -p (E0-E_min) ρ_e^(p-1) u_e^T K0 u_e</a:t>
            </a:r>
          </a:p>
          <a:p>
            <a:pPr>
              <a:spcAft>
                <a:spcPts val="400"/>
              </a:spcAft>
            </a:pPr>
            <a:r>
              <a:rPr sz="1200" b="0">
                <a:solidFill>
                  <a:srgbClr val="2F4D5D"/>
                </a:solidFill>
              </a:rPr>
              <a:t>MTOP cell:  ∂C/∂ρ_ek = -p (E0-E_min) ρ_ek^(p-1) u_e^T I_k u_e</a:t>
            </a:r>
          </a:p>
        </p:txBody>
      </p:sp>
      <p:pic>
        <p:nvPicPr>
          <p:cNvPr id="6" name="Picture 5" descr="gen_concept_meshes.png"/>
          <p:cNvPicPr>
            <a:picLocks noChangeAspect="1"/>
          </p:cNvPicPr>
          <p:nvPr/>
        </p:nvPicPr>
        <p:blipFill>
          <a:blip r:embed="rId3"/>
          <a:stretch>
            <a:fillRect/>
          </a:stretch>
        </p:blipFill>
        <p:spPr>
          <a:xfrm>
            <a:off x="6376000" y="2546454"/>
            <a:ext cx="5240000" cy="2467091"/>
          </a:xfrm>
          <a:prstGeom prst="rect">
            <a:avLst/>
          </a:prstGeom>
        </p:spPr>
      </p:pic>
      <p:sp>
        <p:nvSpPr>
          <p:cNvPr id="7" name="TextBox 6"/>
          <p:cNvSpPr txBox="1"/>
          <p:nvPr/>
        </p:nvSpPr>
        <p:spPr>
          <a:xfrm>
            <a:off x="6033600" y="6210000"/>
            <a:ext cx="4993200" cy="648000"/>
          </a:xfrm>
          <a:prstGeom prst="rect">
            <a:avLst/>
          </a:prstGeom>
          <a:noFill/>
        </p:spPr>
        <p:txBody>
          <a:bodyPr wrap="square" lIns="36000" tIns="18000" rIns="36000" bIns="18000" anchor="ctr">
            <a:spAutoFit/>
          </a:bodyPr>
          <a:lstStyle/>
          <a:p>
            <a:pPr algn="r"/>
            <a:r>
              <a:rPr sz="1000" b="0">
                <a:solidFill>
                  <a:srgbClr val="FFFFFF"/>
                </a:solidFill>
              </a:rPr>
              <a:t>Structural Optimization (B-KUL-H0T88A)</a:t>
            </a:r>
          </a:p>
        </p:txBody>
      </p:sp>
      <p:sp>
        <p:nvSpPr>
          <p:cNvPr id="8" name="TextBox 7"/>
          <p:cNvSpPr txBox="1"/>
          <p:nvPr/>
        </p:nvSpPr>
        <p:spPr>
          <a:xfrm>
            <a:off x="576000" y="6210000"/>
            <a:ext cx="648000" cy="648000"/>
          </a:xfrm>
          <a:prstGeom prst="rect">
            <a:avLst/>
          </a:prstGeom>
          <a:noFill/>
        </p:spPr>
        <p:txBody>
          <a:bodyPr wrap="square" lIns="36000" tIns="18000" rIns="36000" bIns="18000" anchor="ctr">
            <a:spAutoFit/>
          </a:bodyPr>
          <a:lstStyle/>
          <a:p>
            <a:pPr algn="l"/>
            <a:r>
              <a:rPr sz="1000" b="0">
                <a:solidFill>
                  <a:srgbClr val="FFFFFF"/>
                </a:solidFill>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Appendix: sensitivity verification</a:t>
            </a:r>
          </a:p>
        </p:txBody>
      </p:sp>
      <p:graphicFrame>
        <p:nvGraphicFramePr>
          <p:cNvPr id="3" name="Table 2"/>
          <p:cNvGraphicFramePr>
            <a:graphicFrameLocks noGrp="1"/>
          </p:cNvGraphicFramePr>
          <p:nvPr/>
        </p:nvGraphicFramePr>
        <p:xfrm>
          <a:off x="1196000" y="2350000"/>
          <a:ext cx="9800000" cy="1640000"/>
        </p:xfrm>
        <a:graphic>
          <a:graphicData uri="http://schemas.openxmlformats.org/drawingml/2006/table">
            <a:tbl>
              <a:tblPr>
                <a:tableStyleId>{5C22544A-7EE6-4342-B048-85BDC9FD1C3A}</a:tableStyleId>
              </a:tblPr>
              <a:tblGrid>
                <a:gridCol w="3000000">
                  <a:extLst>
                    <a:ext uri="{9D8B030D-6E8A-4147-A177-3AD203B41FA5}">
                      <a16:colId xmlns:a16="http://schemas.microsoft.com/office/drawing/2014/main" val="20000"/>
                    </a:ext>
                  </a:extLst>
                </a:gridCol>
                <a:gridCol w="2700000">
                  <a:extLst>
                    <a:ext uri="{9D8B030D-6E8A-4147-A177-3AD203B41FA5}">
                      <a16:colId xmlns:a16="http://schemas.microsoft.com/office/drawing/2014/main" val="20001"/>
                    </a:ext>
                  </a:extLst>
                </a:gridCol>
                <a:gridCol w="2500000">
                  <a:extLst>
                    <a:ext uri="{9D8B030D-6E8A-4147-A177-3AD203B41FA5}">
                      <a16:colId xmlns:a16="http://schemas.microsoft.com/office/drawing/2014/main" val="20002"/>
                    </a:ext>
                  </a:extLst>
                </a:gridCol>
                <a:gridCol w="1600000">
                  <a:extLst>
                    <a:ext uri="{9D8B030D-6E8A-4147-A177-3AD203B41FA5}">
                      <a16:colId xmlns:a16="http://schemas.microsoft.com/office/drawing/2014/main" val="20003"/>
                    </a:ext>
                  </a:extLst>
                </a:gridCol>
              </a:tblGrid>
              <a:tr h="410000">
                <a:tc>
                  <a:txBody>
                    <a:bodyPr/>
                    <a:lstStyle/>
                    <a:p>
                      <a:pPr algn="l"/>
                      <a:r>
                        <a:rPr sz="1250" b="1">
                          <a:solidFill>
                            <a:srgbClr val="FFFFFF"/>
                          </a:solidFill>
                        </a:rPr>
                        <a:t>Derivative chain</a:t>
                      </a:r>
                    </a:p>
                  </a:txBody>
                  <a:tcPr marL="82000" marR="55000" marT="14000" marB="14000" anchor="ctr">
                    <a:solidFill>
                      <a:srgbClr val="1D8DB0"/>
                    </a:solidFill>
                  </a:tcPr>
                </a:tc>
                <a:tc>
                  <a:txBody>
                    <a:bodyPr/>
                    <a:lstStyle/>
                    <a:p>
                      <a:pPr algn="ctr"/>
                      <a:r>
                        <a:rPr sz="1250" b="1">
                          <a:solidFill>
                            <a:srgbClr val="FFFFFF"/>
                          </a:solidFill>
                        </a:rPr>
                        <a:t>Best component-wise error</a:t>
                      </a:r>
                    </a:p>
                  </a:txBody>
                  <a:tcPr marL="82000" marR="55000" marT="14000" marB="14000" anchor="ctr">
                    <a:solidFill>
                      <a:srgbClr val="1D8DB0"/>
                    </a:solidFill>
                  </a:tcPr>
                </a:tc>
                <a:tc>
                  <a:txBody>
                    <a:bodyPr/>
                    <a:lstStyle/>
                    <a:p>
                      <a:pPr algn="ctr"/>
                      <a:r>
                        <a:rPr sz="1250" b="1">
                          <a:solidFill>
                            <a:srgbClr val="FFFFFF"/>
                          </a:solidFill>
                        </a:rPr>
                        <a:t>Best directional error</a:t>
                      </a:r>
                    </a:p>
                  </a:txBody>
                  <a:tcPr marL="82000" marR="55000" marT="14000" marB="14000" anchor="ctr">
                    <a:solidFill>
                      <a:srgbClr val="1D8DB0"/>
                    </a:solidFill>
                  </a:tcPr>
                </a:tc>
                <a:tc>
                  <a:txBody>
                    <a:bodyPr/>
                    <a:lstStyle/>
                    <a:p>
                      <a:pPr algn="ctr"/>
                      <a:r>
                        <a:rPr sz="1250" b="1">
                          <a:solidFill>
                            <a:srgbClr val="FFFFFF"/>
                          </a:solidFill>
                        </a:rPr>
                        <a:t>Taylor slope</a:t>
                      </a:r>
                    </a:p>
                  </a:txBody>
                  <a:tcPr marL="82000" marR="55000" marT="14000" marB="14000" anchor="ctr">
                    <a:solidFill>
                      <a:srgbClr val="1D8DB0"/>
                    </a:solidFill>
                  </a:tcPr>
                </a:tc>
                <a:extLst>
                  <a:ext uri="{0D108BD9-81ED-4DB2-BD59-A6C34878D82A}">
                    <a16:rowId xmlns:a16="http://schemas.microsoft.com/office/drawing/2014/main" val="10000"/>
                  </a:ext>
                </a:extLst>
              </a:tr>
              <a:tr h="410000">
                <a:tc>
                  <a:txBody>
                    <a:bodyPr/>
                    <a:lstStyle/>
                    <a:p>
                      <a:pPr algn="l"/>
                      <a:r>
                        <a:rPr sz="1300" b="0">
                          <a:solidFill>
                            <a:srgbClr val="2F4D5D"/>
                          </a:solidFill>
                        </a:rPr>
                        <a:t>Classical SIMP</a:t>
                      </a:r>
                    </a:p>
                  </a:txBody>
                  <a:tcPr marL="82000" marR="55000" marT="14000" marB="14000" anchor="ctr">
                    <a:solidFill>
                      <a:srgbClr val="FFFFFF"/>
                    </a:solidFill>
                  </a:tcPr>
                </a:tc>
                <a:tc>
                  <a:txBody>
                    <a:bodyPr/>
                    <a:lstStyle/>
                    <a:p>
                      <a:pPr algn="ctr"/>
                      <a:r>
                        <a:rPr sz="1300" b="0">
                          <a:solidFill>
                            <a:srgbClr val="2F4D5D"/>
                          </a:solidFill>
                        </a:rPr>
                        <a:t>6.9e-6</a:t>
                      </a:r>
                    </a:p>
                  </a:txBody>
                  <a:tcPr marL="82000" marR="55000" marT="14000" marB="14000" anchor="ctr">
                    <a:solidFill>
                      <a:srgbClr val="FFFFFF"/>
                    </a:solidFill>
                  </a:tcPr>
                </a:tc>
                <a:tc>
                  <a:txBody>
                    <a:bodyPr/>
                    <a:lstStyle/>
                    <a:p>
                      <a:pPr algn="ctr"/>
                      <a:r>
                        <a:rPr sz="1300" b="0">
                          <a:solidFill>
                            <a:srgbClr val="2F4D5D"/>
                          </a:solidFill>
                        </a:rPr>
                        <a:t>3.4e-6</a:t>
                      </a:r>
                    </a:p>
                  </a:txBody>
                  <a:tcPr marL="82000" marR="55000" marT="14000" marB="14000" anchor="ctr">
                    <a:solidFill>
                      <a:srgbClr val="FFFFFF"/>
                    </a:solidFill>
                  </a:tcPr>
                </a:tc>
                <a:tc>
                  <a:txBody>
                    <a:bodyPr/>
                    <a:lstStyle/>
                    <a:p>
                      <a:pPr algn="ctr"/>
                      <a:r>
                        <a:rPr sz="1300" b="0">
                          <a:solidFill>
                            <a:srgbClr val="2F4D5D"/>
                          </a:solidFill>
                        </a:rPr>
                        <a:t>2.000</a:t>
                      </a:r>
                    </a:p>
                  </a:txBody>
                  <a:tcPr marL="82000" marR="55000" marT="14000" marB="14000" anchor="ctr">
                    <a:solidFill>
                      <a:srgbClr val="FFFFFF"/>
                    </a:solidFill>
                  </a:tcPr>
                </a:tc>
                <a:extLst>
                  <a:ext uri="{0D108BD9-81ED-4DB2-BD59-A6C34878D82A}">
                    <a16:rowId xmlns:a16="http://schemas.microsoft.com/office/drawing/2014/main" val="10001"/>
                  </a:ext>
                </a:extLst>
              </a:tr>
              <a:tr h="410000">
                <a:tc>
                  <a:txBody>
                    <a:bodyPr/>
                    <a:lstStyle/>
                    <a:p>
                      <a:pPr algn="l"/>
                      <a:r>
                        <a:rPr sz="1300" b="0">
                          <a:solidFill>
                            <a:srgbClr val="2F4D5D"/>
                          </a:solidFill>
                        </a:rPr>
                        <a:t>MTOP per-cell</a:t>
                      </a:r>
                    </a:p>
                  </a:txBody>
                  <a:tcPr marL="82000" marR="55000" marT="14000" marB="14000" anchor="ctr">
                    <a:solidFill>
                      <a:srgbClr val="FFFFFF"/>
                    </a:solidFill>
                  </a:tcPr>
                </a:tc>
                <a:tc>
                  <a:txBody>
                    <a:bodyPr/>
                    <a:lstStyle/>
                    <a:p>
                      <a:pPr algn="ctr"/>
                      <a:r>
                        <a:rPr sz="1300" b="0">
                          <a:solidFill>
                            <a:srgbClr val="2F4D5D"/>
                          </a:solidFill>
                        </a:rPr>
                        <a:t>2.1e-5</a:t>
                      </a:r>
                    </a:p>
                  </a:txBody>
                  <a:tcPr marL="82000" marR="55000" marT="14000" marB="14000" anchor="ctr">
                    <a:solidFill>
                      <a:srgbClr val="FFFFFF"/>
                    </a:solidFill>
                  </a:tcPr>
                </a:tc>
                <a:tc>
                  <a:txBody>
                    <a:bodyPr/>
                    <a:lstStyle/>
                    <a:p>
                      <a:pPr algn="ctr"/>
                      <a:r>
                        <a:rPr sz="1300" b="0">
                          <a:solidFill>
                            <a:srgbClr val="2F4D5D"/>
                          </a:solidFill>
                        </a:rPr>
                        <a:t>1.9e-4</a:t>
                      </a:r>
                    </a:p>
                  </a:txBody>
                  <a:tcPr marL="82000" marR="55000" marT="14000" marB="14000" anchor="ctr">
                    <a:solidFill>
                      <a:srgbClr val="FFFFFF"/>
                    </a:solidFill>
                  </a:tcPr>
                </a:tc>
                <a:tc>
                  <a:txBody>
                    <a:bodyPr/>
                    <a:lstStyle/>
                    <a:p>
                      <a:pPr algn="ctr"/>
                      <a:r>
                        <a:rPr sz="1300" b="0">
                          <a:solidFill>
                            <a:srgbClr val="2F4D5D"/>
                          </a:solidFill>
                        </a:rPr>
                        <a:t>2.000</a:t>
                      </a:r>
                    </a:p>
                  </a:txBody>
                  <a:tcPr marL="82000" marR="55000" marT="14000" marB="14000" anchor="ctr">
                    <a:solidFill>
                      <a:srgbClr val="FFFFFF"/>
                    </a:solidFill>
                  </a:tcPr>
                </a:tc>
                <a:extLst>
                  <a:ext uri="{0D108BD9-81ED-4DB2-BD59-A6C34878D82A}">
                    <a16:rowId xmlns:a16="http://schemas.microsoft.com/office/drawing/2014/main" val="10002"/>
                  </a:ext>
                </a:extLst>
              </a:tr>
              <a:tr h="410000">
                <a:tc>
                  <a:txBody>
                    <a:bodyPr/>
                    <a:lstStyle/>
                    <a:p>
                      <a:pPr algn="l"/>
                      <a:r>
                        <a:rPr sz="1300" b="0">
                          <a:solidFill>
                            <a:srgbClr val="2F4D5D"/>
                          </a:solidFill>
                        </a:rPr>
                        <a:t>Full Heaviside chain</a:t>
                      </a:r>
                    </a:p>
                  </a:txBody>
                  <a:tcPr marL="82000" marR="55000" marT="14000" marB="14000" anchor="ctr">
                    <a:solidFill>
                      <a:srgbClr val="FFFFFF"/>
                    </a:solidFill>
                  </a:tcPr>
                </a:tc>
                <a:tc>
                  <a:txBody>
                    <a:bodyPr/>
                    <a:lstStyle/>
                    <a:p>
                      <a:pPr algn="ctr"/>
                      <a:r>
                        <a:rPr sz="1300" b="0">
                          <a:solidFill>
                            <a:srgbClr val="2F4D5D"/>
                          </a:solidFill>
                        </a:rPr>
                        <a:t>2.0e-6</a:t>
                      </a:r>
                    </a:p>
                  </a:txBody>
                  <a:tcPr marL="82000" marR="55000" marT="14000" marB="14000" anchor="ctr">
                    <a:solidFill>
                      <a:srgbClr val="FFFFFF"/>
                    </a:solidFill>
                  </a:tcPr>
                </a:tc>
                <a:tc>
                  <a:txBody>
                    <a:bodyPr/>
                    <a:lstStyle/>
                    <a:p>
                      <a:pPr algn="ctr"/>
                      <a:r>
                        <a:rPr sz="1300" b="0">
                          <a:solidFill>
                            <a:srgbClr val="2F4D5D"/>
                          </a:solidFill>
                        </a:rPr>
                        <a:t>7.9e-6</a:t>
                      </a:r>
                    </a:p>
                  </a:txBody>
                  <a:tcPr marL="82000" marR="55000" marT="14000" marB="14000" anchor="ctr">
                    <a:solidFill>
                      <a:srgbClr val="FFFFFF"/>
                    </a:solidFill>
                  </a:tcPr>
                </a:tc>
                <a:tc>
                  <a:txBody>
                    <a:bodyPr/>
                    <a:lstStyle/>
                    <a:p>
                      <a:pPr algn="ctr"/>
                      <a:r>
                        <a:rPr sz="1300" b="0">
                          <a:solidFill>
                            <a:srgbClr val="2F4D5D"/>
                          </a:solidFill>
                        </a:rPr>
                        <a:t>1.999</a:t>
                      </a:r>
                    </a:p>
                  </a:txBody>
                  <a:tcPr marL="82000" marR="55000" marT="14000" marB="14000" anchor="ctr">
                    <a:solidFill>
                      <a:srgbClr val="FFFFFF"/>
                    </a:solidFill>
                  </a:tcPr>
                </a:tc>
                <a:extLst>
                  <a:ext uri="{0D108BD9-81ED-4DB2-BD59-A6C34878D82A}">
                    <a16:rowId xmlns:a16="http://schemas.microsoft.com/office/drawing/2014/main" val="10003"/>
                  </a:ext>
                </a:extLst>
              </a:tr>
            </a:tbl>
          </a:graphicData>
        </a:graphic>
      </p:graphicFrame>
      <p:sp>
        <p:nvSpPr>
          <p:cNvPr id="4" name="TextBox 3"/>
          <p:cNvSpPr txBox="1"/>
          <p:nvPr/>
        </p:nvSpPr>
        <p:spPr>
          <a:xfrm>
            <a:off x="1196000" y="4250000"/>
            <a:ext cx="9800000" cy="900000"/>
          </a:xfrm>
          <a:prstGeom prst="rect">
            <a:avLst/>
          </a:prstGeom>
          <a:noFill/>
        </p:spPr>
        <p:txBody>
          <a:bodyPr wrap="square" lIns="36000" tIns="18000" rIns="36000" bIns="18000" anchor="t">
            <a:spAutoFit/>
          </a:bodyPr>
          <a:lstStyle/>
          <a:p>
            <a:pPr algn="ctr"/>
            <a:r>
              <a:rPr sz="1400" b="0">
                <a:solidFill>
                  <a:srgbClr val="2F4D5D"/>
                </a:solidFill>
              </a:rPr>
              <a:t>Three finite-difference strategies on three derivative chains.</a:t>
            </a:r>
          </a:p>
          <a:p>
            <a:pPr algn="ctr"/>
            <a:r>
              <a:rPr sz="1400" b="0">
                <a:solidFill>
                  <a:srgbClr val="2F4D5D"/>
                </a:solidFill>
              </a:rPr>
              <a:t>The Taylor-remainder slope of about 2 confirms the analytical gradients.</a:t>
            </a:r>
          </a:p>
        </p:txBody>
      </p:sp>
      <p:sp>
        <p:nvSpPr>
          <p:cNvPr id="5" name="TextBox 4"/>
          <p:cNvSpPr txBox="1"/>
          <p:nvPr/>
        </p:nvSpPr>
        <p:spPr>
          <a:xfrm>
            <a:off x="6033600" y="6210000"/>
            <a:ext cx="4993200" cy="648000"/>
          </a:xfrm>
          <a:prstGeom prst="rect">
            <a:avLst/>
          </a:prstGeom>
          <a:noFill/>
        </p:spPr>
        <p:txBody>
          <a:bodyPr wrap="square" lIns="36000" tIns="18000" rIns="36000" bIns="18000" anchor="ctr">
            <a:spAutoFit/>
          </a:bodyPr>
          <a:lstStyle/>
          <a:p>
            <a:pPr algn="r"/>
            <a:r>
              <a:rPr sz="1000" b="0">
                <a:solidFill>
                  <a:srgbClr val="FFFFFF"/>
                </a:solidFill>
              </a:rPr>
              <a:t>Structural Optimization (B-KUL-H0T88A)</a:t>
            </a:r>
          </a:p>
        </p:txBody>
      </p:sp>
      <p:sp>
        <p:nvSpPr>
          <p:cNvPr id="6" name="TextBox 5"/>
          <p:cNvSpPr txBox="1"/>
          <p:nvPr/>
        </p:nvSpPr>
        <p:spPr>
          <a:xfrm>
            <a:off x="576000" y="6210000"/>
            <a:ext cx="648000" cy="648000"/>
          </a:xfrm>
          <a:prstGeom prst="rect">
            <a:avLst/>
          </a:prstGeom>
          <a:noFill/>
        </p:spPr>
        <p:txBody>
          <a:bodyPr wrap="square" lIns="36000" tIns="18000" rIns="36000" bIns="18000" anchor="ctr">
            <a:spAutoFit/>
          </a:bodyPr>
          <a:lstStyle/>
          <a:p>
            <a:pPr algn="l"/>
            <a:r>
              <a:rPr sz="1000" b="0">
                <a:solidFill>
                  <a:srgbClr val="FFFFFF"/>
                </a:solidFill>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Appendix: all nine experiments</a:t>
            </a:r>
          </a:p>
        </p:txBody>
      </p:sp>
      <p:graphicFrame>
        <p:nvGraphicFramePr>
          <p:cNvPr id="3" name="Table 2"/>
          <p:cNvGraphicFramePr>
            <a:graphicFrameLocks noGrp="1"/>
          </p:cNvGraphicFramePr>
          <p:nvPr/>
        </p:nvGraphicFramePr>
        <p:xfrm>
          <a:off x="576000" y="1640000"/>
          <a:ext cx="11040000" cy="4050000"/>
        </p:xfrm>
        <a:graphic>
          <a:graphicData uri="http://schemas.openxmlformats.org/drawingml/2006/table">
            <a:tbl>
              <a:tblPr>
                <a:tableStyleId>{5C22544A-7EE6-4342-B048-85BDC9FD1C3A}</a:tableStyleId>
              </a:tblPr>
              <a:tblGrid>
                <a:gridCol w="3700000">
                  <a:extLst>
                    <a:ext uri="{9D8B030D-6E8A-4147-A177-3AD203B41FA5}">
                      <a16:colId xmlns:a16="http://schemas.microsoft.com/office/drawing/2014/main" val="20000"/>
                    </a:ext>
                  </a:extLst>
                </a:gridCol>
                <a:gridCol w="1900000">
                  <a:extLst>
                    <a:ext uri="{9D8B030D-6E8A-4147-A177-3AD203B41FA5}">
                      <a16:colId xmlns:a16="http://schemas.microsoft.com/office/drawing/2014/main" val="20001"/>
                    </a:ext>
                  </a:extLst>
                </a:gridCol>
                <a:gridCol w="1750000">
                  <a:extLst>
                    <a:ext uri="{9D8B030D-6E8A-4147-A177-3AD203B41FA5}">
                      <a16:colId xmlns:a16="http://schemas.microsoft.com/office/drawing/2014/main" val="20002"/>
                    </a:ext>
                  </a:extLst>
                </a:gridCol>
                <a:gridCol w="1550000">
                  <a:extLst>
                    <a:ext uri="{9D8B030D-6E8A-4147-A177-3AD203B41FA5}">
                      <a16:colId xmlns:a16="http://schemas.microsoft.com/office/drawing/2014/main" val="20003"/>
                    </a:ext>
                  </a:extLst>
                </a:gridCol>
                <a:gridCol w="2140000">
                  <a:extLst>
                    <a:ext uri="{9D8B030D-6E8A-4147-A177-3AD203B41FA5}">
                      <a16:colId xmlns:a16="http://schemas.microsoft.com/office/drawing/2014/main" val="20004"/>
                    </a:ext>
                  </a:extLst>
                </a:gridCol>
              </a:tblGrid>
              <a:tr h="405000">
                <a:tc>
                  <a:txBody>
                    <a:bodyPr/>
                    <a:lstStyle/>
                    <a:p>
                      <a:pPr algn="l"/>
                      <a:r>
                        <a:rPr sz="1200" b="1">
                          <a:solidFill>
                            <a:srgbClr val="FFFFFF"/>
                          </a:solidFill>
                        </a:rPr>
                        <a:t>Run</a:t>
                      </a:r>
                    </a:p>
                  </a:txBody>
                  <a:tcPr marL="82000" marR="55000" marT="14000" marB="14000" anchor="ctr">
                    <a:solidFill>
                      <a:srgbClr val="1D8DB0"/>
                    </a:solidFill>
                  </a:tcPr>
                </a:tc>
                <a:tc>
                  <a:txBody>
                    <a:bodyPr/>
                    <a:lstStyle/>
                    <a:p>
                      <a:pPr algn="ctr"/>
                      <a:r>
                        <a:rPr sz="1200" b="1">
                          <a:solidFill>
                            <a:srgbClr val="FFFFFF"/>
                          </a:solidFill>
                        </a:rPr>
                        <a:t>C (fine mesh)</a:t>
                      </a:r>
                    </a:p>
                  </a:txBody>
                  <a:tcPr marL="82000" marR="55000" marT="14000" marB="14000" anchor="ctr">
                    <a:solidFill>
                      <a:srgbClr val="1D8DB0"/>
                    </a:solidFill>
                  </a:tcPr>
                </a:tc>
                <a:tc>
                  <a:txBody>
                    <a:bodyPr/>
                    <a:lstStyle/>
                    <a:p>
                      <a:pPr algn="ctr"/>
                      <a:r>
                        <a:rPr sz="1200" b="1">
                          <a:solidFill>
                            <a:srgbClr val="FFFFFF"/>
                          </a:solidFill>
                        </a:rPr>
                        <a:t>Iterations</a:t>
                      </a:r>
                    </a:p>
                  </a:txBody>
                  <a:tcPr marL="82000" marR="55000" marT="14000" marB="14000" anchor="ctr">
                    <a:solidFill>
                      <a:srgbClr val="1D8DB0"/>
                    </a:solidFill>
                  </a:tcPr>
                </a:tc>
                <a:tc>
                  <a:txBody>
                    <a:bodyPr/>
                    <a:lstStyle/>
                    <a:p>
                      <a:pPr algn="ctr"/>
                      <a:r>
                        <a:rPr sz="1200" b="1">
                          <a:solidFill>
                            <a:srgbClr val="FFFFFF"/>
                          </a:solidFill>
                        </a:rPr>
                        <a:t>Time (s)</a:t>
                      </a:r>
                    </a:p>
                  </a:txBody>
                  <a:tcPr marL="82000" marR="55000" marT="14000" marB="14000" anchor="ctr">
                    <a:solidFill>
                      <a:srgbClr val="1D8DB0"/>
                    </a:solidFill>
                  </a:tcPr>
                </a:tc>
                <a:tc>
                  <a:txBody>
                    <a:bodyPr/>
                    <a:lstStyle/>
                    <a:p>
                      <a:pPr algn="ctr"/>
                      <a:r>
                        <a:rPr sz="1200" b="1">
                          <a:solidFill>
                            <a:srgbClr val="FFFFFF"/>
                          </a:solidFill>
                        </a:rPr>
                        <a:t>Stopping criterion</a:t>
                      </a:r>
                    </a:p>
                  </a:txBody>
                  <a:tcPr marL="82000" marR="55000" marT="14000" marB="14000" anchor="ctr">
                    <a:solidFill>
                      <a:srgbClr val="1D8DB0"/>
                    </a:solidFill>
                  </a:tcPr>
                </a:tc>
                <a:extLst>
                  <a:ext uri="{0D108BD9-81ED-4DB2-BD59-A6C34878D82A}">
                    <a16:rowId xmlns:a16="http://schemas.microsoft.com/office/drawing/2014/main" val="10000"/>
                  </a:ext>
                </a:extLst>
              </a:tr>
              <a:tr h="405000">
                <a:tc>
                  <a:txBody>
                    <a:bodyPr/>
                    <a:lstStyle/>
                    <a:p>
                      <a:pPr algn="l"/>
                      <a:r>
                        <a:rPr sz="1200" b="0">
                          <a:solidFill>
                            <a:srgbClr val="2F4D5D"/>
                          </a:solidFill>
                        </a:rPr>
                        <a:t>Classical OC, sensitivity filter</a:t>
                      </a:r>
                    </a:p>
                  </a:txBody>
                  <a:tcPr marL="82000" marR="55000" marT="14000" marB="14000" anchor="ctr">
                    <a:solidFill>
                      <a:srgbClr val="FFFFFF"/>
                    </a:solidFill>
                  </a:tcPr>
                </a:tc>
                <a:tc>
                  <a:txBody>
                    <a:bodyPr/>
                    <a:lstStyle/>
                    <a:p>
                      <a:pPr algn="ctr"/>
                      <a:r>
                        <a:rPr sz="1200" b="0">
                          <a:solidFill>
                            <a:srgbClr val="2F4D5D"/>
                          </a:solidFill>
                        </a:rPr>
                        <a:t>224.6</a:t>
                      </a:r>
                    </a:p>
                  </a:txBody>
                  <a:tcPr marL="82000" marR="55000" marT="14000" marB="14000" anchor="ctr">
                    <a:solidFill>
                      <a:srgbClr val="FFFFFF"/>
                    </a:solidFill>
                  </a:tcPr>
                </a:tc>
                <a:tc>
                  <a:txBody>
                    <a:bodyPr/>
                    <a:lstStyle/>
                    <a:p>
                      <a:pPr algn="ctr"/>
                      <a:r>
                        <a:rPr sz="1200" b="0">
                          <a:solidFill>
                            <a:srgbClr val="2F4D5D"/>
                          </a:solidFill>
                        </a:rPr>
                        <a:t>94</a:t>
                      </a:r>
                    </a:p>
                  </a:txBody>
                  <a:tcPr marL="82000" marR="55000" marT="14000" marB="14000" anchor="ctr">
                    <a:solidFill>
                      <a:srgbClr val="FFFFFF"/>
                    </a:solidFill>
                  </a:tcPr>
                </a:tc>
                <a:tc>
                  <a:txBody>
                    <a:bodyPr/>
                    <a:lstStyle/>
                    <a:p>
                      <a:pPr algn="ctr"/>
                      <a:r>
                        <a:rPr sz="1200" b="0">
                          <a:solidFill>
                            <a:srgbClr val="2F4D5D"/>
                          </a:solidFill>
                        </a:rPr>
                        <a:t>263</a:t>
                      </a:r>
                    </a:p>
                  </a:txBody>
                  <a:tcPr marL="82000" marR="55000" marT="14000" marB="14000" anchor="ctr">
                    <a:solidFill>
                      <a:srgbClr val="FFFFFF"/>
                    </a:solidFill>
                  </a:tcPr>
                </a:tc>
                <a:tc>
                  <a:txBody>
                    <a:bodyPr/>
                    <a:lstStyle/>
                    <a:p>
                      <a:pPr algn="ctr"/>
                      <a:r>
                        <a:rPr sz="1200" b="0">
                          <a:solidFill>
                            <a:srgbClr val="2F4D5D"/>
                          </a:solidFill>
                        </a:rPr>
                        <a:t>design change</a:t>
                      </a:r>
                    </a:p>
                  </a:txBody>
                  <a:tcPr marL="82000" marR="55000" marT="14000" marB="14000" anchor="ctr">
                    <a:solidFill>
                      <a:srgbClr val="FFFFFF"/>
                    </a:solidFill>
                  </a:tcPr>
                </a:tc>
                <a:extLst>
                  <a:ext uri="{0D108BD9-81ED-4DB2-BD59-A6C34878D82A}">
                    <a16:rowId xmlns:a16="http://schemas.microsoft.com/office/drawing/2014/main" val="10001"/>
                  </a:ext>
                </a:extLst>
              </a:tr>
              <a:tr h="405000">
                <a:tc>
                  <a:txBody>
                    <a:bodyPr/>
                    <a:lstStyle/>
                    <a:p>
                      <a:pPr algn="l"/>
                      <a:r>
                        <a:rPr sz="1200" b="0">
                          <a:solidFill>
                            <a:srgbClr val="2F4D5D"/>
                          </a:solidFill>
                        </a:rPr>
                        <a:t>MTOP OC, sensitivity filter</a:t>
                      </a:r>
                    </a:p>
                  </a:txBody>
                  <a:tcPr marL="82000" marR="55000" marT="14000" marB="14000" anchor="ctr">
                    <a:solidFill>
                      <a:srgbClr val="FFFFFF"/>
                    </a:solidFill>
                  </a:tcPr>
                </a:tc>
                <a:tc>
                  <a:txBody>
                    <a:bodyPr/>
                    <a:lstStyle/>
                    <a:p>
                      <a:pPr algn="ctr"/>
                      <a:r>
                        <a:rPr sz="1200" b="0">
                          <a:solidFill>
                            <a:srgbClr val="2F4D5D"/>
                          </a:solidFill>
                        </a:rPr>
                        <a:t>224.7</a:t>
                      </a:r>
                    </a:p>
                  </a:txBody>
                  <a:tcPr marL="82000" marR="55000" marT="14000" marB="14000" anchor="ctr">
                    <a:solidFill>
                      <a:srgbClr val="FFFFFF"/>
                    </a:solidFill>
                  </a:tcPr>
                </a:tc>
                <a:tc>
                  <a:txBody>
                    <a:bodyPr/>
                    <a:lstStyle/>
                    <a:p>
                      <a:pPr algn="ctr"/>
                      <a:r>
                        <a:rPr sz="1200" b="0">
                          <a:solidFill>
                            <a:srgbClr val="2F4D5D"/>
                          </a:solidFill>
                        </a:rPr>
                        <a:t>95</a:t>
                      </a:r>
                    </a:p>
                  </a:txBody>
                  <a:tcPr marL="82000" marR="55000" marT="14000" marB="14000" anchor="ctr">
                    <a:solidFill>
                      <a:srgbClr val="FFFFFF"/>
                    </a:solidFill>
                  </a:tcPr>
                </a:tc>
                <a:tc>
                  <a:txBody>
                    <a:bodyPr/>
                    <a:lstStyle/>
                    <a:p>
                      <a:pPr algn="ctr"/>
                      <a:r>
                        <a:rPr sz="1200" b="0">
                          <a:solidFill>
                            <a:srgbClr val="2F4D5D"/>
                          </a:solidFill>
                        </a:rPr>
                        <a:t>12</a:t>
                      </a:r>
                    </a:p>
                  </a:txBody>
                  <a:tcPr marL="82000" marR="55000" marT="14000" marB="14000" anchor="ctr">
                    <a:solidFill>
                      <a:srgbClr val="FFFFFF"/>
                    </a:solidFill>
                  </a:tcPr>
                </a:tc>
                <a:tc>
                  <a:txBody>
                    <a:bodyPr/>
                    <a:lstStyle/>
                    <a:p>
                      <a:pPr algn="ctr"/>
                      <a:r>
                        <a:rPr sz="1200" b="0">
                          <a:solidFill>
                            <a:srgbClr val="2F4D5D"/>
                          </a:solidFill>
                        </a:rPr>
                        <a:t>design change</a:t>
                      </a:r>
                    </a:p>
                  </a:txBody>
                  <a:tcPr marL="82000" marR="55000" marT="14000" marB="14000" anchor="ctr">
                    <a:solidFill>
                      <a:srgbClr val="FFFFFF"/>
                    </a:solidFill>
                  </a:tcPr>
                </a:tc>
                <a:extLst>
                  <a:ext uri="{0D108BD9-81ED-4DB2-BD59-A6C34878D82A}">
                    <a16:rowId xmlns:a16="http://schemas.microsoft.com/office/drawing/2014/main" val="10002"/>
                  </a:ext>
                </a:extLst>
              </a:tr>
              <a:tr h="405000">
                <a:tc>
                  <a:txBody>
                    <a:bodyPr/>
                    <a:lstStyle/>
                    <a:p>
                      <a:pPr algn="l"/>
                      <a:r>
                        <a:rPr sz="1200" b="0">
                          <a:solidFill>
                            <a:srgbClr val="2F4D5D"/>
                          </a:solidFill>
                        </a:rPr>
                        <a:t>Classical OC, density filter</a:t>
                      </a:r>
                    </a:p>
                  </a:txBody>
                  <a:tcPr marL="82000" marR="55000" marT="14000" marB="14000" anchor="ctr">
                    <a:solidFill>
                      <a:srgbClr val="FFFFFF"/>
                    </a:solidFill>
                  </a:tcPr>
                </a:tc>
                <a:tc>
                  <a:txBody>
                    <a:bodyPr/>
                    <a:lstStyle/>
                    <a:p>
                      <a:pPr algn="ctr"/>
                      <a:r>
                        <a:rPr sz="1200" b="0">
                          <a:solidFill>
                            <a:srgbClr val="2F4D5D"/>
                          </a:solidFill>
                        </a:rPr>
                        <a:t>241.1</a:t>
                      </a:r>
                    </a:p>
                  </a:txBody>
                  <a:tcPr marL="82000" marR="55000" marT="14000" marB="14000" anchor="ctr">
                    <a:solidFill>
                      <a:srgbClr val="FFFFFF"/>
                    </a:solidFill>
                  </a:tcPr>
                </a:tc>
                <a:tc>
                  <a:txBody>
                    <a:bodyPr/>
                    <a:lstStyle/>
                    <a:p>
                      <a:pPr algn="ctr"/>
                      <a:r>
                        <a:rPr sz="1200" b="0">
                          <a:solidFill>
                            <a:srgbClr val="2F4D5D"/>
                          </a:solidFill>
                        </a:rPr>
                        <a:t>237</a:t>
                      </a:r>
                    </a:p>
                  </a:txBody>
                  <a:tcPr marL="82000" marR="55000" marT="14000" marB="14000" anchor="ctr">
                    <a:solidFill>
                      <a:srgbClr val="FFFFFF"/>
                    </a:solidFill>
                  </a:tcPr>
                </a:tc>
                <a:tc>
                  <a:txBody>
                    <a:bodyPr/>
                    <a:lstStyle/>
                    <a:p>
                      <a:pPr algn="ctr"/>
                      <a:r>
                        <a:rPr sz="1200" b="0">
                          <a:solidFill>
                            <a:srgbClr val="2F4D5D"/>
                          </a:solidFill>
                        </a:rPr>
                        <a:t>693</a:t>
                      </a:r>
                    </a:p>
                  </a:txBody>
                  <a:tcPr marL="82000" marR="55000" marT="14000" marB="14000" anchor="ctr">
                    <a:solidFill>
                      <a:srgbClr val="FFFFFF"/>
                    </a:solidFill>
                  </a:tcPr>
                </a:tc>
                <a:tc>
                  <a:txBody>
                    <a:bodyPr/>
                    <a:lstStyle/>
                    <a:p>
                      <a:pPr algn="ctr"/>
                      <a:r>
                        <a:rPr sz="1200" b="0">
                          <a:solidFill>
                            <a:srgbClr val="2F4D5D"/>
                          </a:solidFill>
                        </a:rPr>
                        <a:t>compliance plateau</a:t>
                      </a:r>
                    </a:p>
                  </a:txBody>
                  <a:tcPr marL="82000" marR="55000" marT="14000" marB="14000" anchor="ctr">
                    <a:solidFill>
                      <a:srgbClr val="FFFFFF"/>
                    </a:solidFill>
                  </a:tcPr>
                </a:tc>
                <a:extLst>
                  <a:ext uri="{0D108BD9-81ED-4DB2-BD59-A6C34878D82A}">
                    <a16:rowId xmlns:a16="http://schemas.microsoft.com/office/drawing/2014/main" val="10003"/>
                  </a:ext>
                </a:extLst>
              </a:tr>
              <a:tr h="405000">
                <a:tc>
                  <a:txBody>
                    <a:bodyPr/>
                    <a:lstStyle/>
                    <a:p>
                      <a:pPr algn="l"/>
                      <a:r>
                        <a:rPr sz="1200" b="0">
                          <a:solidFill>
                            <a:srgbClr val="2F4D5D"/>
                          </a:solidFill>
                        </a:rPr>
                        <a:t>MTOP OC, density filter</a:t>
                      </a:r>
                    </a:p>
                  </a:txBody>
                  <a:tcPr marL="82000" marR="55000" marT="14000" marB="14000" anchor="ctr">
                    <a:solidFill>
                      <a:srgbClr val="FFFFFF"/>
                    </a:solidFill>
                  </a:tcPr>
                </a:tc>
                <a:tc>
                  <a:txBody>
                    <a:bodyPr/>
                    <a:lstStyle/>
                    <a:p>
                      <a:pPr algn="ctr"/>
                      <a:r>
                        <a:rPr sz="1200" b="0">
                          <a:solidFill>
                            <a:srgbClr val="2F4D5D"/>
                          </a:solidFill>
                        </a:rPr>
                        <a:t>241.0</a:t>
                      </a:r>
                    </a:p>
                  </a:txBody>
                  <a:tcPr marL="82000" marR="55000" marT="14000" marB="14000" anchor="ctr">
                    <a:solidFill>
                      <a:srgbClr val="FFFFFF"/>
                    </a:solidFill>
                  </a:tcPr>
                </a:tc>
                <a:tc>
                  <a:txBody>
                    <a:bodyPr/>
                    <a:lstStyle/>
                    <a:p>
                      <a:pPr algn="ctr"/>
                      <a:r>
                        <a:rPr sz="1200" b="0">
                          <a:solidFill>
                            <a:srgbClr val="2F4D5D"/>
                          </a:solidFill>
                        </a:rPr>
                        <a:t>299</a:t>
                      </a:r>
                    </a:p>
                  </a:txBody>
                  <a:tcPr marL="82000" marR="55000" marT="14000" marB="14000" anchor="ctr">
                    <a:solidFill>
                      <a:srgbClr val="FFFFFF"/>
                    </a:solidFill>
                  </a:tcPr>
                </a:tc>
                <a:tc>
                  <a:txBody>
                    <a:bodyPr/>
                    <a:lstStyle/>
                    <a:p>
                      <a:pPr algn="ctr"/>
                      <a:r>
                        <a:rPr sz="1200" b="0">
                          <a:solidFill>
                            <a:srgbClr val="2F4D5D"/>
                          </a:solidFill>
                        </a:rPr>
                        <a:t>137</a:t>
                      </a:r>
                    </a:p>
                  </a:txBody>
                  <a:tcPr marL="82000" marR="55000" marT="14000" marB="14000" anchor="ctr">
                    <a:solidFill>
                      <a:srgbClr val="FFFFFF"/>
                    </a:solidFill>
                  </a:tcPr>
                </a:tc>
                <a:tc>
                  <a:txBody>
                    <a:bodyPr/>
                    <a:lstStyle/>
                    <a:p>
                      <a:pPr algn="ctr"/>
                      <a:r>
                        <a:rPr sz="1200" b="0">
                          <a:solidFill>
                            <a:srgbClr val="2F4D5D"/>
                          </a:solidFill>
                        </a:rPr>
                        <a:t>compliance plateau</a:t>
                      </a:r>
                    </a:p>
                  </a:txBody>
                  <a:tcPr marL="82000" marR="55000" marT="14000" marB="14000" anchor="ctr">
                    <a:solidFill>
                      <a:srgbClr val="FFFFFF"/>
                    </a:solidFill>
                  </a:tcPr>
                </a:tc>
                <a:extLst>
                  <a:ext uri="{0D108BD9-81ED-4DB2-BD59-A6C34878D82A}">
                    <a16:rowId xmlns:a16="http://schemas.microsoft.com/office/drawing/2014/main" val="10004"/>
                  </a:ext>
                </a:extLst>
              </a:tr>
              <a:tr h="405000">
                <a:tc>
                  <a:txBody>
                    <a:bodyPr/>
                    <a:lstStyle/>
                    <a:p>
                      <a:pPr algn="l"/>
                      <a:r>
                        <a:rPr sz="1200" b="0">
                          <a:solidFill>
                            <a:srgbClr val="2F4D5D"/>
                          </a:solidFill>
                        </a:rPr>
                        <a:t>MTOP MMA, sensitivity filter</a:t>
                      </a:r>
                    </a:p>
                  </a:txBody>
                  <a:tcPr marL="82000" marR="55000" marT="14000" marB="14000" anchor="ctr">
                    <a:solidFill>
                      <a:srgbClr val="FFFFFF"/>
                    </a:solidFill>
                  </a:tcPr>
                </a:tc>
                <a:tc>
                  <a:txBody>
                    <a:bodyPr/>
                    <a:lstStyle/>
                    <a:p>
                      <a:pPr algn="ctr"/>
                      <a:r>
                        <a:rPr sz="1200" b="0">
                          <a:solidFill>
                            <a:srgbClr val="2F4D5D"/>
                          </a:solidFill>
                        </a:rPr>
                        <a:t>226.5</a:t>
                      </a:r>
                    </a:p>
                  </a:txBody>
                  <a:tcPr marL="82000" marR="55000" marT="14000" marB="14000" anchor="ctr">
                    <a:solidFill>
                      <a:srgbClr val="FFFFFF"/>
                    </a:solidFill>
                  </a:tcPr>
                </a:tc>
                <a:tc>
                  <a:txBody>
                    <a:bodyPr/>
                    <a:lstStyle/>
                    <a:p>
                      <a:pPr algn="ctr"/>
                      <a:r>
                        <a:rPr sz="1200" b="0">
                          <a:solidFill>
                            <a:srgbClr val="2F4D5D"/>
                          </a:solidFill>
                        </a:rPr>
                        <a:t>250</a:t>
                      </a:r>
                    </a:p>
                  </a:txBody>
                  <a:tcPr marL="82000" marR="55000" marT="14000" marB="14000" anchor="ctr">
                    <a:solidFill>
                      <a:srgbClr val="FFFFFF"/>
                    </a:solidFill>
                  </a:tcPr>
                </a:tc>
                <a:tc>
                  <a:txBody>
                    <a:bodyPr/>
                    <a:lstStyle/>
                    <a:p>
                      <a:pPr algn="ctr"/>
                      <a:r>
                        <a:rPr sz="1200" b="0">
                          <a:solidFill>
                            <a:srgbClr val="2F4D5D"/>
                          </a:solidFill>
                        </a:rPr>
                        <a:t>187</a:t>
                      </a:r>
                    </a:p>
                  </a:txBody>
                  <a:tcPr marL="82000" marR="55000" marT="14000" marB="14000" anchor="ctr">
                    <a:solidFill>
                      <a:srgbClr val="FFFFFF"/>
                    </a:solidFill>
                  </a:tcPr>
                </a:tc>
                <a:tc>
                  <a:txBody>
                    <a:bodyPr/>
                    <a:lstStyle/>
                    <a:p>
                      <a:pPr algn="ctr"/>
                      <a:r>
                        <a:rPr sz="1200" b="0">
                          <a:solidFill>
                            <a:srgbClr val="2F4D5D"/>
                          </a:solidFill>
                        </a:rPr>
                        <a:t>design change</a:t>
                      </a:r>
                    </a:p>
                  </a:txBody>
                  <a:tcPr marL="82000" marR="55000" marT="14000" marB="14000" anchor="ctr">
                    <a:solidFill>
                      <a:srgbClr val="FFFFFF"/>
                    </a:solidFill>
                  </a:tcPr>
                </a:tc>
                <a:extLst>
                  <a:ext uri="{0D108BD9-81ED-4DB2-BD59-A6C34878D82A}">
                    <a16:rowId xmlns:a16="http://schemas.microsoft.com/office/drawing/2014/main" val="10005"/>
                  </a:ext>
                </a:extLst>
              </a:tr>
              <a:tr h="405000">
                <a:tc>
                  <a:txBody>
                    <a:bodyPr/>
                    <a:lstStyle/>
                    <a:p>
                      <a:pPr algn="l"/>
                      <a:r>
                        <a:rPr sz="1200" b="0">
                          <a:solidFill>
                            <a:srgbClr val="2F4D5D"/>
                          </a:solidFill>
                        </a:rPr>
                        <a:t>MTOP MMA, density filter</a:t>
                      </a:r>
                    </a:p>
                  </a:txBody>
                  <a:tcPr marL="82000" marR="55000" marT="14000" marB="14000" anchor="ctr">
                    <a:solidFill>
                      <a:srgbClr val="FFFFFF"/>
                    </a:solidFill>
                  </a:tcPr>
                </a:tc>
                <a:tc>
                  <a:txBody>
                    <a:bodyPr/>
                    <a:lstStyle/>
                    <a:p>
                      <a:pPr algn="ctr"/>
                      <a:r>
                        <a:rPr sz="1200" b="0">
                          <a:solidFill>
                            <a:srgbClr val="2F4D5D"/>
                          </a:solidFill>
                        </a:rPr>
                        <a:t>240.1</a:t>
                      </a:r>
                    </a:p>
                  </a:txBody>
                  <a:tcPr marL="82000" marR="55000" marT="14000" marB="14000" anchor="ctr">
                    <a:solidFill>
                      <a:srgbClr val="FFFFFF"/>
                    </a:solidFill>
                  </a:tcPr>
                </a:tc>
                <a:tc>
                  <a:txBody>
                    <a:bodyPr/>
                    <a:lstStyle/>
                    <a:p>
                      <a:pPr algn="ctr"/>
                      <a:r>
                        <a:rPr sz="1200" b="0">
                          <a:solidFill>
                            <a:srgbClr val="2F4D5D"/>
                          </a:solidFill>
                        </a:rPr>
                        <a:t>419</a:t>
                      </a:r>
                    </a:p>
                  </a:txBody>
                  <a:tcPr marL="82000" marR="55000" marT="14000" marB="14000" anchor="ctr">
                    <a:solidFill>
                      <a:srgbClr val="FFFFFF"/>
                    </a:solidFill>
                  </a:tcPr>
                </a:tc>
                <a:tc>
                  <a:txBody>
                    <a:bodyPr/>
                    <a:lstStyle/>
                    <a:p>
                      <a:pPr algn="ctr"/>
                      <a:r>
                        <a:rPr sz="1200" b="0">
                          <a:solidFill>
                            <a:srgbClr val="2F4D5D"/>
                          </a:solidFill>
                        </a:rPr>
                        <a:t>254</a:t>
                      </a:r>
                    </a:p>
                  </a:txBody>
                  <a:tcPr marL="82000" marR="55000" marT="14000" marB="14000" anchor="ctr">
                    <a:solidFill>
                      <a:srgbClr val="FFFFFF"/>
                    </a:solidFill>
                  </a:tcPr>
                </a:tc>
                <a:tc>
                  <a:txBody>
                    <a:bodyPr/>
                    <a:lstStyle/>
                    <a:p>
                      <a:pPr algn="ctr"/>
                      <a:r>
                        <a:rPr sz="1200" b="0">
                          <a:solidFill>
                            <a:srgbClr val="2F4D5D"/>
                          </a:solidFill>
                        </a:rPr>
                        <a:t>compliance plateau</a:t>
                      </a:r>
                    </a:p>
                  </a:txBody>
                  <a:tcPr marL="82000" marR="55000" marT="14000" marB="14000" anchor="ctr">
                    <a:solidFill>
                      <a:srgbClr val="FFFFFF"/>
                    </a:solidFill>
                  </a:tcPr>
                </a:tc>
                <a:extLst>
                  <a:ext uri="{0D108BD9-81ED-4DB2-BD59-A6C34878D82A}">
                    <a16:rowId xmlns:a16="http://schemas.microsoft.com/office/drawing/2014/main" val="10006"/>
                  </a:ext>
                </a:extLst>
              </a:tr>
              <a:tr h="405000">
                <a:tc>
                  <a:txBody>
                    <a:bodyPr/>
                    <a:lstStyle/>
                    <a:p>
                      <a:pPr algn="l"/>
                      <a:r>
                        <a:rPr sz="1200" b="0">
                          <a:solidFill>
                            <a:srgbClr val="2F4D5D"/>
                          </a:solidFill>
                        </a:rPr>
                        <a:t>MTOP MMA, Heaviside η = 0.3</a:t>
                      </a:r>
                    </a:p>
                  </a:txBody>
                  <a:tcPr marL="82000" marR="55000" marT="14000" marB="14000" anchor="ctr">
                    <a:solidFill>
                      <a:srgbClr val="FFFFFF"/>
                    </a:solidFill>
                  </a:tcPr>
                </a:tc>
                <a:tc>
                  <a:txBody>
                    <a:bodyPr/>
                    <a:lstStyle/>
                    <a:p>
                      <a:pPr algn="ctr"/>
                      <a:r>
                        <a:rPr sz="1200" b="0">
                          <a:solidFill>
                            <a:srgbClr val="2F4D5D"/>
                          </a:solidFill>
                        </a:rPr>
                        <a:t>200.0</a:t>
                      </a:r>
                    </a:p>
                  </a:txBody>
                  <a:tcPr marL="82000" marR="55000" marT="14000" marB="14000" anchor="ctr">
                    <a:solidFill>
                      <a:srgbClr val="FFFFFF"/>
                    </a:solidFill>
                  </a:tcPr>
                </a:tc>
                <a:tc>
                  <a:txBody>
                    <a:bodyPr/>
                    <a:lstStyle/>
                    <a:p>
                      <a:pPr algn="ctr"/>
                      <a:r>
                        <a:rPr sz="1200" b="0">
                          <a:solidFill>
                            <a:srgbClr val="2F4D5D"/>
                          </a:solidFill>
                        </a:rPr>
                        <a:t>419</a:t>
                      </a:r>
                    </a:p>
                  </a:txBody>
                  <a:tcPr marL="82000" marR="55000" marT="14000" marB="14000" anchor="ctr">
                    <a:solidFill>
                      <a:srgbClr val="FFFFFF"/>
                    </a:solidFill>
                  </a:tcPr>
                </a:tc>
                <a:tc>
                  <a:txBody>
                    <a:bodyPr/>
                    <a:lstStyle/>
                    <a:p>
                      <a:pPr algn="ctr"/>
                      <a:r>
                        <a:rPr sz="1200" b="0">
                          <a:solidFill>
                            <a:srgbClr val="2F4D5D"/>
                          </a:solidFill>
                        </a:rPr>
                        <a:t>279</a:t>
                      </a:r>
                    </a:p>
                  </a:txBody>
                  <a:tcPr marL="82000" marR="55000" marT="14000" marB="14000" anchor="ctr">
                    <a:solidFill>
                      <a:srgbClr val="FFFFFF"/>
                    </a:solidFill>
                  </a:tcPr>
                </a:tc>
                <a:tc>
                  <a:txBody>
                    <a:bodyPr/>
                    <a:lstStyle/>
                    <a:p>
                      <a:pPr algn="ctr"/>
                      <a:r>
                        <a:rPr sz="1200" b="0">
                          <a:solidFill>
                            <a:srgbClr val="2F4D5D"/>
                          </a:solidFill>
                        </a:rPr>
                        <a:t>design change</a:t>
                      </a:r>
                    </a:p>
                  </a:txBody>
                  <a:tcPr marL="82000" marR="55000" marT="14000" marB="14000" anchor="ctr">
                    <a:solidFill>
                      <a:srgbClr val="FFFFFF"/>
                    </a:solidFill>
                  </a:tcPr>
                </a:tc>
                <a:extLst>
                  <a:ext uri="{0D108BD9-81ED-4DB2-BD59-A6C34878D82A}">
                    <a16:rowId xmlns:a16="http://schemas.microsoft.com/office/drawing/2014/main" val="10007"/>
                  </a:ext>
                </a:extLst>
              </a:tr>
              <a:tr h="405000">
                <a:tc>
                  <a:txBody>
                    <a:bodyPr/>
                    <a:lstStyle/>
                    <a:p>
                      <a:pPr algn="l"/>
                      <a:r>
                        <a:rPr sz="1200" b="0">
                          <a:solidFill>
                            <a:srgbClr val="2F4D5D"/>
                          </a:solidFill>
                        </a:rPr>
                        <a:t>MTOP MMA, Heaviside η = 0.5</a:t>
                      </a:r>
                    </a:p>
                  </a:txBody>
                  <a:tcPr marL="82000" marR="55000" marT="14000" marB="14000" anchor="ctr">
                    <a:solidFill>
                      <a:srgbClr val="FFFFFF"/>
                    </a:solidFill>
                  </a:tcPr>
                </a:tc>
                <a:tc>
                  <a:txBody>
                    <a:bodyPr/>
                    <a:lstStyle/>
                    <a:p>
                      <a:pPr algn="ctr"/>
                      <a:r>
                        <a:rPr sz="1200" b="0">
                          <a:solidFill>
                            <a:srgbClr val="2F4D5D"/>
                          </a:solidFill>
                        </a:rPr>
                        <a:t>199.3</a:t>
                      </a:r>
                    </a:p>
                  </a:txBody>
                  <a:tcPr marL="82000" marR="55000" marT="14000" marB="14000" anchor="ctr">
                    <a:solidFill>
                      <a:srgbClr val="FFFFFF"/>
                    </a:solidFill>
                  </a:tcPr>
                </a:tc>
                <a:tc>
                  <a:txBody>
                    <a:bodyPr/>
                    <a:lstStyle/>
                    <a:p>
                      <a:pPr algn="ctr"/>
                      <a:r>
                        <a:rPr sz="1200" b="0">
                          <a:solidFill>
                            <a:srgbClr val="2F4D5D"/>
                          </a:solidFill>
                        </a:rPr>
                        <a:t>563</a:t>
                      </a:r>
                    </a:p>
                  </a:txBody>
                  <a:tcPr marL="82000" marR="55000" marT="14000" marB="14000" anchor="ctr">
                    <a:solidFill>
                      <a:srgbClr val="FFFFFF"/>
                    </a:solidFill>
                  </a:tcPr>
                </a:tc>
                <a:tc>
                  <a:txBody>
                    <a:bodyPr/>
                    <a:lstStyle/>
                    <a:p>
                      <a:pPr algn="ctr"/>
                      <a:r>
                        <a:rPr sz="1200" b="0">
                          <a:solidFill>
                            <a:srgbClr val="2F4D5D"/>
                          </a:solidFill>
                        </a:rPr>
                        <a:t>371</a:t>
                      </a:r>
                    </a:p>
                  </a:txBody>
                  <a:tcPr marL="82000" marR="55000" marT="14000" marB="14000" anchor="ctr">
                    <a:solidFill>
                      <a:srgbClr val="FFFFFF"/>
                    </a:solidFill>
                  </a:tcPr>
                </a:tc>
                <a:tc>
                  <a:txBody>
                    <a:bodyPr/>
                    <a:lstStyle/>
                    <a:p>
                      <a:pPr algn="ctr"/>
                      <a:r>
                        <a:rPr sz="1200" b="0">
                          <a:solidFill>
                            <a:srgbClr val="2F4D5D"/>
                          </a:solidFill>
                        </a:rPr>
                        <a:t>design change</a:t>
                      </a:r>
                    </a:p>
                  </a:txBody>
                  <a:tcPr marL="82000" marR="55000" marT="14000" marB="14000" anchor="ctr">
                    <a:solidFill>
                      <a:srgbClr val="FFFFFF"/>
                    </a:solidFill>
                  </a:tcPr>
                </a:tc>
                <a:extLst>
                  <a:ext uri="{0D108BD9-81ED-4DB2-BD59-A6C34878D82A}">
                    <a16:rowId xmlns:a16="http://schemas.microsoft.com/office/drawing/2014/main" val="10008"/>
                  </a:ext>
                </a:extLst>
              </a:tr>
              <a:tr h="405000">
                <a:tc>
                  <a:txBody>
                    <a:bodyPr/>
                    <a:lstStyle/>
                    <a:p>
                      <a:pPr algn="l"/>
                      <a:r>
                        <a:rPr sz="1200" b="0">
                          <a:solidFill>
                            <a:srgbClr val="2F4D5D"/>
                          </a:solidFill>
                        </a:rPr>
                        <a:t>MTOP MMA, Heaviside η = 0.7</a:t>
                      </a:r>
                    </a:p>
                  </a:txBody>
                  <a:tcPr marL="82000" marR="55000" marT="14000" marB="14000" anchor="ctr">
                    <a:solidFill>
                      <a:srgbClr val="FFFFFF"/>
                    </a:solidFill>
                  </a:tcPr>
                </a:tc>
                <a:tc>
                  <a:txBody>
                    <a:bodyPr/>
                    <a:lstStyle/>
                    <a:p>
                      <a:pPr algn="ctr"/>
                      <a:r>
                        <a:rPr sz="1200" b="0">
                          <a:solidFill>
                            <a:srgbClr val="2F4D5D"/>
                          </a:solidFill>
                        </a:rPr>
                        <a:t>200.6</a:t>
                      </a:r>
                    </a:p>
                  </a:txBody>
                  <a:tcPr marL="82000" marR="55000" marT="14000" marB="14000" anchor="ctr">
                    <a:solidFill>
                      <a:srgbClr val="FFFFFF"/>
                    </a:solidFill>
                  </a:tcPr>
                </a:tc>
                <a:tc>
                  <a:txBody>
                    <a:bodyPr/>
                    <a:lstStyle/>
                    <a:p>
                      <a:pPr algn="ctr"/>
                      <a:r>
                        <a:rPr sz="1200" b="0">
                          <a:solidFill>
                            <a:srgbClr val="2F4D5D"/>
                          </a:solidFill>
                        </a:rPr>
                        <a:t>522</a:t>
                      </a:r>
                    </a:p>
                  </a:txBody>
                  <a:tcPr marL="82000" marR="55000" marT="14000" marB="14000" anchor="ctr">
                    <a:solidFill>
                      <a:srgbClr val="FFFFFF"/>
                    </a:solidFill>
                  </a:tcPr>
                </a:tc>
                <a:tc>
                  <a:txBody>
                    <a:bodyPr/>
                    <a:lstStyle/>
                    <a:p>
                      <a:pPr algn="ctr"/>
                      <a:r>
                        <a:rPr sz="1200" b="0">
                          <a:solidFill>
                            <a:srgbClr val="2F4D5D"/>
                          </a:solidFill>
                        </a:rPr>
                        <a:t>328</a:t>
                      </a:r>
                    </a:p>
                  </a:txBody>
                  <a:tcPr marL="82000" marR="55000" marT="14000" marB="14000" anchor="ctr">
                    <a:solidFill>
                      <a:srgbClr val="FFFFFF"/>
                    </a:solidFill>
                  </a:tcPr>
                </a:tc>
                <a:tc>
                  <a:txBody>
                    <a:bodyPr/>
                    <a:lstStyle/>
                    <a:p>
                      <a:pPr algn="ctr"/>
                      <a:r>
                        <a:rPr sz="1200" b="0">
                          <a:solidFill>
                            <a:srgbClr val="2F4D5D"/>
                          </a:solidFill>
                        </a:rPr>
                        <a:t>design change</a:t>
                      </a:r>
                    </a:p>
                  </a:txBody>
                  <a:tcPr marL="82000" marR="55000" marT="14000" marB="14000" anchor="ctr">
                    <a:solidFill>
                      <a:srgbClr val="FFFFFF"/>
                    </a:solidFill>
                  </a:tcPr>
                </a:tc>
                <a:extLst>
                  <a:ext uri="{0D108BD9-81ED-4DB2-BD59-A6C34878D82A}">
                    <a16:rowId xmlns:a16="http://schemas.microsoft.com/office/drawing/2014/main" val="10009"/>
                  </a:ext>
                </a:extLst>
              </a:tr>
            </a:tbl>
          </a:graphicData>
        </a:graphic>
      </p:graphicFrame>
      <p:sp>
        <p:nvSpPr>
          <p:cNvPr id="4" name="TextBox 3"/>
          <p:cNvSpPr txBox="1"/>
          <p:nvPr/>
        </p:nvSpPr>
        <p:spPr>
          <a:xfrm>
            <a:off x="6033600" y="6210000"/>
            <a:ext cx="4993200" cy="648000"/>
          </a:xfrm>
          <a:prstGeom prst="rect">
            <a:avLst/>
          </a:prstGeom>
          <a:noFill/>
        </p:spPr>
        <p:txBody>
          <a:bodyPr wrap="square" lIns="36000" tIns="18000" rIns="36000" bIns="18000" anchor="ctr">
            <a:spAutoFit/>
          </a:bodyPr>
          <a:lstStyle/>
          <a:p>
            <a:pPr algn="r"/>
            <a:r>
              <a:rPr sz="1000" b="0">
                <a:solidFill>
                  <a:srgbClr val="FFFFFF"/>
                </a:solidFill>
              </a:rPr>
              <a:t>Structural Optimization (B-KUL-H0T88A)</a:t>
            </a:r>
          </a:p>
        </p:txBody>
      </p:sp>
      <p:sp>
        <p:nvSpPr>
          <p:cNvPr id="5" name="TextBox 4"/>
          <p:cNvSpPr txBox="1"/>
          <p:nvPr/>
        </p:nvSpPr>
        <p:spPr>
          <a:xfrm>
            <a:off x="576000" y="6210000"/>
            <a:ext cx="648000" cy="648000"/>
          </a:xfrm>
          <a:prstGeom prst="rect">
            <a:avLst/>
          </a:prstGeom>
          <a:noFill/>
        </p:spPr>
        <p:txBody>
          <a:bodyPr wrap="square" lIns="36000" tIns="18000" rIns="36000" bIns="18000" anchor="ctr">
            <a:spAutoFit/>
          </a:bodyPr>
          <a:lstStyle/>
          <a:p>
            <a:pPr algn="l"/>
            <a:r>
              <a:rPr sz="1000" b="0">
                <a:solidFill>
                  <a:srgbClr val="FFFFFF"/>
                </a:solidFill>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sz="3200"/>
              <a:t>Appendix: native vs fine-mesh compliance</a:t>
            </a:r>
          </a:p>
        </p:txBody>
      </p:sp>
      <p:graphicFrame>
        <p:nvGraphicFramePr>
          <p:cNvPr id="5" name="Table 4"/>
          <p:cNvGraphicFramePr>
            <a:graphicFrameLocks noGrp="1"/>
          </p:cNvGraphicFramePr>
          <p:nvPr/>
        </p:nvGraphicFramePr>
        <p:xfrm>
          <a:off x="576000" y="1660000"/>
          <a:ext cx="11040000" cy="1640000"/>
        </p:xfrm>
        <a:graphic>
          <a:graphicData uri="http://schemas.openxmlformats.org/drawingml/2006/table">
            <a:tbl>
              <a:tblPr>
                <a:tableStyleId>{5C22544A-7EE6-4342-B048-85BDC9FD1C3A}</a:tableStyleId>
              </a:tblPr>
              <a:tblGrid>
                <a:gridCol w="3300000">
                  <a:extLst>
                    <a:ext uri="{9D8B030D-6E8A-4147-A177-3AD203B41FA5}">
                      <a16:colId xmlns:a16="http://schemas.microsoft.com/office/drawing/2014/main" val="20000"/>
                    </a:ext>
                  </a:extLst>
                </a:gridCol>
                <a:gridCol w="1850000">
                  <a:extLst>
                    <a:ext uri="{9D8B030D-6E8A-4147-A177-3AD203B41FA5}">
                      <a16:colId xmlns:a16="http://schemas.microsoft.com/office/drawing/2014/main" val="20001"/>
                    </a:ext>
                  </a:extLst>
                </a:gridCol>
                <a:gridCol w="1850000">
                  <a:extLst>
                    <a:ext uri="{9D8B030D-6E8A-4147-A177-3AD203B41FA5}">
                      <a16:colId xmlns:a16="http://schemas.microsoft.com/office/drawing/2014/main" val="20002"/>
                    </a:ext>
                  </a:extLst>
                </a:gridCol>
                <a:gridCol w="1820000">
                  <a:extLst>
                    <a:ext uri="{9D8B030D-6E8A-4147-A177-3AD203B41FA5}">
                      <a16:colId xmlns:a16="http://schemas.microsoft.com/office/drawing/2014/main" val="20003"/>
                    </a:ext>
                  </a:extLst>
                </a:gridCol>
                <a:gridCol w="2220000">
                  <a:extLst>
                    <a:ext uri="{9D8B030D-6E8A-4147-A177-3AD203B41FA5}">
                      <a16:colId xmlns:a16="http://schemas.microsoft.com/office/drawing/2014/main" val="20004"/>
                    </a:ext>
                  </a:extLst>
                </a:gridCol>
              </a:tblGrid>
              <a:tr h="410000">
                <a:tc>
                  <a:txBody>
                    <a:bodyPr/>
                    <a:lstStyle/>
                    <a:p>
                      <a:pPr algn="l"/>
                      <a:r>
                        <a:rPr sz="1250" b="1">
                          <a:solidFill>
                            <a:srgbClr val="FFFFFF"/>
                          </a:solidFill>
                        </a:rPr>
                        <a:t>Model</a:t>
                      </a:r>
                    </a:p>
                  </a:txBody>
                  <a:tcPr marL="82000" marR="55000" marT="14000" marB="14000" anchor="ctr">
                    <a:solidFill>
                      <a:srgbClr val="1D8DB0"/>
                    </a:solidFill>
                  </a:tcPr>
                </a:tc>
                <a:tc>
                  <a:txBody>
                    <a:bodyPr/>
                    <a:lstStyle/>
                    <a:p>
                      <a:pPr algn="ctr"/>
                      <a:r>
                        <a:rPr sz="1250" b="1">
                          <a:solidFill>
                            <a:srgbClr val="FFFFFF"/>
                          </a:solidFill>
                        </a:rPr>
                        <a:t>Analysis</a:t>
                      </a:r>
                    </a:p>
                  </a:txBody>
                  <a:tcPr marL="82000" marR="55000" marT="14000" marB="14000" anchor="ctr">
                    <a:solidFill>
                      <a:srgbClr val="1D8DB0"/>
                    </a:solidFill>
                  </a:tcPr>
                </a:tc>
                <a:tc>
                  <a:txBody>
                    <a:bodyPr/>
                    <a:lstStyle/>
                    <a:p>
                      <a:pPr algn="ctr"/>
                      <a:r>
                        <a:rPr sz="1250" b="1">
                          <a:solidFill>
                            <a:srgbClr val="FFFFFF"/>
                          </a:solidFill>
                        </a:rPr>
                        <a:t>Density</a:t>
                      </a:r>
                    </a:p>
                  </a:txBody>
                  <a:tcPr marL="82000" marR="55000" marT="14000" marB="14000" anchor="ctr">
                    <a:solidFill>
                      <a:srgbClr val="1D8DB0"/>
                    </a:solidFill>
                  </a:tcPr>
                </a:tc>
                <a:tc>
                  <a:txBody>
                    <a:bodyPr/>
                    <a:lstStyle/>
                    <a:p>
                      <a:pPr algn="ctr"/>
                      <a:r>
                        <a:rPr sz="1250" b="1">
                          <a:solidFill>
                            <a:srgbClr val="FFFFFF"/>
                          </a:solidFill>
                        </a:rPr>
                        <a:t>Native C</a:t>
                      </a:r>
                    </a:p>
                  </a:txBody>
                  <a:tcPr marL="82000" marR="55000" marT="14000" marB="14000" anchor="ctr">
                    <a:solidFill>
                      <a:srgbClr val="1D8DB0"/>
                    </a:solidFill>
                  </a:tcPr>
                </a:tc>
                <a:tc>
                  <a:txBody>
                    <a:bodyPr/>
                    <a:lstStyle/>
                    <a:p>
                      <a:pPr algn="ctr"/>
                      <a:r>
                        <a:rPr sz="1250" b="1">
                          <a:solidFill>
                            <a:srgbClr val="FFFFFF"/>
                          </a:solidFill>
                        </a:rPr>
                        <a:t>Fine-mesh C</a:t>
                      </a:r>
                    </a:p>
                  </a:txBody>
                  <a:tcPr marL="82000" marR="55000" marT="14000" marB="14000" anchor="ctr">
                    <a:solidFill>
                      <a:srgbClr val="1D8DB0"/>
                    </a:solidFill>
                  </a:tcPr>
                </a:tc>
                <a:extLst>
                  <a:ext uri="{0D108BD9-81ED-4DB2-BD59-A6C34878D82A}">
                    <a16:rowId xmlns:a16="http://schemas.microsoft.com/office/drawing/2014/main" val="10000"/>
                  </a:ext>
                </a:extLst>
              </a:tr>
              <a:tr h="410000">
                <a:tc>
                  <a:txBody>
                    <a:bodyPr/>
                    <a:lstStyle/>
                    <a:p>
                      <a:pPr algn="l"/>
                      <a:r>
                        <a:rPr sz="1250" b="0">
                          <a:solidFill>
                            <a:srgbClr val="2F4D5D"/>
                          </a:solidFill>
                        </a:rPr>
                        <a:t>Classical fine</a:t>
                      </a:r>
                    </a:p>
                  </a:txBody>
                  <a:tcPr marL="82000" marR="55000" marT="14000" marB="14000" anchor="ctr">
                    <a:solidFill>
                      <a:srgbClr val="FFFFFF"/>
                    </a:solidFill>
                  </a:tcPr>
                </a:tc>
                <a:tc>
                  <a:txBody>
                    <a:bodyPr/>
                    <a:lstStyle/>
                    <a:p>
                      <a:pPr algn="ctr"/>
                      <a:r>
                        <a:rPr sz="1250" b="0">
                          <a:solidFill>
                            <a:srgbClr val="2F4D5D"/>
                          </a:solidFill>
                        </a:rPr>
                        <a:t>600 × 200</a:t>
                      </a:r>
                    </a:p>
                  </a:txBody>
                  <a:tcPr marL="82000" marR="55000" marT="14000" marB="14000" anchor="ctr">
                    <a:solidFill>
                      <a:srgbClr val="FFFFFF"/>
                    </a:solidFill>
                  </a:tcPr>
                </a:tc>
                <a:tc>
                  <a:txBody>
                    <a:bodyPr/>
                    <a:lstStyle/>
                    <a:p>
                      <a:pPr algn="ctr"/>
                      <a:r>
                        <a:rPr sz="1250" b="0">
                          <a:solidFill>
                            <a:srgbClr val="2F4D5D"/>
                          </a:solidFill>
                        </a:rPr>
                        <a:t>600 × 200</a:t>
                      </a:r>
                    </a:p>
                  </a:txBody>
                  <a:tcPr marL="82000" marR="55000" marT="14000" marB="14000" anchor="ctr">
                    <a:solidFill>
                      <a:srgbClr val="FFFFFF"/>
                    </a:solidFill>
                  </a:tcPr>
                </a:tc>
                <a:tc>
                  <a:txBody>
                    <a:bodyPr/>
                    <a:lstStyle/>
                    <a:p>
                      <a:pPr algn="ctr"/>
                      <a:r>
                        <a:rPr sz="1250" b="0">
                          <a:solidFill>
                            <a:srgbClr val="2F4D5D"/>
                          </a:solidFill>
                        </a:rPr>
                        <a:t>224.60</a:t>
                      </a:r>
                    </a:p>
                  </a:txBody>
                  <a:tcPr marL="82000" marR="55000" marT="14000" marB="14000" anchor="ctr">
                    <a:solidFill>
                      <a:srgbClr val="FFFFFF"/>
                    </a:solidFill>
                  </a:tcPr>
                </a:tc>
                <a:tc>
                  <a:txBody>
                    <a:bodyPr/>
                    <a:lstStyle/>
                    <a:p>
                      <a:pPr algn="ctr"/>
                      <a:r>
                        <a:rPr sz="1250" b="0">
                          <a:solidFill>
                            <a:srgbClr val="2F4D5D"/>
                          </a:solidFill>
                        </a:rPr>
                        <a:t>224.60</a:t>
                      </a:r>
                    </a:p>
                  </a:txBody>
                  <a:tcPr marL="82000" marR="55000" marT="14000" marB="14000" anchor="ctr">
                    <a:solidFill>
                      <a:srgbClr val="FFFFFF"/>
                    </a:solidFill>
                  </a:tcPr>
                </a:tc>
                <a:extLst>
                  <a:ext uri="{0D108BD9-81ED-4DB2-BD59-A6C34878D82A}">
                    <a16:rowId xmlns:a16="http://schemas.microsoft.com/office/drawing/2014/main" val="10001"/>
                  </a:ext>
                </a:extLst>
              </a:tr>
              <a:tr h="410000">
                <a:tc>
                  <a:txBody>
                    <a:bodyPr/>
                    <a:lstStyle/>
                    <a:p>
                      <a:pPr algn="l"/>
                      <a:r>
                        <a:rPr sz="1250" b="0">
                          <a:solidFill>
                            <a:srgbClr val="2F4D5D"/>
                          </a:solidFill>
                        </a:rPr>
                        <a:t>MTOP</a:t>
                      </a:r>
                    </a:p>
                  </a:txBody>
                  <a:tcPr marL="82000" marR="55000" marT="14000" marB="14000" anchor="ctr">
                    <a:solidFill>
                      <a:srgbClr val="FFFFFF"/>
                    </a:solidFill>
                  </a:tcPr>
                </a:tc>
                <a:tc>
                  <a:txBody>
                    <a:bodyPr/>
                    <a:lstStyle/>
                    <a:p>
                      <a:pPr algn="ctr"/>
                      <a:r>
                        <a:rPr sz="1250" b="0">
                          <a:solidFill>
                            <a:srgbClr val="2F4D5D"/>
                          </a:solidFill>
                        </a:rPr>
                        <a:t>120 × 40</a:t>
                      </a:r>
                    </a:p>
                  </a:txBody>
                  <a:tcPr marL="82000" marR="55000" marT="14000" marB="14000" anchor="ctr">
                    <a:solidFill>
                      <a:srgbClr val="FFFFFF"/>
                    </a:solidFill>
                  </a:tcPr>
                </a:tc>
                <a:tc>
                  <a:txBody>
                    <a:bodyPr/>
                    <a:lstStyle/>
                    <a:p>
                      <a:pPr algn="ctr"/>
                      <a:r>
                        <a:rPr sz="1250" b="0">
                          <a:solidFill>
                            <a:srgbClr val="2F4D5D"/>
                          </a:solidFill>
                        </a:rPr>
                        <a:t>600 × 200</a:t>
                      </a:r>
                    </a:p>
                  </a:txBody>
                  <a:tcPr marL="82000" marR="55000" marT="14000" marB="14000" anchor="ctr">
                    <a:solidFill>
                      <a:srgbClr val="FFFFFF"/>
                    </a:solidFill>
                  </a:tcPr>
                </a:tc>
                <a:tc>
                  <a:txBody>
                    <a:bodyPr/>
                    <a:lstStyle/>
                    <a:p>
                      <a:pPr algn="ctr"/>
                      <a:r>
                        <a:rPr sz="1250" b="0">
                          <a:solidFill>
                            <a:srgbClr val="2F4D5D"/>
                          </a:solidFill>
                        </a:rPr>
                        <a:t>219.07</a:t>
                      </a:r>
                    </a:p>
                  </a:txBody>
                  <a:tcPr marL="82000" marR="55000" marT="14000" marB="14000" anchor="ctr">
                    <a:solidFill>
                      <a:srgbClr val="FFFFFF"/>
                    </a:solidFill>
                  </a:tcPr>
                </a:tc>
                <a:tc>
                  <a:txBody>
                    <a:bodyPr/>
                    <a:lstStyle/>
                    <a:p>
                      <a:pPr algn="ctr"/>
                      <a:r>
                        <a:rPr sz="1250" b="0">
                          <a:solidFill>
                            <a:srgbClr val="2F4D5D"/>
                          </a:solidFill>
                        </a:rPr>
                        <a:t>224.70</a:t>
                      </a:r>
                    </a:p>
                  </a:txBody>
                  <a:tcPr marL="82000" marR="55000" marT="14000" marB="14000" anchor="ctr">
                    <a:solidFill>
                      <a:srgbClr val="FFFFFF"/>
                    </a:solidFill>
                  </a:tcPr>
                </a:tc>
                <a:extLst>
                  <a:ext uri="{0D108BD9-81ED-4DB2-BD59-A6C34878D82A}">
                    <a16:rowId xmlns:a16="http://schemas.microsoft.com/office/drawing/2014/main" val="10002"/>
                  </a:ext>
                </a:extLst>
              </a:tr>
              <a:tr h="410000">
                <a:tc>
                  <a:txBody>
                    <a:bodyPr/>
                    <a:lstStyle/>
                    <a:p>
                      <a:pPr algn="l"/>
                      <a:r>
                        <a:rPr sz="1250" b="0">
                          <a:solidFill>
                            <a:srgbClr val="2F4D5D"/>
                          </a:solidFill>
                        </a:rPr>
                        <a:t>Classical coarse-resolution</a:t>
                      </a:r>
                    </a:p>
                  </a:txBody>
                  <a:tcPr marL="82000" marR="55000" marT="14000" marB="14000" anchor="ctr">
                    <a:solidFill>
                      <a:srgbClr val="FFFFFF"/>
                    </a:solidFill>
                  </a:tcPr>
                </a:tc>
                <a:tc>
                  <a:txBody>
                    <a:bodyPr/>
                    <a:lstStyle/>
                    <a:p>
                      <a:pPr algn="ctr"/>
                      <a:r>
                        <a:rPr sz="1250" b="0">
                          <a:solidFill>
                            <a:srgbClr val="2F4D5D"/>
                          </a:solidFill>
                        </a:rPr>
                        <a:t>120 × 40</a:t>
                      </a:r>
                    </a:p>
                  </a:txBody>
                  <a:tcPr marL="82000" marR="55000" marT="14000" marB="14000" anchor="ctr">
                    <a:solidFill>
                      <a:srgbClr val="FFFFFF"/>
                    </a:solidFill>
                  </a:tcPr>
                </a:tc>
                <a:tc>
                  <a:txBody>
                    <a:bodyPr/>
                    <a:lstStyle/>
                    <a:p>
                      <a:pPr algn="ctr"/>
                      <a:r>
                        <a:rPr sz="1250" b="0">
                          <a:solidFill>
                            <a:srgbClr val="2F4D5D"/>
                          </a:solidFill>
                        </a:rPr>
                        <a:t>120 × 40</a:t>
                      </a:r>
                    </a:p>
                  </a:txBody>
                  <a:tcPr marL="82000" marR="55000" marT="14000" marB="14000" anchor="ctr">
                    <a:solidFill>
                      <a:srgbClr val="FFFFFF"/>
                    </a:solidFill>
                  </a:tcPr>
                </a:tc>
                <a:tc>
                  <a:txBody>
                    <a:bodyPr/>
                    <a:lstStyle/>
                    <a:p>
                      <a:pPr algn="ctr"/>
                      <a:r>
                        <a:rPr sz="1250" b="0">
                          <a:solidFill>
                            <a:srgbClr val="2F4D5D"/>
                          </a:solidFill>
                        </a:rPr>
                        <a:t>219.11</a:t>
                      </a:r>
                    </a:p>
                  </a:txBody>
                  <a:tcPr marL="82000" marR="55000" marT="14000" marB="14000" anchor="ctr">
                    <a:solidFill>
                      <a:srgbClr val="FFFFFF"/>
                    </a:solidFill>
                  </a:tcPr>
                </a:tc>
                <a:tc>
                  <a:txBody>
                    <a:bodyPr/>
                    <a:lstStyle/>
                    <a:p>
                      <a:pPr algn="ctr"/>
                      <a:r>
                        <a:rPr sz="1250" b="0">
                          <a:solidFill>
                            <a:srgbClr val="2F4D5D"/>
                          </a:solidFill>
                        </a:rPr>
                        <a:t>226.04</a:t>
                      </a:r>
                    </a:p>
                  </a:txBody>
                  <a:tcPr marL="82000" marR="55000" marT="14000" marB="14000" anchor="ctr">
                    <a:solidFill>
                      <a:srgbClr val="FFFFFF"/>
                    </a:solidFill>
                  </a:tcPr>
                </a:tc>
                <a:extLst>
                  <a:ext uri="{0D108BD9-81ED-4DB2-BD59-A6C34878D82A}">
                    <a16:rowId xmlns:a16="http://schemas.microsoft.com/office/drawing/2014/main" val="10003"/>
                  </a:ext>
                </a:extLst>
              </a:tr>
            </a:tbl>
          </a:graphicData>
        </a:graphic>
      </p:graphicFrame>
      <p:sp>
        <p:nvSpPr>
          <p:cNvPr id="6" name="TextBox 5"/>
          <p:cNvSpPr txBox="1"/>
          <p:nvPr/>
        </p:nvSpPr>
        <p:spPr>
          <a:xfrm>
            <a:off x="576000" y="3640000"/>
            <a:ext cx="11040000" cy="2200000"/>
          </a:xfrm>
          <a:prstGeom prst="rect">
            <a:avLst/>
          </a:prstGeom>
          <a:noFill/>
        </p:spPr>
        <p:txBody>
          <a:bodyPr wrap="square" lIns="36000" rIns="36000" anchor="t">
            <a:spAutoFit/>
          </a:bodyPr>
          <a:lstStyle/>
          <a:p>
            <a:pPr>
              <a:spcAft>
                <a:spcPts val="400"/>
              </a:spcAft>
            </a:pPr>
            <a:r>
              <a:rPr sz="1700" b="1">
                <a:solidFill>
                  <a:srgbClr val="1D8DB0"/>
                </a:solidFill>
              </a:rPr>
              <a:t>Why two compliance values?</a:t>
            </a:r>
          </a:p>
          <a:p>
            <a:pPr>
              <a:spcAft>
                <a:spcPts val="400"/>
              </a:spcAft>
            </a:pPr>
            <a:r>
              <a:rPr sz="1400" b="0">
                <a:solidFill>
                  <a:srgbClr val="2F4D5D"/>
                </a:solidFill>
              </a:rPr>
              <a:t>Native C uses each run's own analysis model. A coarser displacement mesh is stiffer, so MTOP's native C is lower.</a:t>
            </a:r>
          </a:p>
          <a:p>
            <a:pPr>
              <a:spcAft>
                <a:spcPts val="400"/>
              </a:spcAft>
            </a:pPr>
            <a:r>
              <a:rPr sz="1400" b="0">
                <a:solidFill>
                  <a:srgbClr val="2F4D5D"/>
                </a:solidFill>
              </a:rPr>
              <a:t>Fine-mesh C re-analyzes every design on the common 600 × 200 model: this is the value used for all comparisons.</a:t>
            </a:r>
          </a:p>
          <a:p>
            <a:pPr>
              <a:spcAft>
                <a:spcPts val="400"/>
              </a:spcAft>
            </a:pPr>
            <a:r>
              <a:rPr sz="1400" b="0">
                <a:solidFill>
                  <a:srgbClr val="2F4D5D"/>
                </a:solidFill>
              </a:rPr>
              <a:t>The coarse-resolution baseline reaches 226.04 but is locked to 120 × 40 and is grayer; MTOP keeps the full design.</a:t>
            </a:r>
          </a:p>
        </p:txBody>
      </p:sp>
      <p:sp>
        <p:nvSpPr>
          <p:cNvPr id="7" name="TextBox 6"/>
          <p:cNvSpPr txBox="1"/>
          <p:nvPr/>
        </p:nvSpPr>
        <p:spPr>
          <a:xfrm>
            <a:off x="6033600" y="6210000"/>
            <a:ext cx="4993200" cy="648000"/>
          </a:xfrm>
          <a:prstGeom prst="rect">
            <a:avLst/>
          </a:prstGeom>
          <a:noFill/>
        </p:spPr>
        <p:txBody>
          <a:bodyPr wrap="square" lIns="36000" tIns="18000" rIns="36000" bIns="18000" anchor="ctr">
            <a:spAutoFit/>
          </a:bodyPr>
          <a:lstStyle/>
          <a:p>
            <a:pPr algn="r"/>
            <a:r>
              <a:rPr sz="1000" b="0">
                <a:solidFill>
                  <a:srgbClr val="FFFFFF"/>
                </a:solidFill>
              </a:rPr>
              <a:t>Structural Optimization (B-KUL-H0T88A)</a:t>
            </a:r>
          </a:p>
        </p:txBody>
      </p:sp>
      <p:sp>
        <p:nvSpPr>
          <p:cNvPr id="8" name="TextBox 7"/>
          <p:cNvSpPr txBox="1"/>
          <p:nvPr/>
        </p:nvSpPr>
        <p:spPr>
          <a:xfrm>
            <a:off x="576000" y="6210000"/>
            <a:ext cx="648000" cy="648000"/>
          </a:xfrm>
          <a:prstGeom prst="rect">
            <a:avLst/>
          </a:prstGeom>
          <a:noFill/>
        </p:spPr>
        <p:txBody>
          <a:bodyPr wrap="square" lIns="36000" tIns="18000" rIns="36000" bIns="18000" anchor="ctr">
            <a:spAutoFit/>
          </a:bodyPr>
          <a:lstStyle/>
          <a:p>
            <a:pPr algn="l"/>
            <a:r>
              <a:rPr sz="1000" b="0">
                <a:solidFill>
                  <a:srgbClr val="FFFFFF"/>
                </a:solidFill>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sz="3200"/>
              <a:t>Appendix: the OC and MMA updates</a:t>
            </a:r>
          </a:p>
        </p:txBody>
      </p:sp>
      <p:sp>
        <p:nvSpPr>
          <p:cNvPr id="5" name="TextBox 4"/>
          <p:cNvSpPr txBox="1"/>
          <p:nvPr/>
        </p:nvSpPr>
        <p:spPr>
          <a:xfrm>
            <a:off x="576000" y="1410000"/>
            <a:ext cx="5500000" cy="4740000"/>
          </a:xfrm>
          <a:prstGeom prst="rect">
            <a:avLst/>
          </a:prstGeom>
          <a:noFill/>
        </p:spPr>
        <p:txBody>
          <a:bodyPr wrap="square" lIns="36000" rIns="36000" anchor="t">
            <a:spAutoFit/>
          </a:bodyPr>
          <a:lstStyle/>
          <a:p>
            <a:pPr>
              <a:spcAft>
                <a:spcPts val="400"/>
              </a:spcAft>
            </a:pPr>
            <a:r>
              <a:rPr sz="1700" b="1">
                <a:solidFill>
                  <a:srgbClr val="1D8DB0"/>
                </a:solidFill>
              </a:rPr>
              <a:t>Optimality criteria (OC)</a:t>
            </a:r>
          </a:p>
          <a:p>
            <a:pPr>
              <a:spcAft>
                <a:spcPts val="400"/>
              </a:spcAft>
            </a:pPr>
            <a:r>
              <a:rPr sz="1500" b="0">
                <a:solidFill>
                  <a:srgbClr val="2F4D5D"/>
                </a:solidFill>
              </a:rPr>
              <a:t>x_i  ←  x_i · ( B_i / λ )^(1/2)</a:t>
            </a:r>
          </a:p>
          <a:p>
            <a:pPr>
              <a:spcAft>
                <a:spcPts val="400"/>
              </a:spcAft>
            </a:pPr>
            <a:r>
              <a:rPr sz="1300" b="0">
                <a:solidFill>
                  <a:srgbClr val="2F4D5D"/>
                </a:solidFill>
              </a:rPr>
              <a:t>then clip to move limit m = 0.2 and to [0,1]</a:t>
            </a:r>
          </a:p>
          <a:p>
            <a:pPr>
              <a:spcAft>
                <a:spcPts val="400"/>
              </a:spcAft>
            </a:pPr>
            <a:r>
              <a:rPr sz="1400" b="0">
                <a:solidFill>
                  <a:srgbClr val="2F4D5D"/>
                </a:solidFill>
              </a:rPr>
              <a:t>B_i = - (∂C/∂x_i) / (∂V/∂x_i)</a:t>
            </a:r>
          </a:p>
          <a:p>
            <a:pPr>
              <a:spcAft>
                <a:spcPts val="400"/>
              </a:spcAft>
            </a:pPr>
            <a:r>
              <a:rPr sz="1300" b="0">
                <a:solidFill>
                  <a:srgbClr val="2F4D5D"/>
                </a:solidFill>
              </a:rPr>
              <a:t>optimality criterion: B_i = λ at all interior cells</a:t>
            </a:r>
          </a:p>
          <a:p>
            <a:pPr>
              <a:spcAft>
                <a:spcPts val="400"/>
              </a:spcAft>
            </a:pPr>
            <a:r>
              <a:rPr sz="1300" b="0">
                <a:solidFill>
                  <a:srgbClr val="2F4D5D"/>
                </a:solidFill>
              </a:rPr>
              <a:t>λ from bisection so the volume constraint is active</a:t>
            </a:r>
          </a:p>
          <a:p>
            <a:pPr>
              <a:spcBef>
                <a:spcPts val="1200"/>
              </a:spcBef>
              <a:spcAft>
                <a:spcPts val="400"/>
              </a:spcAft>
            </a:pPr>
            <a:r>
              <a:rPr sz="1700" b="1">
                <a:solidFill>
                  <a:srgbClr val="1D8DB0"/>
                </a:solidFill>
              </a:rPr>
              <a:t>MMA, method of moving asymptotes</a:t>
            </a:r>
          </a:p>
          <a:p>
            <a:pPr>
              <a:spcAft>
                <a:spcPts val="400"/>
              </a:spcAft>
            </a:pPr>
            <a:r>
              <a:rPr sz="1300" b="0">
                <a:solidFill>
                  <a:srgbClr val="2F4D5D"/>
                </a:solidFill>
              </a:rPr>
              <a:t>a separable convex subproblem each iteration</a:t>
            </a:r>
          </a:p>
          <a:p>
            <a:pPr>
              <a:spcAft>
                <a:spcPts val="400"/>
              </a:spcAft>
            </a:pPr>
            <a:r>
              <a:rPr sz="1300" b="0">
                <a:solidFill>
                  <a:srgbClr val="2F4D5D"/>
                </a:solidFill>
              </a:rPr>
              <a:t>asymptotes L_k, U_k act as an adaptive trust region</a:t>
            </a:r>
          </a:p>
          <a:p>
            <a:pPr>
              <a:spcAft>
                <a:spcPts val="400"/>
              </a:spcAft>
            </a:pPr>
            <a:r>
              <a:rPr sz="1300" b="0">
                <a:solidFill>
                  <a:srgbClr val="2F4D5D"/>
                </a:solidFill>
              </a:rPr>
              <a:t>general-purpose: handles the Heaviside projection</a:t>
            </a:r>
          </a:p>
        </p:txBody>
      </p:sp>
      <p:pic>
        <p:nvPicPr>
          <p:cNvPr id="6" name="Picture 5" descr="mma_asymptotes.png"/>
          <p:cNvPicPr>
            <a:picLocks noChangeAspect="1"/>
          </p:cNvPicPr>
          <p:nvPr/>
        </p:nvPicPr>
        <p:blipFill>
          <a:blip r:embed="rId3"/>
          <a:stretch>
            <a:fillRect/>
          </a:stretch>
        </p:blipFill>
        <p:spPr>
          <a:xfrm>
            <a:off x="6300000" y="1828818"/>
            <a:ext cx="5316000" cy="3902364"/>
          </a:xfrm>
          <a:prstGeom prst="rect">
            <a:avLst/>
          </a:prstGeom>
        </p:spPr>
      </p:pic>
      <p:sp>
        <p:nvSpPr>
          <p:cNvPr id="7" name="TextBox 6"/>
          <p:cNvSpPr txBox="1"/>
          <p:nvPr/>
        </p:nvSpPr>
        <p:spPr>
          <a:xfrm>
            <a:off x="6033600" y="6210000"/>
            <a:ext cx="4993200" cy="648000"/>
          </a:xfrm>
          <a:prstGeom prst="rect">
            <a:avLst/>
          </a:prstGeom>
          <a:noFill/>
        </p:spPr>
        <p:txBody>
          <a:bodyPr wrap="square" lIns="36000" tIns="18000" rIns="36000" bIns="18000" anchor="ctr">
            <a:spAutoFit/>
          </a:bodyPr>
          <a:lstStyle/>
          <a:p>
            <a:pPr algn="r"/>
            <a:r>
              <a:rPr sz="1000" b="0">
                <a:solidFill>
                  <a:srgbClr val="FFFFFF"/>
                </a:solidFill>
              </a:rPr>
              <a:t>Structural Optimization (B-KUL-H0T88A)</a:t>
            </a:r>
          </a:p>
        </p:txBody>
      </p:sp>
      <p:sp>
        <p:nvSpPr>
          <p:cNvPr id="8" name="TextBox 7"/>
          <p:cNvSpPr txBox="1"/>
          <p:nvPr/>
        </p:nvSpPr>
        <p:spPr>
          <a:xfrm>
            <a:off x="576000" y="6210000"/>
            <a:ext cx="648000" cy="648000"/>
          </a:xfrm>
          <a:prstGeom prst="rect">
            <a:avLst/>
          </a:prstGeom>
          <a:noFill/>
        </p:spPr>
        <p:txBody>
          <a:bodyPr wrap="square" lIns="36000" tIns="18000" rIns="36000" bIns="18000" anchor="ctr">
            <a:spAutoFit/>
          </a:bodyPr>
          <a:lstStyle/>
          <a:p>
            <a:pPr algn="l"/>
            <a:r>
              <a:rPr sz="1000" b="0">
                <a:solidFill>
                  <a:srgbClr val="FFFFFF"/>
                </a:solidFill>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sz="3200"/>
              <a:t>Appendix: Heaviside projection</a:t>
            </a:r>
          </a:p>
        </p:txBody>
      </p:sp>
      <p:sp>
        <p:nvSpPr>
          <p:cNvPr id="5" name="TextBox 4"/>
          <p:cNvSpPr txBox="1"/>
          <p:nvPr/>
        </p:nvSpPr>
        <p:spPr>
          <a:xfrm>
            <a:off x="576000" y="1410000"/>
            <a:ext cx="5300000" cy="4740000"/>
          </a:xfrm>
          <a:prstGeom prst="rect">
            <a:avLst/>
          </a:prstGeom>
          <a:noFill/>
        </p:spPr>
        <p:txBody>
          <a:bodyPr wrap="square" lIns="36000" rIns="36000" anchor="t">
            <a:spAutoFit/>
          </a:bodyPr>
          <a:lstStyle/>
          <a:p>
            <a:pPr>
              <a:spcAft>
                <a:spcPts val="400"/>
              </a:spcAft>
            </a:pPr>
            <a:r>
              <a:rPr sz="1700" b="1">
                <a:solidFill>
                  <a:srgbClr val="1D8DB0"/>
                </a:solidFill>
              </a:rPr>
              <a:t>Smooth Heaviside projection</a:t>
            </a:r>
          </a:p>
          <a:p>
            <a:pPr>
              <a:spcAft>
                <a:spcPts val="400"/>
              </a:spcAft>
            </a:pPr>
            <a:r>
              <a:rPr sz="1300" b="0">
                <a:solidFill>
                  <a:srgbClr val="2F4D5D"/>
                </a:solidFill>
              </a:rPr>
              <a:t>projects the filtered density d toward 0 or 1:</a:t>
            </a:r>
          </a:p>
          <a:p>
            <a:pPr>
              <a:spcAft>
                <a:spcPts val="400"/>
              </a:spcAft>
            </a:pPr>
            <a:r>
              <a:rPr sz="1400" b="0">
                <a:solidFill>
                  <a:srgbClr val="2F4D5D"/>
                </a:solidFill>
              </a:rPr>
              <a:t>ρ = [ tanh(βη) + tanh(β(d - η)) ]</a:t>
            </a:r>
          </a:p>
          <a:p>
            <a:pPr>
              <a:spcAft>
                <a:spcPts val="400"/>
              </a:spcAft>
            </a:pPr>
            <a:r>
              <a:rPr sz="1400" b="0">
                <a:solidFill>
                  <a:srgbClr val="2F4D5D"/>
                </a:solidFill>
              </a:rPr>
              <a:t>        /  [ tanh(βη) + tanh(β(1 - η)) ]</a:t>
            </a:r>
          </a:p>
          <a:p>
            <a:pPr>
              <a:spcAft>
                <a:spcPts val="400"/>
              </a:spcAft>
            </a:pPr>
            <a:r>
              <a:rPr sz="1300" b="0">
                <a:solidFill>
                  <a:srgbClr val="2F4D5D"/>
                </a:solidFill>
              </a:rPr>
              <a:t>η : threshold       β : projection sharpness</a:t>
            </a:r>
          </a:p>
          <a:p>
            <a:pPr>
              <a:spcBef>
                <a:spcPts val="1200"/>
              </a:spcBef>
              <a:spcAft>
                <a:spcPts val="400"/>
              </a:spcAft>
            </a:pPr>
            <a:r>
              <a:rPr sz="1700" b="1">
                <a:solidFill>
                  <a:srgbClr val="1D8DB0"/>
                </a:solidFill>
              </a:rPr>
              <a:t>Continuation in β</a:t>
            </a:r>
          </a:p>
          <a:p>
            <a:pPr>
              <a:spcAft>
                <a:spcPts val="400"/>
              </a:spcAft>
            </a:pPr>
            <a:r>
              <a:rPr sz="1400" b="0">
                <a:solidFill>
                  <a:srgbClr val="2F4D5D"/>
                </a:solidFill>
              </a:rPr>
              <a:t>β doubled from 1 to 16, every 50 iterations</a:t>
            </a:r>
          </a:p>
          <a:p>
            <a:pPr>
              <a:spcAft>
                <a:spcPts val="400"/>
              </a:spcAft>
            </a:pPr>
            <a:r>
              <a:rPr sz="1300" b="0">
                <a:solidFill>
                  <a:srgbClr val="2F4D5D"/>
                </a:solidFill>
              </a:rPr>
              <a:t>solve the smooth problem first, then sharpen</a:t>
            </a:r>
          </a:p>
          <a:p>
            <a:pPr>
              <a:spcAft>
                <a:spcPts val="400"/>
              </a:spcAft>
            </a:pPr>
            <a:r>
              <a:rPr sz="1300" b="0">
                <a:solidFill>
                  <a:srgbClr val="2F4D5D"/>
                </a:solidFill>
              </a:rPr>
              <a:t>this avoids poor local minima at high β</a:t>
            </a:r>
          </a:p>
        </p:txBody>
      </p:sp>
      <p:pic>
        <p:nvPicPr>
          <p:cNvPr id="6" name="Picture 5" descr="mtop_mma_heaviside_eta_050_convergence_iter.png"/>
          <p:cNvPicPr>
            <a:picLocks noChangeAspect="1"/>
          </p:cNvPicPr>
          <p:nvPr/>
        </p:nvPicPr>
        <p:blipFill>
          <a:blip r:embed="rId3"/>
          <a:stretch>
            <a:fillRect/>
          </a:stretch>
        </p:blipFill>
        <p:spPr>
          <a:xfrm>
            <a:off x="6050000" y="1681970"/>
            <a:ext cx="5566000" cy="4196060"/>
          </a:xfrm>
          <a:prstGeom prst="rect">
            <a:avLst/>
          </a:prstGeom>
        </p:spPr>
      </p:pic>
      <p:sp>
        <p:nvSpPr>
          <p:cNvPr id="7" name="TextBox 6"/>
          <p:cNvSpPr txBox="1"/>
          <p:nvPr/>
        </p:nvSpPr>
        <p:spPr>
          <a:xfrm>
            <a:off x="6033600" y="6210000"/>
            <a:ext cx="4993200" cy="648000"/>
          </a:xfrm>
          <a:prstGeom prst="rect">
            <a:avLst/>
          </a:prstGeom>
          <a:noFill/>
        </p:spPr>
        <p:txBody>
          <a:bodyPr wrap="square" lIns="36000" tIns="18000" rIns="36000" bIns="18000" anchor="ctr">
            <a:spAutoFit/>
          </a:bodyPr>
          <a:lstStyle/>
          <a:p>
            <a:pPr algn="r"/>
            <a:r>
              <a:rPr sz="1000" b="0">
                <a:solidFill>
                  <a:srgbClr val="FFFFFF"/>
                </a:solidFill>
              </a:rPr>
              <a:t>Structural Optimization (B-KUL-H0T88A)</a:t>
            </a:r>
          </a:p>
        </p:txBody>
      </p:sp>
      <p:sp>
        <p:nvSpPr>
          <p:cNvPr id="8" name="TextBox 7"/>
          <p:cNvSpPr txBox="1"/>
          <p:nvPr/>
        </p:nvSpPr>
        <p:spPr>
          <a:xfrm>
            <a:off x="576000" y="6210000"/>
            <a:ext cx="648000" cy="648000"/>
          </a:xfrm>
          <a:prstGeom prst="rect">
            <a:avLst/>
          </a:prstGeom>
          <a:noFill/>
        </p:spPr>
        <p:txBody>
          <a:bodyPr wrap="square" lIns="36000" tIns="18000" rIns="36000" bIns="18000" anchor="ctr">
            <a:spAutoFit/>
          </a:bodyPr>
          <a:lstStyle/>
          <a:p>
            <a:pPr algn="l"/>
            <a:r>
              <a:rPr sz="1000" b="0">
                <a:solidFill>
                  <a:srgbClr val="FFFFFF"/>
                </a:solidFill>
              </a:rPr>
              <a:t>23</a:t>
            </a:r>
          </a:p>
        </p:txBody>
      </p:sp>
    </p:spTree>
  </p:cSld>
  <p:clrMapOvr>
    <a:masterClrMapping/>
  </p:clrMapOvr>
</p:sld>
</file>

<file path=ppt/theme/theme1.xml><?xml version="1.0" encoding="utf-8"?>
<a:theme xmlns:a="http://schemas.openxmlformats.org/drawingml/2006/main" name="KU Leuven">
  <a:themeElements>
    <a:clrScheme name="Custom 14">
      <a:dk1>
        <a:srgbClr val="2F4D5D"/>
      </a:dk1>
      <a:lt1>
        <a:srgbClr val="FFFFFF"/>
      </a:lt1>
      <a:dk2>
        <a:srgbClr val="1D8DB0"/>
      </a:dk2>
      <a:lt2>
        <a:srgbClr val="DCE7F0"/>
      </a:lt2>
      <a:accent1>
        <a:srgbClr val="1D8DB0"/>
      </a:accent1>
      <a:accent2>
        <a:srgbClr val="2F4D5D"/>
      </a:accent2>
      <a:accent3>
        <a:srgbClr val="52BDEC"/>
      </a:accent3>
      <a:accent4>
        <a:srgbClr val="466E87"/>
      </a:accent4>
      <a:accent5>
        <a:srgbClr val="E7B037"/>
      </a:accent5>
      <a:accent6>
        <a:srgbClr val="D4D842"/>
      </a:accent6>
      <a:hlink>
        <a:srgbClr val="466E87"/>
      </a:hlink>
      <a:folHlink>
        <a:srgbClr val="1D8D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KU Leuven Sedes">
  <a:themeElements>
    <a:clrScheme name="Custom 14">
      <a:dk1>
        <a:srgbClr val="2F4D5D"/>
      </a:dk1>
      <a:lt1>
        <a:srgbClr val="FFFFFF"/>
      </a:lt1>
      <a:dk2>
        <a:srgbClr val="1D8DB0"/>
      </a:dk2>
      <a:lt2>
        <a:srgbClr val="DCE7F0"/>
      </a:lt2>
      <a:accent1>
        <a:srgbClr val="1D8DB0"/>
      </a:accent1>
      <a:accent2>
        <a:srgbClr val="2F4D5D"/>
      </a:accent2>
      <a:accent3>
        <a:srgbClr val="52BDEC"/>
      </a:accent3>
      <a:accent4>
        <a:srgbClr val="466E87"/>
      </a:accent4>
      <a:accent5>
        <a:srgbClr val="E7B037"/>
      </a:accent5>
      <a:accent6>
        <a:srgbClr val="D4D842"/>
      </a:accent6>
      <a:hlink>
        <a:srgbClr val="466E87"/>
      </a:hlink>
      <a:folHlink>
        <a:srgbClr val="1D8D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KU Leuven" id="{BC384CAF-57B4-4083-BC3D-22218BF4A46A}" vid="{75672E21-F18C-4958-94B8-19E54344552B}"/>
    </a:ext>
  </a:extLst>
</a:theme>
</file>

<file path=ppt/theme/theme3.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KU Leuven</Template>
  <TotalTime>0</TotalTime>
  <Words>4129</Words>
  <Application>Microsoft Office PowerPoint</Application>
  <PresentationFormat>Widescreen</PresentationFormat>
  <Paragraphs>391</Paragraphs>
  <Slides>23</Slides>
  <Notes>22</Notes>
  <HiddenSlides>0</HiddenSlides>
  <MMClips>0</MMClips>
  <ScaleCrop>false</ScaleCrop>
  <HeadingPairs>
    <vt:vector size="6" baseType="variant">
      <vt:variant>
        <vt:lpstr>Fonts Used</vt:lpstr>
      </vt:variant>
      <vt:variant>
        <vt:i4>2</vt:i4>
      </vt:variant>
      <vt:variant>
        <vt:lpstr>Theme</vt:lpstr>
      </vt:variant>
      <vt:variant>
        <vt:i4>2</vt:i4>
      </vt:variant>
      <vt:variant>
        <vt:lpstr>Slide Titles</vt:lpstr>
      </vt:variant>
      <vt:variant>
        <vt:i4>23</vt:i4>
      </vt:variant>
    </vt:vector>
  </HeadingPairs>
  <TitlesOfParts>
    <vt:vector size="27" baseType="lpstr">
      <vt:lpstr>Arial</vt:lpstr>
      <vt:lpstr>Calibri</vt:lpstr>
      <vt:lpstr>KU Leuven</vt:lpstr>
      <vt:lpstr>KU Leuven Sedes</vt:lpstr>
      <vt:lpstr>Multiresolution topology optimization Computational-efficiency assessment for the half MBB beam</vt:lpstr>
      <vt:lpstr>Problem statement and research question</vt:lpstr>
      <vt:lpstr>The structural model: half MBB beam</vt:lpstr>
      <vt:lpstr>The MTOP idea: decouple analysis from design</vt:lpstr>
      <vt:lpstr>Optimization problem and experiment matrix</vt:lpstr>
      <vt:lpstr>Verifying the implementation</vt:lpstr>
      <vt:lpstr>Steps 1 and 2: MTOP reproduces the classical design</vt:lpstr>
      <vt:lpstr>Steps 1 and 2: MTOP is 21× faster</vt:lpstr>
      <vt:lpstr>Step 3: density filtering</vt:lpstr>
      <vt:lpstr>Step 4: MMA and Heaviside projection</vt:lpstr>
      <vt:lpstr>Where does the speedup come from?</vt:lpstr>
      <vt:lpstr>What MTOP really buys you</vt:lpstr>
      <vt:lpstr>Conclusions</vt:lpstr>
      <vt:lpstr>Use of GenAI</vt:lpstr>
      <vt:lpstr>Future work and outlook</vt:lpstr>
      <vt:lpstr>Appendix</vt:lpstr>
      <vt:lpstr>Appendix: problem formulation and SIMP</vt:lpstr>
      <vt:lpstr>Appendix: MTOP element and sensitivities</vt:lpstr>
      <vt:lpstr>Appendix: sensitivity verification</vt:lpstr>
      <vt:lpstr>Appendix: all nine experiments</vt:lpstr>
      <vt:lpstr>Appendix: native vs fine-mesh compliance</vt:lpstr>
      <vt:lpstr>Appendix: the OC and MMA updates</vt:lpstr>
      <vt:lpstr>Appendix: Heaviside projection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2017-09-13T11:47:32Z</dcterms:created>
  <dcterms:modified xsi:type="dcterms:W3CDTF">2026-05-20T12:34:19Z</dcterms:modified>
</cp:coreProperties>
</file>